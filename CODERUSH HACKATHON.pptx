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media/image51.jpg" ContentType="image/jpg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71" r:id="rId9"/>
    <p:sldId id="263" r:id="rId10"/>
    <p:sldId id="270" r:id="rId11"/>
    <p:sldId id="266" r:id="rId12"/>
    <p:sldId id="267" r:id="rId13"/>
  </p:sldIdLst>
  <p:sldSz cx="9144000" cy="5143500" type="screen16x9"/>
  <p:notesSz cx="6858000" cy="9144000"/>
  <p:embeddedFontLst>
    <p:embeddedFont>
      <p:font typeface="Arial Bold" panose="020B0704020202020204" pitchFamily="34" charset="0"/>
      <p:bold r:id="rId15"/>
    </p:embeddedFont>
    <p:embeddedFont>
      <p:font typeface="Canva Sans Bold"/>
      <p:regular r:id="rId16"/>
    </p:embeddedFont>
    <p:embeddedFont>
      <p:font typeface="Google Sans" panose="020B0604020202020204" charset="0"/>
      <p:regular r:id="rId17"/>
    </p:embeddedFont>
    <p:embeddedFont>
      <p:font typeface="Google Sans Medium" panose="020B0604020202020204" charset="0"/>
      <p:regular r:id="rId18"/>
      <p:bold r:id="rId19"/>
      <p:italic r:id="rId20"/>
      <p:boldItalic r:id="rId21"/>
    </p:embeddedFont>
    <p:embeddedFont>
      <p:font typeface="Lato Bold" panose="020F0502020204030203" pitchFamily="34" charset="0"/>
      <p:regular r:id="rId22"/>
      <p:bold r:id="rId23"/>
    </p:embeddedFont>
    <p:embeddedFont>
      <p:font typeface="Leckerli One"/>
      <p:regular r:id="rId24"/>
    </p:embeddedFont>
    <p:embeddedFont>
      <p:font typeface="Poppins Bold" panose="00000800000000000000" pitchFamily="2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139B0-A85D-4857-80F4-BD2058E394EF}" v="1710" dt="2025-08-16T17:35:54.199"/>
    <p1510:client id="{31080D24-9C77-4942-84EE-427C7638C950}" v="41" dt="2025-08-16T15:06:58.060"/>
    <p1510:client id="{7F2A9E5F-8263-965B-2BA6-780CD4E216AC}" v="1474" dt="2025-08-16T17:23:08.816"/>
    <p1510:client id="{8C391DB2-84E9-E4BF-35F4-83D703728BE8}" v="407" dt="2025-08-16T17:33:11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4660"/>
  </p:normalViewPr>
  <p:slideViewPr>
    <p:cSldViewPr snapToGrid="0" showGuides="1">
      <p:cViewPr>
        <p:scale>
          <a:sx n="102" d="100"/>
          <a:sy n="102" d="100"/>
        </p:scale>
        <p:origin x="878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24071705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24071705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240df15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240df152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24071705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24071705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24071705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24071705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24071705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24071705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24071705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24071705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8697D643-678F-688C-C044-F606686E2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24071705a_0_48:notes">
            <a:extLst>
              <a:ext uri="{FF2B5EF4-FFF2-40B4-BE49-F238E27FC236}">
                <a16:creationId xmlns:a16="http://schemas.microsoft.com/office/drawing/2014/main" id="{33D4DF38-C6D6-B0F3-E892-94E8204F2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24071705a_0_48:notes">
            <a:extLst>
              <a:ext uri="{FF2B5EF4-FFF2-40B4-BE49-F238E27FC236}">
                <a16:creationId xmlns:a16="http://schemas.microsoft.com/office/drawing/2014/main" id="{7BC3C1DC-DED0-568F-7F3E-EB8816791D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606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24071705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24071705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F071A4C0-E45D-AEDD-48D9-1B57B0E5E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24071705a_0_48:notes">
            <a:extLst>
              <a:ext uri="{FF2B5EF4-FFF2-40B4-BE49-F238E27FC236}">
                <a16:creationId xmlns:a16="http://schemas.microsoft.com/office/drawing/2014/main" id="{757BCDDA-E56A-CF7F-A4FB-9D6810B44B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24071705a_0_48:notes">
            <a:extLst>
              <a:ext uri="{FF2B5EF4-FFF2-40B4-BE49-F238E27FC236}">
                <a16:creationId xmlns:a16="http://schemas.microsoft.com/office/drawing/2014/main" id="{D10B35F5-FFB3-1A08-CA96-8D3773ADF8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225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24071705a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24071705a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24071705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24071705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onkar-jamma-616010258/" TargetMode="External"/><Relationship Id="rId3" Type="http://schemas.openxmlformats.org/officeDocument/2006/relationships/notesSlide" Target="../notesSlides/notesSlide2.xml"/><Relationship Id="rId7" Type="http://schemas.openxmlformats.org/officeDocument/2006/relationships/hyperlink" Target="https://www.linkedin.com/in/mayur-rupnar-7a339b28a/" TargetMode="Externa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Relationship Id="rId6" Type="http://schemas.openxmlformats.org/officeDocument/2006/relationships/hyperlink" Target="http://www.linkedin.com/in/nitish-channapattan-683984299" TargetMode="External"/><Relationship Id="rId11" Type="http://schemas.openxmlformats.org/officeDocument/2006/relationships/image" Target="../media/image5.jpeg"/><Relationship Id="rId5" Type="http://schemas.openxmlformats.org/officeDocument/2006/relationships/hyperlink" Target="http://www.linkedin.com/in/pritikkumar" TargetMode="External"/><Relationship Id="rId10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hyperlink" Target="https://www.linkedin.com/in/sangram-dalave-840a58245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26" Type="http://schemas.openxmlformats.org/officeDocument/2006/relationships/image" Target="../media/image31.svg"/><Relationship Id="rId3" Type="http://schemas.openxmlformats.org/officeDocument/2006/relationships/image" Target="../media/image9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1.svg"/><Relationship Id="rId20" Type="http://schemas.openxmlformats.org/officeDocument/2006/relationships/image" Target="../media/image25.sv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24" Type="http://schemas.openxmlformats.org/officeDocument/2006/relationships/image" Target="../media/image29.sv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svg"/><Relationship Id="rId10" Type="http://schemas.openxmlformats.org/officeDocument/2006/relationships/image" Target="../media/image15.svg"/><Relationship Id="rId19" Type="http://schemas.openxmlformats.org/officeDocument/2006/relationships/image" Target="../media/image24.png"/><Relationship Id="rId4" Type="http://schemas.openxmlformats.org/officeDocument/2006/relationships/image" Target="../media/image2.jpeg"/><Relationship Id="rId9" Type="http://schemas.openxmlformats.org/officeDocument/2006/relationships/image" Target="../media/image14.png"/><Relationship Id="rId14" Type="http://schemas.openxmlformats.org/officeDocument/2006/relationships/image" Target="../media/image19.svg"/><Relationship Id="rId22" Type="http://schemas.openxmlformats.org/officeDocument/2006/relationships/image" Target="../media/image27.svg"/><Relationship Id="rId27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jpg"/><Relationship Id="rId5" Type="http://schemas.openxmlformats.org/officeDocument/2006/relationships/image" Target="../media/image36.png"/><Relationship Id="rId4" Type="http://schemas.openxmlformats.org/officeDocument/2006/relationships/image" Target="../media/image35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9" Type="http://schemas.openxmlformats.org/officeDocument/2006/relationships/image" Target="../media/image3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jpe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svg"/><Relationship Id="rId18" Type="http://schemas.openxmlformats.org/officeDocument/2006/relationships/hyperlink" Target="http://www.spartangwc.org/news.html" TargetMode="External"/><Relationship Id="rId3" Type="http://schemas.openxmlformats.org/officeDocument/2006/relationships/image" Target="../media/image9.png"/><Relationship Id="rId21" Type="http://schemas.openxmlformats.org/officeDocument/2006/relationships/image" Target="../media/image55.jpeg"/><Relationship Id="rId7" Type="http://schemas.openxmlformats.org/officeDocument/2006/relationships/image" Target="../media/image43.svg"/><Relationship Id="rId12" Type="http://schemas.openxmlformats.org/officeDocument/2006/relationships/image" Target="../media/image48.png"/><Relationship Id="rId17" Type="http://schemas.openxmlformats.org/officeDocument/2006/relationships/image" Target="../media/image52.jpe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1.jpg"/><Relationship Id="rId20" Type="http://schemas.openxmlformats.org/officeDocument/2006/relationships/image" Target="../media/image54.jpe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png"/><Relationship Id="rId11" Type="http://schemas.openxmlformats.org/officeDocument/2006/relationships/image" Target="../media/image47.svg"/><Relationship Id="rId5" Type="http://schemas.openxmlformats.org/officeDocument/2006/relationships/image" Target="../media/image33.svg"/><Relationship Id="rId15" Type="http://schemas.openxmlformats.org/officeDocument/2006/relationships/image" Target="../media/image50.jpeg"/><Relationship Id="rId10" Type="http://schemas.openxmlformats.org/officeDocument/2006/relationships/image" Target="../media/image46.png"/><Relationship Id="rId19" Type="http://schemas.openxmlformats.org/officeDocument/2006/relationships/image" Target="../media/image53.jpeg"/><Relationship Id="rId4" Type="http://schemas.openxmlformats.org/officeDocument/2006/relationships/image" Target="../media/image32.png"/><Relationship Id="rId9" Type="http://schemas.openxmlformats.org/officeDocument/2006/relationships/image" Target="../media/image45.svg"/><Relationship Id="rId1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jpeg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ont Page CodeRush - P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Times New Roman"/>
                <a:ea typeface="Google Sans Medium"/>
                <a:cs typeface="Google Sans Medium"/>
                <a:sym typeface="Google Sans Medium"/>
              </a:rPr>
              <a:t>Team Name : </a:t>
            </a:r>
            <a:r>
              <a:rPr lang="en-GB" sz="1600" b="1" dirty="0">
                <a:solidFill>
                  <a:srgbClr val="202729"/>
                </a:solidFill>
                <a:latin typeface="Times New Roman"/>
                <a:ea typeface="Google Sans Medium"/>
                <a:cs typeface="Google Sans Medium"/>
                <a:sym typeface="Google Sans Medium"/>
              </a:rPr>
              <a:t>INSIGHT MINERS</a:t>
            </a: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Times New Roman"/>
                <a:ea typeface="Google Sans Medium"/>
                <a:cs typeface="Google Sans Medium"/>
                <a:sym typeface="Google Sans Medium"/>
              </a:rPr>
              <a:t>Problem Statement : </a:t>
            </a:r>
            <a:r>
              <a:rPr lang="en-GB" sz="1600" b="1" dirty="0">
                <a:solidFill>
                  <a:srgbClr val="202729"/>
                </a:solidFill>
                <a:latin typeface="Times New Roman"/>
                <a:ea typeface="Google Sans Medium"/>
                <a:sym typeface="Google Sans Medium"/>
              </a:rPr>
              <a:t>AI-Powered Solar Panel Dust Detection &amp; Automated Cleaning System</a:t>
            </a:r>
            <a:endParaRPr lang="en-US" sz="1600" b="1" dirty="0">
              <a:latin typeface="Times New Roman"/>
            </a:endParaRPr>
          </a:p>
          <a:p>
            <a:pPr>
              <a:lnSpc>
                <a:spcPct val="70000"/>
              </a:lnSpc>
            </a:pPr>
            <a:endParaRPr lang="en-GB" sz="1600" dirty="0">
              <a:solidFill>
                <a:srgbClr val="202729"/>
              </a:solidFill>
              <a:latin typeface="Times New Roman"/>
              <a:ea typeface="Google Sans Medium"/>
              <a:cs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Times New Roman"/>
                <a:ea typeface="Google Sans Medium"/>
                <a:cs typeface="Google Sans Medium"/>
                <a:sym typeface="Google Sans Medium"/>
              </a:rPr>
              <a:t>Team Leader Name : </a:t>
            </a:r>
            <a:r>
              <a:rPr lang="en-GB" sz="1600" dirty="0" err="1">
                <a:solidFill>
                  <a:srgbClr val="202729"/>
                </a:solidFill>
                <a:latin typeface="Times New Roman"/>
                <a:ea typeface="Google Sans Medium"/>
                <a:cs typeface="Google Sans Medium"/>
                <a:sym typeface="Google Sans Medium"/>
              </a:rPr>
              <a:t>Pritik</a:t>
            </a:r>
            <a:r>
              <a:rPr lang="en-GB" sz="1600" dirty="0">
                <a:solidFill>
                  <a:srgbClr val="202729"/>
                </a:solidFill>
                <a:latin typeface="Times New Roman"/>
                <a:ea typeface="Google Sans Medium"/>
                <a:cs typeface="Google Sans Medium"/>
                <a:sym typeface="Google Sans Medium"/>
              </a:rPr>
              <a:t> Kumar Mohanty</a:t>
            </a:r>
            <a:endParaRPr lang="en-US" sz="1600" dirty="0">
              <a:solidFill>
                <a:srgbClr val="202729"/>
              </a:solidFill>
              <a:latin typeface="Times New Roman"/>
              <a:ea typeface="Google Sans Medium"/>
              <a:cs typeface="Google Sans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BE594D-3668-EFEA-9F58-31385BD468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929" y="2886252"/>
            <a:ext cx="1672735" cy="11610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205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sz="205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3" name="Picture 0" descr="CodeRush-Final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9297" y="0"/>
            <a:ext cx="9144000" cy="5143500"/>
          </a:xfrm>
          <a:prstGeom prst="rect">
            <a:avLst/>
          </a:prstGeom>
        </p:spPr>
      </p:pic>
      <p:graphicFrame>
        <p:nvGraphicFramePr>
          <p:cNvPr id="2" name="Table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9719314"/>
              </p:ext>
            </p:extLst>
          </p:nvPr>
        </p:nvGraphicFramePr>
        <p:xfrm>
          <a:off x="89297" y="565531"/>
          <a:ext cx="8791074" cy="496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50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77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Team Leader: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Name: </a:t>
                      </a:r>
                      <a:r>
                        <a:rPr lang="en-GB" sz="1400" dirty="0" err="1"/>
                        <a:t>Pritik</a:t>
                      </a:r>
                      <a:r>
                        <a:rPr lang="en-GB" sz="1400" dirty="0"/>
                        <a:t> Kumar Mohanty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College: </a:t>
                      </a:r>
                      <a:r>
                        <a:rPr lang="en-GB" sz="1400" dirty="0" err="1"/>
                        <a:t>N.K.Orchid</a:t>
                      </a:r>
                      <a:r>
                        <a:rPr lang="en-GB" sz="1400" dirty="0"/>
                        <a:t> College Of </a:t>
                      </a:r>
                      <a:r>
                        <a:rPr lang="en-GB" sz="1400" dirty="0" err="1"/>
                        <a:t>Engg</a:t>
                      </a:r>
                      <a:r>
                        <a:rPr lang="en-GB" sz="1400" dirty="0"/>
                        <a:t> and Technology Solapur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sym typeface="+mn-ea"/>
                        </a:rPr>
                        <a:t>LinkedIn:</a:t>
                      </a:r>
                      <a:r>
                        <a:rPr lang="en-US" altLang="en-GB" sz="1400" dirty="0"/>
                        <a:t> </a:t>
                      </a:r>
                      <a:r>
                        <a:rPr lang="en-US" sz="1400" b="0" i="0" u="none" strike="noStrike" noProof="0" dirty="0">
                          <a:hlinkClick r:id="rId5"/>
                        </a:rPr>
                        <a:t>www.linkedin.com/in/pritikkumar</a:t>
                      </a:r>
                      <a:endParaRPr lang="en-US" sz="1400" b="0" i="0" u="none" strike="noStrike" noProof="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767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Team </a:t>
                      </a:r>
                      <a:r>
                        <a:rPr lang="en-US" altLang="en-GB" sz="1400" dirty="0"/>
                        <a:t>Member 1</a:t>
                      </a:r>
                      <a:r>
                        <a:rPr lang="en-GB" sz="1400" dirty="0"/>
                        <a:t>: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Name: Nitish </a:t>
                      </a:r>
                      <a:r>
                        <a:rPr lang="en-GB" sz="1400" dirty="0" err="1"/>
                        <a:t>Channapattan</a:t>
                      </a:r>
                      <a:endParaRPr lang="en-GB" sz="1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College: </a:t>
                      </a:r>
                      <a:r>
                        <a:rPr lang="en-GB" sz="1400" b="0" i="0" u="none" strike="noStrike" noProof="0" dirty="0" err="1">
                          <a:solidFill>
                            <a:srgbClr val="000000"/>
                          </a:solidFill>
                          <a:latin typeface="Arial"/>
                        </a:rPr>
                        <a:t>N.K.Orchid</a:t>
                      </a:r>
                      <a:r>
                        <a:rPr lang="en-GB" sz="14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 College Of </a:t>
                      </a:r>
                      <a:r>
                        <a:rPr lang="en-GB" sz="1400" b="0" i="0" u="none" strike="noStrike" noProof="0" dirty="0" err="1">
                          <a:solidFill>
                            <a:srgbClr val="000000"/>
                          </a:solidFill>
                          <a:latin typeface="Arial"/>
                        </a:rPr>
                        <a:t>Engg</a:t>
                      </a:r>
                      <a:r>
                        <a:rPr lang="en-GB" sz="14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 and Technology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/>
                        <a:t>LinkedIn: </a:t>
                      </a:r>
                      <a:r>
                        <a:rPr lang="en-US" sz="1400" b="0" i="0" u="none" strike="noStrike" noProof="0" dirty="0">
                          <a:latin typeface="Arial"/>
                          <a:hlinkClick r:id="rId6"/>
                        </a:rPr>
                        <a:t>www.linkedin.com/in/nitish-channapattan-683984299</a:t>
                      </a:r>
                      <a:endParaRPr lang="en-US" sz="1400" b="0" i="0" u="none" strike="noStrike" noProof="0" dirty="0">
                        <a:latin typeface="Arial"/>
                      </a:endParaRPr>
                    </a:p>
                  </a:txBody>
                  <a:tcPr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Team </a:t>
                      </a:r>
                      <a:r>
                        <a:rPr lang="en-US" altLang="en-GB" sz="1400" dirty="0"/>
                        <a:t>Member 3</a:t>
                      </a:r>
                      <a:r>
                        <a:rPr lang="en-GB" sz="1400" dirty="0"/>
                        <a:t>: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Name: Mayur </a:t>
                      </a:r>
                      <a:r>
                        <a:rPr lang="en-GB" sz="1400" dirty="0" err="1"/>
                        <a:t>Rupnar</a:t>
                      </a:r>
                      <a:endParaRPr lang="en-GB" sz="1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College: </a:t>
                      </a:r>
                      <a:r>
                        <a:rPr lang="en-GB" sz="1400" b="0" i="0" u="none" strike="noStrike" noProof="0" dirty="0" err="1">
                          <a:solidFill>
                            <a:srgbClr val="000000"/>
                          </a:solidFill>
                          <a:latin typeface="Arial"/>
                        </a:rPr>
                        <a:t>N.K.Orchid</a:t>
                      </a:r>
                      <a:r>
                        <a:rPr lang="en-GB" sz="14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 College Of </a:t>
                      </a:r>
                      <a:r>
                        <a:rPr lang="en-GB" sz="1400" b="0" i="0" u="none" strike="noStrike" noProof="0" dirty="0" err="1">
                          <a:solidFill>
                            <a:srgbClr val="000000"/>
                          </a:solidFill>
                          <a:latin typeface="Arial"/>
                        </a:rPr>
                        <a:t>Engg</a:t>
                      </a:r>
                      <a:r>
                        <a:rPr lang="en-GB" sz="14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 and Technology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sym typeface="+mn-ea"/>
                        </a:rPr>
                        <a:t>LinkedIn:</a:t>
                      </a:r>
                      <a:r>
                        <a:rPr lang="en-US" altLang="en-GB" sz="1400" dirty="0"/>
                        <a:t> </a:t>
                      </a:r>
                      <a:r>
                        <a:rPr lang="en-US" sz="1400" b="0" i="0" u="none" strike="noStrike" noProof="0" dirty="0">
                          <a:latin typeface="Arial"/>
                          <a:hlinkClick r:id="rId7"/>
                        </a:rPr>
                        <a:t>https://www.linkedin.com/in/mayur-rupnar-7a339b28a/</a:t>
                      </a:r>
                      <a:endParaRPr lang="en-US" sz="1400" b="0" i="0" u="none" strike="noStrike" noProof="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80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Team </a:t>
                      </a:r>
                      <a:r>
                        <a:rPr lang="en-US" altLang="en-GB" sz="1400" dirty="0"/>
                        <a:t>Member 2</a:t>
                      </a:r>
                      <a:r>
                        <a:rPr lang="en-GB" sz="1400" dirty="0"/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Name: Onkar Jamma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College: </a:t>
                      </a:r>
                      <a:r>
                        <a:rPr lang="en-GB" sz="1400" b="0" i="0" u="none" strike="noStrike" noProof="0" dirty="0" err="1">
                          <a:solidFill>
                            <a:srgbClr val="000000"/>
                          </a:solidFill>
                          <a:latin typeface="Arial"/>
                        </a:rPr>
                        <a:t>N.K.Orchid</a:t>
                      </a:r>
                      <a:r>
                        <a:rPr lang="en-GB" sz="14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 College Of </a:t>
                      </a:r>
                      <a:r>
                        <a:rPr lang="en-GB" sz="1400" b="0" i="0" u="none" strike="noStrike" noProof="0" dirty="0" err="1">
                          <a:solidFill>
                            <a:srgbClr val="000000"/>
                          </a:solidFill>
                          <a:latin typeface="Arial"/>
                        </a:rPr>
                        <a:t>Engg</a:t>
                      </a:r>
                      <a:r>
                        <a:rPr lang="en-GB" sz="14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 and Technology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sym typeface="+mn-ea"/>
                        </a:rPr>
                        <a:t>LinkedIn:</a:t>
                      </a:r>
                      <a:r>
                        <a:rPr lang="en-US" altLang="en-GB" sz="1400" dirty="0"/>
                        <a:t> </a:t>
                      </a:r>
                      <a:r>
                        <a:rPr lang="en-US" sz="1400" b="0" i="0" u="none" strike="noStrike" noProof="0" dirty="0">
                          <a:latin typeface="Arial"/>
                          <a:hlinkClick r:id="rId8"/>
                        </a:rPr>
                        <a:t>https://www.linkedin.com/in/onkar-jamma-616010258/</a:t>
                      </a:r>
                      <a:endParaRPr lang="en-US" sz="1400" b="0" i="0" u="none" strike="noStrike" noProof="0" dirty="0">
                        <a:latin typeface="A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400" dirty="0"/>
                    </a:p>
                    <a:p>
                      <a:pPr>
                        <a:buNone/>
                      </a:pPr>
                      <a:endParaRPr lang="en-GB" sz="1400" dirty="0"/>
                    </a:p>
                  </a:txBody>
                  <a:tcPr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Team </a:t>
                      </a:r>
                      <a:r>
                        <a:rPr lang="en-US" altLang="en-GB" sz="1400" dirty="0"/>
                        <a:t>Member 4</a:t>
                      </a:r>
                      <a:r>
                        <a:rPr lang="en-GB" sz="1400" dirty="0"/>
                        <a:t>: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Name: Sangram </a:t>
                      </a:r>
                      <a:r>
                        <a:rPr lang="en-GB" sz="1400" dirty="0" err="1"/>
                        <a:t>Dalave</a:t>
                      </a:r>
                      <a:endParaRPr lang="en-GB" sz="1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/>
                        <a:t>College: </a:t>
                      </a:r>
                      <a:r>
                        <a:rPr lang="en-GB" sz="1400" b="0" i="0" u="none" strike="noStrike" noProof="0" dirty="0" err="1">
                          <a:solidFill>
                            <a:srgbClr val="000000"/>
                          </a:solidFill>
                          <a:latin typeface="Arial"/>
                        </a:rPr>
                        <a:t>N.K.Orchid</a:t>
                      </a:r>
                      <a:r>
                        <a:rPr lang="en-GB" sz="14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 College Of </a:t>
                      </a:r>
                      <a:r>
                        <a:rPr lang="en-GB" sz="1400" b="0" i="0" u="none" strike="noStrike" noProof="0" dirty="0" err="1">
                          <a:solidFill>
                            <a:srgbClr val="000000"/>
                          </a:solidFill>
                          <a:latin typeface="Arial"/>
                        </a:rPr>
                        <a:t>Engg</a:t>
                      </a:r>
                      <a:r>
                        <a:rPr lang="en-GB" sz="14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 and Technology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sym typeface="+mn-ea"/>
                        </a:rPr>
                        <a:t>LinkedIn:</a:t>
                      </a:r>
                      <a:r>
                        <a:rPr lang="en-US" altLang="en-GB" sz="1400" dirty="0"/>
                        <a:t> </a:t>
                      </a:r>
                      <a:r>
                        <a:rPr lang="en-US" sz="1400" b="0" i="0" u="none" strike="noStrike" noProof="0" dirty="0">
                          <a:latin typeface="Arial"/>
                          <a:hlinkClick r:id="rId9"/>
                        </a:rPr>
                        <a:t>https://www.linkedin.com/in/sangram-dalave-840a58245/</a:t>
                      </a:r>
                      <a:endParaRPr lang="en-US" sz="1400" b="0" i="0" u="none" strike="noStrike" noProof="0" dirty="0">
                        <a:latin typeface="A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400" dirty="0"/>
                    </a:p>
                    <a:p>
                      <a:pPr>
                        <a:buNone/>
                      </a:pP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D5A33E4-FACB-009B-A254-1D1BAB1995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521" y="1"/>
            <a:ext cx="794479" cy="551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CA798F-824A-C14C-68AC-815F136F3D3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02" y="584000"/>
            <a:ext cx="2548649" cy="1508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0" descr="CodeRush-Final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39811" cy="5143500"/>
          </a:xfrm>
          <a:prstGeom prst="rect">
            <a:avLst/>
          </a:prstGeom>
        </p:spPr>
      </p:pic>
      <p:sp>
        <p:nvSpPr>
          <p:cNvPr id="70" name="Google Shape;70;p15"/>
          <p:cNvSpPr txBox="1"/>
          <p:nvPr/>
        </p:nvSpPr>
        <p:spPr>
          <a:xfrm>
            <a:off x="94343" y="556252"/>
            <a:ext cx="5588947" cy="447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SzPts val="1018"/>
            </a:pPr>
            <a:r>
              <a:rPr lang="en-GB" sz="1650" b="1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Brief about the Idea:</a:t>
            </a:r>
            <a:endParaRPr lang="en-US" sz="1600" b="1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>
              <a:buSzPts val="1018"/>
            </a:pPr>
            <a:r>
              <a:rPr lang="en-GB" b="1">
                <a:solidFill>
                  <a:schemeClr val="dk1"/>
                </a:solidFill>
                <a:ea typeface="Google Sans Medium"/>
                <a:sym typeface="Google Sans Medium"/>
              </a:rPr>
              <a:t>SOLARENSE</a:t>
            </a:r>
            <a:r>
              <a:rPr lang="en-GB">
                <a:solidFill>
                  <a:schemeClr val="dk1"/>
                </a:solidFill>
                <a:ea typeface="Google Sans Medium"/>
                <a:sym typeface="Google Sans Medium"/>
              </a:rPr>
              <a:t> is an AI-powered autonomous system that revolutionizes solar panel maintenance through intelligent dust detection and automated cleaning.</a:t>
            </a:r>
            <a:endParaRPr lang="en-US">
              <a:solidFill>
                <a:schemeClr val="dk1"/>
              </a:solidFill>
              <a:latin typeface="Google Sans Medium"/>
              <a:ea typeface="Google Sans Medium"/>
              <a:cs typeface="Google Sans Medium"/>
            </a:endParaRPr>
          </a:p>
          <a:p>
            <a:pPr>
              <a:buSzPts val="1018"/>
            </a:pPr>
            <a:endParaRPr lang="en-GB" sz="1600">
              <a:solidFill>
                <a:schemeClr val="dk1"/>
              </a:solidFill>
              <a:ea typeface="Google Sans Medium"/>
              <a:sym typeface="Google Sans Medium"/>
            </a:endParaRPr>
          </a:p>
          <a:p>
            <a:pPr marL="285750" indent="-285750" algn="just">
              <a:buSzPts val="1018"/>
              <a:buChar char="•"/>
            </a:pPr>
            <a:r>
              <a:rPr lang="en-GB" b="1">
                <a:solidFill>
                  <a:schemeClr val="dk1"/>
                </a:solidFill>
                <a:ea typeface="Google Sans Medium"/>
                <a:sym typeface="Google Sans Medium"/>
              </a:rPr>
              <a:t>The Big Problem: </a:t>
            </a:r>
            <a:r>
              <a:rPr lang="en-GB">
                <a:solidFill>
                  <a:schemeClr val="dk1"/>
                </a:solidFill>
                <a:ea typeface="Google Sans Medium"/>
                <a:sym typeface="Google Sans Medium"/>
              </a:rPr>
              <a:t>India loses ₹15,000 crores annually due to dust-reduced solar efficiency (20-30% power loss). With 75 GW installed capacity growing to 500 GW by 2030, this problem will cost ₹1 lakh crore in lost energy.</a:t>
            </a:r>
            <a:endParaRPr lang="en-GB">
              <a:solidFill>
                <a:schemeClr val="dk1"/>
              </a:solidFill>
            </a:endParaRPr>
          </a:p>
          <a:p>
            <a:pPr algn="just">
              <a:buSzPts val="1018"/>
            </a:pPr>
            <a:endParaRPr lang="en-GB">
              <a:solidFill>
                <a:schemeClr val="dk1"/>
              </a:solidFill>
              <a:ea typeface="Google Sans Medium"/>
            </a:endParaRPr>
          </a:p>
          <a:p>
            <a:pPr marL="285750" indent="-285750" algn="just">
              <a:buSzPts val="1018"/>
              <a:buChar char="•"/>
            </a:pPr>
            <a:r>
              <a:rPr lang="en-GB" b="1">
                <a:solidFill>
                  <a:schemeClr val="dk1"/>
                </a:solidFill>
                <a:ea typeface="Google Sans Medium"/>
                <a:sym typeface="Google Sans Medium"/>
              </a:rPr>
              <a:t>Our Solution: </a:t>
            </a:r>
            <a:r>
              <a:rPr lang="en-GB">
                <a:solidFill>
                  <a:schemeClr val="dk1"/>
                </a:solidFill>
                <a:ea typeface="Google Sans Medium"/>
                <a:sym typeface="Google Sans Medium"/>
              </a:rPr>
              <a:t>Patent-pending </a:t>
            </a:r>
            <a:r>
              <a:rPr lang="en-GB" b="1">
                <a:solidFill>
                  <a:schemeClr val="dk1"/>
                </a:solidFill>
                <a:ea typeface="Google Sans Medium"/>
                <a:sym typeface="Google Sans Medium"/>
              </a:rPr>
              <a:t>VGG16-SVM</a:t>
            </a:r>
            <a:r>
              <a:rPr lang="en-GB">
                <a:solidFill>
                  <a:schemeClr val="dk1"/>
                </a:solidFill>
                <a:ea typeface="Google Sans Medium"/>
                <a:sym typeface="Google Sans Medium"/>
              </a:rPr>
              <a:t> hybrid AI algorithm detects dust in real-time, triggers water-efficient automated cleaning, and provides predictive maintenance - all at 70% lower cost than existing robotic solutions.</a:t>
            </a:r>
            <a:endParaRPr lang="en-GB">
              <a:solidFill>
                <a:schemeClr val="dk1"/>
              </a:solidFill>
            </a:endParaRPr>
          </a:p>
          <a:p>
            <a:pPr algn="just">
              <a:buSzPts val="1018"/>
            </a:pPr>
            <a:endParaRPr lang="en-GB">
              <a:solidFill>
                <a:schemeClr val="dk1"/>
              </a:solidFill>
              <a:ea typeface="Google Sans Medium"/>
            </a:endParaRPr>
          </a:p>
          <a:p>
            <a:pPr marL="285750" indent="-285750" algn="just">
              <a:buSzPts val="1018"/>
              <a:buChar char="•"/>
            </a:pPr>
            <a:r>
              <a:rPr lang="en-GB" b="1">
                <a:solidFill>
                  <a:schemeClr val="dk1"/>
                </a:solidFill>
                <a:ea typeface="Google Sans Medium"/>
                <a:sym typeface="Google Sans Medium"/>
              </a:rPr>
              <a:t>Market Impact: </a:t>
            </a:r>
            <a:r>
              <a:rPr lang="en-GB">
                <a:solidFill>
                  <a:schemeClr val="dk1"/>
                </a:solidFill>
                <a:ea typeface="Google Sans Medium"/>
                <a:sym typeface="Google Sans Medium"/>
              </a:rPr>
              <a:t>Targeting ₹1,260 crore solar cleaning market with our ₹25,000-50,000 system vs ₹50+ lakh competitors.</a:t>
            </a:r>
            <a:endParaRPr lang="en-GB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  <a:spcAft>
                <a:spcPts val="1200"/>
              </a:spcAft>
              <a:buSzPts val="1018"/>
            </a:pPr>
            <a:endParaRPr lang="en-GB" sz="165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9BC6D1D-7499-9022-0A7F-EBB9E414D8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095" y="1"/>
            <a:ext cx="906905" cy="629508"/>
          </a:xfrm>
          <a:prstGeom prst="rect">
            <a:avLst/>
          </a:prstGeom>
        </p:spPr>
      </p:pic>
      <p:pic>
        <p:nvPicPr>
          <p:cNvPr id="3" name="Picture 2" descr="Solar energy management dashboard showing real-time analytics for solar production, energy consumption, and device performance in light and dark themes">
            <a:extLst>
              <a:ext uri="{FF2B5EF4-FFF2-40B4-BE49-F238E27FC236}">
                <a16:creationId xmlns:a16="http://schemas.microsoft.com/office/drawing/2014/main" id="{ADA14DC7-852E-E2D2-9C5F-57167D697E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810" y="630621"/>
            <a:ext cx="3311825" cy="208400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68F0D4-94FA-AD33-B3D0-B6082AB5EE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7815" y="2791812"/>
            <a:ext cx="3311383" cy="22483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0" descr="CodeRush-Final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4" y="-46165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B6BBAA-71F5-879F-743B-E936DDF85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521" y="1"/>
            <a:ext cx="794479" cy="551470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3B677D5-3CCE-1230-0409-115A7CF02860}"/>
              </a:ext>
            </a:extLst>
          </p:cNvPr>
          <p:cNvSpPr/>
          <p:nvPr/>
        </p:nvSpPr>
        <p:spPr>
          <a:xfrm>
            <a:off x="45168" y="2100831"/>
            <a:ext cx="1776248" cy="3042668"/>
          </a:xfrm>
          <a:prstGeom prst="roundRect">
            <a:avLst/>
          </a:prstGeom>
          <a:solidFill>
            <a:schemeClr val="tx1">
              <a:alpha val="14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78EBA03-A57C-603E-9F07-5905A3E49101}"/>
              </a:ext>
            </a:extLst>
          </p:cNvPr>
          <p:cNvSpPr/>
          <p:nvPr/>
        </p:nvSpPr>
        <p:spPr>
          <a:xfrm>
            <a:off x="1586486" y="2105541"/>
            <a:ext cx="1776248" cy="2704627"/>
          </a:xfrm>
          <a:prstGeom prst="roundRect">
            <a:avLst/>
          </a:prstGeom>
          <a:solidFill>
            <a:schemeClr val="tx1">
              <a:alpha val="14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79FDBCE-A400-8772-E106-A10D6C41DA89}"/>
              </a:ext>
            </a:extLst>
          </p:cNvPr>
          <p:cNvSpPr/>
          <p:nvPr/>
        </p:nvSpPr>
        <p:spPr>
          <a:xfrm>
            <a:off x="5168272" y="2128426"/>
            <a:ext cx="1776248" cy="2611109"/>
          </a:xfrm>
          <a:prstGeom prst="roundRect">
            <a:avLst/>
          </a:prstGeom>
          <a:solidFill>
            <a:schemeClr val="tx1">
              <a:alpha val="14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52E9091-DE01-D747-52CE-17CC143232F6}"/>
              </a:ext>
            </a:extLst>
          </p:cNvPr>
          <p:cNvSpPr/>
          <p:nvPr/>
        </p:nvSpPr>
        <p:spPr>
          <a:xfrm>
            <a:off x="762348" y="1547320"/>
            <a:ext cx="6854131" cy="326572"/>
          </a:xfrm>
          <a:custGeom>
            <a:avLst/>
            <a:gdLst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0 w 7053942"/>
              <a:gd name="connsiteY4" fmla="*/ 435429 h 435429"/>
              <a:gd name="connsiteX5" fmla="*/ 0 w 7053942"/>
              <a:gd name="connsiteY5" fmla="*/ 187844 h 435429"/>
              <a:gd name="connsiteX6" fmla="*/ 187844 w 7053942"/>
              <a:gd name="connsiteY6" fmla="*/ 0 h 435429"/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3254828 w 7053942"/>
              <a:gd name="connsiteY4" fmla="*/ 424543 h 435429"/>
              <a:gd name="connsiteX5" fmla="*/ 0 w 7053942"/>
              <a:gd name="connsiteY5" fmla="*/ 435429 h 435429"/>
              <a:gd name="connsiteX6" fmla="*/ 0 w 7053942"/>
              <a:gd name="connsiteY6" fmla="*/ 187844 h 435429"/>
              <a:gd name="connsiteX7" fmla="*/ 187844 w 7053942"/>
              <a:gd name="connsiteY7" fmla="*/ 0 h 435429"/>
              <a:gd name="connsiteX0" fmla="*/ 3254828 w 7053942"/>
              <a:gd name="connsiteY0" fmla="*/ 424543 h 515983"/>
              <a:gd name="connsiteX1" fmla="*/ 0 w 7053942"/>
              <a:gd name="connsiteY1" fmla="*/ 435429 h 515983"/>
              <a:gd name="connsiteX2" fmla="*/ 0 w 7053942"/>
              <a:gd name="connsiteY2" fmla="*/ 187844 h 515983"/>
              <a:gd name="connsiteX3" fmla="*/ 187844 w 7053942"/>
              <a:gd name="connsiteY3" fmla="*/ 0 h 515983"/>
              <a:gd name="connsiteX4" fmla="*/ 6866098 w 7053942"/>
              <a:gd name="connsiteY4" fmla="*/ 0 h 515983"/>
              <a:gd name="connsiteX5" fmla="*/ 7053942 w 7053942"/>
              <a:gd name="connsiteY5" fmla="*/ 187844 h 515983"/>
              <a:gd name="connsiteX6" fmla="*/ 7053942 w 7053942"/>
              <a:gd name="connsiteY6" fmla="*/ 435429 h 515983"/>
              <a:gd name="connsiteX7" fmla="*/ 3346268 w 7053942"/>
              <a:gd name="connsiteY7" fmla="*/ 515983 h 515983"/>
              <a:gd name="connsiteX0" fmla="*/ 3254828 w 7053942"/>
              <a:gd name="connsiteY0" fmla="*/ 424543 h 435429"/>
              <a:gd name="connsiteX1" fmla="*/ 0 w 7053942"/>
              <a:gd name="connsiteY1" fmla="*/ 435429 h 435429"/>
              <a:gd name="connsiteX2" fmla="*/ 0 w 7053942"/>
              <a:gd name="connsiteY2" fmla="*/ 187844 h 435429"/>
              <a:gd name="connsiteX3" fmla="*/ 187844 w 7053942"/>
              <a:gd name="connsiteY3" fmla="*/ 0 h 435429"/>
              <a:gd name="connsiteX4" fmla="*/ 6866098 w 7053942"/>
              <a:gd name="connsiteY4" fmla="*/ 0 h 435429"/>
              <a:gd name="connsiteX5" fmla="*/ 7053942 w 7053942"/>
              <a:gd name="connsiteY5" fmla="*/ 187844 h 435429"/>
              <a:gd name="connsiteX6" fmla="*/ 7053942 w 7053942"/>
              <a:gd name="connsiteY6" fmla="*/ 435429 h 435429"/>
              <a:gd name="connsiteX0" fmla="*/ 0 w 7053942"/>
              <a:gd name="connsiteY0" fmla="*/ 435429 h 435429"/>
              <a:gd name="connsiteX1" fmla="*/ 0 w 7053942"/>
              <a:gd name="connsiteY1" fmla="*/ 187844 h 435429"/>
              <a:gd name="connsiteX2" fmla="*/ 187844 w 7053942"/>
              <a:gd name="connsiteY2" fmla="*/ 0 h 435429"/>
              <a:gd name="connsiteX3" fmla="*/ 6866098 w 7053942"/>
              <a:gd name="connsiteY3" fmla="*/ 0 h 435429"/>
              <a:gd name="connsiteX4" fmla="*/ 7053942 w 7053942"/>
              <a:gd name="connsiteY4" fmla="*/ 187844 h 435429"/>
              <a:gd name="connsiteX5" fmla="*/ 7053942 w 7053942"/>
              <a:gd name="connsiteY5" fmla="*/ 435429 h 43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53942" h="435429">
                <a:moveTo>
                  <a:pt x="0" y="435429"/>
                </a:moveTo>
                <a:lnTo>
                  <a:pt x="0" y="187844"/>
                </a:lnTo>
                <a:cubicBezTo>
                  <a:pt x="0" y="84101"/>
                  <a:pt x="84101" y="0"/>
                  <a:pt x="187844" y="0"/>
                </a:cubicBezTo>
                <a:lnTo>
                  <a:pt x="6866098" y="0"/>
                </a:lnTo>
                <a:cubicBezTo>
                  <a:pt x="6969841" y="0"/>
                  <a:pt x="7053942" y="84101"/>
                  <a:pt x="7053942" y="187844"/>
                </a:cubicBezTo>
                <a:lnTo>
                  <a:pt x="7053942" y="435429"/>
                </a:ln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35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EEE51E4D-3CDE-F361-1DFE-76F62E2FABEC}"/>
              </a:ext>
            </a:extLst>
          </p:cNvPr>
          <p:cNvSpPr/>
          <p:nvPr/>
        </p:nvSpPr>
        <p:spPr>
          <a:xfrm>
            <a:off x="2299541" y="1580024"/>
            <a:ext cx="140883" cy="326572"/>
          </a:xfrm>
          <a:custGeom>
            <a:avLst/>
            <a:gdLst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0 w 7053942"/>
              <a:gd name="connsiteY4" fmla="*/ 435429 h 435429"/>
              <a:gd name="connsiteX5" fmla="*/ 0 w 7053942"/>
              <a:gd name="connsiteY5" fmla="*/ 187844 h 435429"/>
              <a:gd name="connsiteX6" fmla="*/ 187844 w 7053942"/>
              <a:gd name="connsiteY6" fmla="*/ 0 h 435429"/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3254828 w 7053942"/>
              <a:gd name="connsiteY4" fmla="*/ 424543 h 435429"/>
              <a:gd name="connsiteX5" fmla="*/ 0 w 7053942"/>
              <a:gd name="connsiteY5" fmla="*/ 435429 h 435429"/>
              <a:gd name="connsiteX6" fmla="*/ 0 w 7053942"/>
              <a:gd name="connsiteY6" fmla="*/ 187844 h 435429"/>
              <a:gd name="connsiteX7" fmla="*/ 187844 w 7053942"/>
              <a:gd name="connsiteY7" fmla="*/ 0 h 435429"/>
              <a:gd name="connsiteX0" fmla="*/ 3254828 w 7053942"/>
              <a:gd name="connsiteY0" fmla="*/ 424543 h 515983"/>
              <a:gd name="connsiteX1" fmla="*/ 0 w 7053942"/>
              <a:gd name="connsiteY1" fmla="*/ 435429 h 515983"/>
              <a:gd name="connsiteX2" fmla="*/ 0 w 7053942"/>
              <a:gd name="connsiteY2" fmla="*/ 187844 h 515983"/>
              <a:gd name="connsiteX3" fmla="*/ 187844 w 7053942"/>
              <a:gd name="connsiteY3" fmla="*/ 0 h 515983"/>
              <a:gd name="connsiteX4" fmla="*/ 6866098 w 7053942"/>
              <a:gd name="connsiteY4" fmla="*/ 0 h 515983"/>
              <a:gd name="connsiteX5" fmla="*/ 7053942 w 7053942"/>
              <a:gd name="connsiteY5" fmla="*/ 187844 h 515983"/>
              <a:gd name="connsiteX6" fmla="*/ 7053942 w 7053942"/>
              <a:gd name="connsiteY6" fmla="*/ 435429 h 515983"/>
              <a:gd name="connsiteX7" fmla="*/ 3346268 w 7053942"/>
              <a:gd name="connsiteY7" fmla="*/ 515983 h 515983"/>
              <a:gd name="connsiteX0" fmla="*/ 3254828 w 7053942"/>
              <a:gd name="connsiteY0" fmla="*/ 424543 h 435429"/>
              <a:gd name="connsiteX1" fmla="*/ 0 w 7053942"/>
              <a:gd name="connsiteY1" fmla="*/ 435429 h 435429"/>
              <a:gd name="connsiteX2" fmla="*/ 0 w 7053942"/>
              <a:gd name="connsiteY2" fmla="*/ 187844 h 435429"/>
              <a:gd name="connsiteX3" fmla="*/ 187844 w 7053942"/>
              <a:gd name="connsiteY3" fmla="*/ 0 h 435429"/>
              <a:gd name="connsiteX4" fmla="*/ 6866098 w 7053942"/>
              <a:gd name="connsiteY4" fmla="*/ 0 h 435429"/>
              <a:gd name="connsiteX5" fmla="*/ 7053942 w 7053942"/>
              <a:gd name="connsiteY5" fmla="*/ 187844 h 435429"/>
              <a:gd name="connsiteX6" fmla="*/ 7053942 w 7053942"/>
              <a:gd name="connsiteY6" fmla="*/ 435429 h 435429"/>
              <a:gd name="connsiteX0" fmla="*/ 0 w 7053942"/>
              <a:gd name="connsiteY0" fmla="*/ 435429 h 435429"/>
              <a:gd name="connsiteX1" fmla="*/ 0 w 7053942"/>
              <a:gd name="connsiteY1" fmla="*/ 187844 h 435429"/>
              <a:gd name="connsiteX2" fmla="*/ 187844 w 7053942"/>
              <a:gd name="connsiteY2" fmla="*/ 0 h 435429"/>
              <a:gd name="connsiteX3" fmla="*/ 6866098 w 7053942"/>
              <a:gd name="connsiteY3" fmla="*/ 0 h 435429"/>
              <a:gd name="connsiteX4" fmla="*/ 7053942 w 7053942"/>
              <a:gd name="connsiteY4" fmla="*/ 187844 h 435429"/>
              <a:gd name="connsiteX5" fmla="*/ 7053942 w 7053942"/>
              <a:gd name="connsiteY5" fmla="*/ 435429 h 435429"/>
              <a:gd name="connsiteX0" fmla="*/ 0 w 7053942"/>
              <a:gd name="connsiteY0" fmla="*/ 435429 h 435429"/>
              <a:gd name="connsiteX1" fmla="*/ 0 w 7053942"/>
              <a:gd name="connsiteY1" fmla="*/ 187844 h 435429"/>
              <a:gd name="connsiteX2" fmla="*/ 187844 w 7053942"/>
              <a:gd name="connsiteY2" fmla="*/ 0 h 435429"/>
              <a:gd name="connsiteX3" fmla="*/ 6866098 w 7053942"/>
              <a:gd name="connsiteY3" fmla="*/ 0 h 435429"/>
              <a:gd name="connsiteX4" fmla="*/ 7053942 w 7053942"/>
              <a:gd name="connsiteY4" fmla="*/ 187844 h 435429"/>
              <a:gd name="connsiteX0" fmla="*/ 0 w 6866098"/>
              <a:gd name="connsiteY0" fmla="*/ 435429 h 435429"/>
              <a:gd name="connsiteX1" fmla="*/ 0 w 6866098"/>
              <a:gd name="connsiteY1" fmla="*/ 187844 h 435429"/>
              <a:gd name="connsiteX2" fmla="*/ 187844 w 6866098"/>
              <a:gd name="connsiteY2" fmla="*/ 0 h 435429"/>
              <a:gd name="connsiteX3" fmla="*/ 6866098 w 6866098"/>
              <a:gd name="connsiteY3" fmla="*/ 0 h 435429"/>
              <a:gd name="connsiteX0" fmla="*/ 0 w 187844"/>
              <a:gd name="connsiteY0" fmla="*/ 435429 h 435429"/>
              <a:gd name="connsiteX1" fmla="*/ 0 w 187844"/>
              <a:gd name="connsiteY1" fmla="*/ 187844 h 435429"/>
              <a:gd name="connsiteX2" fmla="*/ 187844 w 187844"/>
              <a:gd name="connsiteY2" fmla="*/ 0 h 43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844" h="435429">
                <a:moveTo>
                  <a:pt x="0" y="435429"/>
                </a:moveTo>
                <a:lnTo>
                  <a:pt x="0" y="187844"/>
                </a:lnTo>
                <a:cubicBezTo>
                  <a:pt x="0" y="84101"/>
                  <a:pt x="84101" y="0"/>
                  <a:pt x="187844" y="0"/>
                </a:cubicBez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35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EED8140-A9F2-65AD-77C3-1165DFDA5193}"/>
              </a:ext>
            </a:extLst>
          </p:cNvPr>
          <p:cNvSpPr/>
          <p:nvPr/>
        </p:nvSpPr>
        <p:spPr>
          <a:xfrm flipH="1">
            <a:off x="4152388" y="1563467"/>
            <a:ext cx="140883" cy="326572"/>
          </a:xfrm>
          <a:custGeom>
            <a:avLst/>
            <a:gdLst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0 w 7053942"/>
              <a:gd name="connsiteY4" fmla="*/ 435429 h 435429"/>
              <a:gd name="connsiteX5" fmla="*/ 0 w 7053942"/>
              <a:gd name="connsiteY5" fmla="*/ 187844 h 435429"/>
              <a:gd name="connsiteX6" fmla="*/ 187844 w 7053942"/>
              <a:gd name="connsiteY6" fmla="*/ 0 h 435429"/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3254828 w 7053942"/>
              <a:gd name="connsiteY4" fmla="*/ 424543 h 435429"/>
              <a:gd name="connsiteX5" fmla="*/ 0 w 7053942"/>
              <a:gd name="connsiteY5" fmla="*/ 435429 h 435429"/>
              <a:gd name="connsiteX6" fmla="*/ 0 w 7053942"/>
              <a:gd name="connsiteY6" fmla="*/ 187844 h 435429"/>
              <a:gd name="connsiteX7" fmla="*/ 187844 w 7053942"/>
              <a:gd name="connsiteY7" fmla="*/ 0 h 435429"/>
              <a:gd name="connsiteX0" fmla="*/ 3254828 w 7053942"/>
              <a:gd name="connsiteY0" fmla="*/ 424543 h 515983"/>
              <a:gd name="connsiteX1" fmla="*/ 0 w 7053942"/>
              <a:gd name="connsiteY1" fmla="*/ 435429 h 515983"/>
              <a:gd name="connsiteX2" fmla="*/ 0 w 7053942"/>
              <a:gd name="connsiteY2" fmla="*/ 187844 h 515983"/>
              <a:gd name="connsiteX3" fmla="*/ 187844 w 7053942"/>
              <a:gd name="connsiteY3" fmla="*/ 0 h 515983"/>
              <a:gd name="connsiteX4" fmla="*/ 6866098 w 7053942"/>
              <a:gd name="connsiteY4" fmla="*/ 0 h 515983"/>
              <a:gd name="connsiteX5" fmla="*/ 7053942 w 7053942"/>
              <a:gd name="connsiteY5" fmla="*/ 187844 h 515983"/>
              <a:gd name="connsiteX6" fmla="*/ 7053942 w 7053942"/>
              <a:gd name="connsiteY6" fmla="*/ 435429 h 515983"/>
              <a:gd name="connsiteX7" fmla="*/ 3346268 w 7053942"/>
              <a:gd name="connsiteY7" fmla="*/ 515983 h 515983"/>
              <a:gd name="connsiteX0" fmla="*/ 3254828 w 7053942"/>
              <a:gd name="connsiteY0" fmla="*/ 424543 h 435429"/>
              <a:gd name="connsiteX1" fmla="*/ 0 w 7053942"/>
              <a:gd name="connsiteY1" fmla="*/ 435429 h 435429"/>
              <a:gd name="connsiteX2" fmla="*/ 0 w 7053942"/>
              <a:gd name="connsiteY2" fmla="*/ 187844 h 435429"/>
              <a:gd name="connsiteX3" fmla="*/ 187844 w 7053942"/>
              <a:gd name="connsiteY3" fmla="*/ 0 h 435429"/>
              <a:gd name="connsiteX4" fmla="*/ 6866098 w 7053942"/>
              <a:gd name="connsiteY4" fmla="*/ 0 h 435429"/>
              <a:gd name="connsiteX5" fmla="*/ 7053942 w 7053942"/>
              <a:gd name="connsiteY5" fmla="*/ 187844 h 435429"/>
              <a:gd name="connsiteX6" fmla="*/ 7053942 w 7053942"/>
              <a:gd name="connsiteY6" fmla="*/ 435429 h 435429"/>
              <a:gd name="connsiteX0" fmla="*/ 0 w 7053942"/>
              <a:gd name="connsiteY0" fmla="*/ 435429 h 435429"/>
              <a:gd name="connsiteX1" fmla="*/ 0 w 7053942"/>
              <a:gd name="connsiteY1" fmla="*/ 187844 h 435429"/>
              <a:gd name="connsiteX2" fmla="*/ 187844 w 7053942"/>
              <a:gd name="connsiteY2" fmla="*/ 0 h 435429"/>
              <a:gd name="connsiteX3" fmla="*/ 6866098 w 7053942"/>
              <a:gd name="connsiteY3" fmla="*/ 0 h 435429"/>
              <a:gd name="connsiteX4" fmla="*/ 7053942 w 7053942"/>
              <a:gd name="connsiteY4" fmla="*/ 187844 h 435429"/>
              <a:gd name="connsiteX5" fmla="*/ 7053942 w 7053942"/>
              <a:gd name="connsiteY5" fmla="*/ 435429 h 435429"/>
              <a:gd name="connsiteX0" fmla="*/ 0 w 7053942"/>
              <a:gd name="connsiteY0" fmla="*/ 435429 h 435429"/>
              <a:gd name="connsiteX1" fmla="*/ 0 w 7053942"/>
              <a:gd name="connsiteY1" fmla="*/ 187844 h 435429"/>
              <a:gd name="connsiteX2" fmla="*/ 187844 w 7053942"/>
              <a:gd name="connsiteY2" fmla="*/ 0 h 435429"/>
              <a:gd name="connsiteX3" fmla="*/ 6866098 w 7053942"/>
              <a:gd name="connsiteY3" fmla="*/ 0 h 435429"/>
              <a:gd name="connsiteX4" fmla="*/ 7053942 w 7053942"/>
              <a:gd name="connsiteY4" fmla="*/ 187844 h 435429"/>
              <a:gd name="connsiteX0" fmla="*/ 0 w 6866098"/>
              <a:gd name="connsiteY0" fmla="*/ 435429 h 435429"/>
              <a:gd name="connsiteX1" fmla="*/ 0 w 6866098"/>
              <a:gd name="connsiteY1" fmla="*/ 187844 h 435429"/>
              <a:gd name="connsiteX2" fmla="*/ 187844 w 6866098"/>
              <a:gd name="connsiteY2" fmla="*/ 0 h 435429"/>
              <a:gd name="connsiteX3" fmla="*/ 6866098 w 6866098"/>
              <a:gd name="connsiteY3" fmla="*/ 0 h 435429"/>
              <a:gd name="connsiteX0" fmla="*/ 0 w 187844"/>
              <a:gd name="connsiteY0" fmla="*/ 435429 h 435429"/>
              <a:gd name="connsiteX1" fmla="*/ 0 w 187844"/>
              <a:gd name="connsiteY1" fmla="*/ 187844 h 435429"/>
              <a:gd name="connsiteX2" fmla="*/ 187844 w 187844"/>
              <a:gd name="connsiteY2" fmla="*/ 0 h 43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844" h="435429">
                <a:moveTo>
                  <a:pt x="0" y="435429"/>
                </a:moveTo>
                <a:lnTo>
                  <a:pt x="0" y="187844"/>
                </a:lnTo>
                <a:cubicBezTo>
                  <a:pt x="0" y="84101"/>
                  <a:pt x="84101" y="0"/>
                  <a:pt x="187844" y="0"/>
                </a:cubicBez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35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823873D-227B-43B8-3AEB-3D717CB53C58}"/>
              </a:ext>
            </a:extLst>
          </p:cNvPr>
          <p:cNvSpPr/>
          <p:nvPr/>
        </p:nvSpPr>
        <p:spPr>
          <a:xfrm>
            <a:off x="1408105" y="707888"/>
            <a:ext cx="5562618" cy="64807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3000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ED1BC24-F4E6-ADDA-F3FC-0F2DB9E2E809}"/>
              </a:ext>
            </a:extLst>
          </p:cNvPr>
          <p:cNvCxnSpPr>
            <a:cxnSpLocks/>
          </p:cNvCxnSpPr>
          <p:nvPr/>
        </p:nvCxnSpPr>
        <p:spPr>
          <a:xfrm>
            <a:off x="4152092" y="1213010"/>
            <a:ext cx="0" cy="325254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5049B56-F9F0-E4BD-4389-C4D0222B0B4B}"/>
              </a:ext>
            </a:extLst>
          </p:cNvPr>
          <p:cNvSpPr txBox="1"/>
          <p:nvPr/>
        </p:nvSpPr>
        <p:spPr>
          <a:xfrm>
            <a:off x="213854" y="2334821"/>
            <a:ext cx="1214709" cy="9392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 dirty="0"/>
              <a:t>AI-Powered Dust Detection</a:t>
            </a:r>
          </a:p>
          <a:p>
            <a:pPr algn="ctr">
              <a:lnSpc>
                <a:spcPct val="90000"/>
              </a:lnSpc>
            </a:pPr>
            <a:endParaRPr lang="en-US" sz="1800" b="1" dirty="0"/>
          </a:p>
          <a:p>
            <a:pPr algn="ctr">
              <a:lnSpc>
                <a:spcPct val="90000"/>
              </a:lnSpc>
            </a:pPr>
            <a:r>
              <a:rPr lang="en-US" dirty="0"/>
              <a:t>Hybrid VGG16–SVM model identifies dust in real-time with ~73–75% accuracy.</a:t>
            </a:r>
          </a:p>
          <a:p>
            <a:pPr algn="ctr">
              <a:lnSpc>
                <a:spcPct val="90000"/>
              </a:lnSpc>
            </a:pPr>
            <a:br>
              <a:rPr lang="en-US" b="1" dirty="0"/>
            </a:br>
            <a:endParaRPr lang="en-US" sz="1200" b="1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729FCFA-3AF0-3C64-6258-A3040C61AC15}"/>
              </a:ext>
            </a:extLst>
          </p:cNvPr>
          <p:cNvSpPr/>
          <p:nvPr/>
        </p:nvSpPr>
        <p:spPr>
          <a:xfrm>
            <a:off x="533615" y="1807346"/>
            <a:ext cx="492239" cy="4922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8208EEB-0AD5-50AC-E811-5E34619567CB}"/>
              </a:ext>
            </a:extLst>
          </p:cNvPr>
          <p:cNvSpPr/>
          <p:nvPr/>
        </p:nvSpPr>
        <p:spPr>
          <a:xfrm>
            <a:off x="2094701" y="1874625"/>
            <a:ext cx="492239" cy="4922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1813969-D8EA-CF30-7A5D-B683443DB1F3}"/>
              </a:ext>
            </a:extLst>
          </p:cNvPr>
          <p:cNvSpPr/>
          <p:nvPr/>
        </p:nvSpPr>
        <p:spPr>
          <a:xfrm>
            <a:off x="4109745" y="1934564"/>
            <a:ext cx="492239" cy="4922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0D19EA4-6F96-BFE6-2820-079302A4C346}"/>
              </a:ext>
            </a:extLst>
          </p:cNvPr>
          <p:cNvSpPr/>
          <p:nvPr/>
        </p:nvSpPr>
        <p:spPr>
          <a:xfrm>
            <a:off x="7348047" y="1840167"/>
            <a:ext cx="492239" cy="4922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C6EBCF-4E1B-9A8B-CD57-28BBD455A963}"/>
              </a:ext>
            </a:extLst>
          </p:cNvPr>
          <p:cNvSpPr txBox="1"/>
          <p:nvPr/>
        </p:nvSpPr>
        <p:spPr>
          <a:xfrm>
            <a:off x="2616163" y="857065"/>
            <a:ext cx="3146502" cy="2767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200" b="1" dirty="0">
                <a:solidFill>
                  <a:schemeClr val="bg1"/>
                </a:solidFill>
              </a:rPr>
              <a:t>OUR SOLUTION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03A989F-D6D9-351D-C705-5B81C30DC0F5}"/>
              </a:ext>
            </a:extLst>
          </p:cNvPr>
          <p:cNvGrpSpPr/>
          <p:nvPr/>
        </p:nvGrpSpPr>
        <p:grpSpPr>
          <a:xfrm>
            <a:off x="4221387" y="2019447"/>
            <a:ext cx="268400" cy="268400"/>
            <a:chOff x="-26988" y="3175000"/>
            <a:chExt cx="2647951" cy="2647950"/>
          </a:xfrm>
          <a:solidFill>
            <a:schemeClr val="bg1"/>
          </a:solidFill>
        </p:grpSpPr>
        <p:sp>
          <p:nvSpPr>
            <p:cNvPr id="80" name="Freeform 25">
              <a:extLst>
                <a:ext uri="{FF2B5EF4-FFF2-40B4-BE49-F238E27FC236}">
                  <a16:creationId xmlns:a16="http://schemas.microsoft.com/office/drawing/2014/main" id="{DD63D08E-28ED-7C76-7F7B-F0456AF81A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6988" y="4052888"/>
              <a:ext cx="1770063" cy="1770062"/>
            </a:xfrm>
            <a:custGeom>
              <a:avLst/>
              <a:gdLst>
                <a:gd name="T0" fmla="*/ 1464 w 1600"/>
                <a:gd name="T1" fmla="*/ 877 h 1600"/>
                <a:gd name="T2" fmla="*/ 1541 w 1600"/>
                <a:gd name="T3" fmla="*/ 677 h 1600"/>
                <a:gd name="T4" fmla="*/ 1581 w 1600"/>
                <a:gd name="T5" fmla="*/ 554 h 1600"/>
                <a:gd name="T6" fmla="*/ 1410 w 1600"/>
                <a:gd name="T7" fmla="*/ 363 h 1600"/>
                <a:gd name="T8" fmla="*/ 1215 w 1600"/>
                <a:gd name="T9" fmla="*/ 275 h 1600"/>
                <a:gd name="T10" fmla="*/ 1179 w 1600"/>
                <a:gd name="T11" fmla="*/ 73 h 1600"/>
                <a:gd name="T12" fmla="*/ 923 w 1600"/>
                <a:gd name="T13" fmla="*/ 59 h 1600"/>
                <a:gd name="T14" fmla="*/ 723 w 1600"/>
                <a:gd name="T15" fmla="*/ 136 h 1600"/>
                <a:gd name="T16" fmla="*/ 554 w 1600"/>
                <a:gd name="T17" fmla="*/ 19 h 1600"/>
                <a:gd name="T18" fmla="*/ 363 w 1600"/>
                <a:gd name="T19" fmla="*/ 190 h 1600"/>
                <a:gd name="T20" fmla="*/ 276 w 1600"/>
                <a:gd name="T21" fmla="*/ 385 h 1600"/>
                <a:gd name="T22" fmla="*/ 74 w 1600"/>
                <a:gd name="T23" fmla="*/ 421 h 1600"/>
                <a:gd name="T24" fmla="*/ 60 w 1600"/>
                <a:gd name="T25" fmla="*/ 677 h 1600"/>
                <a:gd name="T26" fmla="*/ 136 w 1600"/>
                <a:gd name="T27" fmla="*/ 877 h 1600"/>
                <a:gd name="T28" fmla="*/ 19 w 1600"/>
                <a:gd name="T29" fmla="*/ 1046 h 1600"/>
                <a:gd name="T30" fmla="*/ 190 w 1600"/>
                <a:gd name="T31" fmla="*/ 1237 h 1600"/>
                <a:gd name="T32" fmla="*/ 385 w 1600"/>
                <a:gd name="T33" fmla="*/ 1324 h 1600"/>
                <a:gd name="T34" fmla="*/ 422 w 1600"/>
                <a:gd name="T35" fmla="*/ 1526 h 1600"/>
                <a:gd name="T36" fmla="*/ 592 w 1600"/>
                <a:gd name="T37" fmla="*/ 1589 h 1600"/>
                <a:gd name="T38" fmla="*/ 723 w 1600"/>
                <a:gd name="T39" fmla="*/ 1464 h 1600"/>
                <a:gd name="T40" fmla="*/ 923 w 1600"/>
                <a:gd name="T41" fmla="*/ 1540 h 1600"/>
                <a:gd name="T42" fmla="*/ 1179 w 1600"/>
                <a:gd name="T43" fmla="*/ 1526 h 1600"/>
                <a:gd name="T44" fmla="*/ 1215 w 1600"/>
                <a:gd name="T45" fmla="*/ 1324 h 1600"/>
                <a:gd name="T46" fmla="*/ 1410 w 1600"/>
                <a:gd name="T47" fmla="*/ 1237 h 1600"/>
                <a:gd name="T48" fmla="*/ 1581 w 1600"/>
                <a:gd name="T49" fmla="*/ 1046 h 1600"/>
                <a:gd name="T50" fmla="*/ 1430 w 1600"/>
                <a:gd name="T51" fmla="*/ 1132 h 1600"/>
                <a:gd name="T52" fmla="*/ 1243 w 1600"/>
                <a:gd name="T53" fmla="*/ 1146 h 1600"/>
                <a:gd name="T54" fmla="*/ 1111 w 1600"/>
                <a:gd name="T55" fmla="*/ 1348 h 1600"/>
                <a:gd name="T56" fmla="*/ 1011 w 1600"/>
                <a:gd name="T57" fmla="*/ 1480 h 1600"/>
                <a:gd name="T58" fmla="*/ 869 w 1600"/>
                <a:gd name="T59" fmla="*/ 1358 h 1600"/>
                <a:gd name="T60" fmla="*/ 633 w 1600"/>
                <a:gd name="T61" fmla="*/ 1407 h 1600"/>
                <a:gd name="T62" fmla="*/ 468 w 1600"/>
                <a:gd name="T63" fmla="*/ 1430 h 1600"/>
                <a:gd name="T64" fmla="*/ 454 w 1600"/>
                <a:gd name="T65" fmla="*/ 1243 h 1600"/>
                <a:gd name="T66" fmla="*/ 252 w 1600"/>
                <a:gd name="T67" fmla="*/ 1111 h 1600"/>
                <a:gd name="T68" fmla="*/ 120 w 1600"/>
                <a:gd name="T69" fmla="*/ 1011 h 1600"/>
                <a:gd name="T70" fmla="*/ 242 w 1600"/>
                <a:gd name="T71" fmla="*/ 869 h 1600"/>
                <a:gd name="T72" fmla="*/ 193 w 1600"/>
                <a:gd name="T73" fmla="*/ 632 h 1600"/>
                <a:gd name="T74" fmla="*/ 170 w 1600"/>
                <a:gd name="T75" fmla="*/ 468 h 1600"/>
                <a:gd name="T76" fmla="*/ 357 w 1600"/>
                <a:gd name="T77" fmla="*/ 454 h 1600"/>
                <a:gd name="T78" fmla="*/ 489 w 1600"/>
                <a:gd name="T79" fmla="*/ 252 h 1600"/>
                <a:gd name="T80" fmla="*/ 589 w 1600"/>
                <a:gd name="T81" fmla="*/ 119 h 1600"/>
                <a:gd name="T82" fmla="*/ 731 w 1600"/>
                <a:gd name="T83" fmla="*/ 242 h 1600"/>
                <a:gd name="T84" fmla="*/ 968 w 1600"/>
                <a:gd name="T85" fmla="*/ 193 h 1600"/>
                <a:gd name="T86" fmla="*/ 1132 w 1600"/>
                <a:gd name="T87" fmla="*/ 170 h 1600"/>
                <a:gd name="T88" fmla="*/ 1146 w 1600"/>
                <a:gd name="T89" fmla="*/ 357 h 1600"/>
                <a:gd name="T90" fmla="*/ 1348 w 1600"/>
                <a:gd name="T91" fmla="*/ 489 h 1600"/>
                <a:gd name="T92" fmla="*/ 1481 w 1600"/>
                <a:gd name="T93" fmla="*/ 589 h 1600"/>
                <a:gd name="T94" fmla="*/ 1358 w 1600"/>
                <a:gd name="T95" fmla="*/ 731 h 1600"/>
                <a:gd name="T96" fmla="*/ 1407 w 1600"/>
                <a:gd name="T97" fmla="*/ 967 h 1600"/>
                <a:gd name="T98" fmla="*/ 1430 w 1600"/>
                <a:gd name="T99" fmla="*/ 1132 h 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00" h="1600">
                  <a:moveTo>
                    <a:pt x="1541" y="922"/>
                  </a:moveTo>
                  <a:cubicBezTo>
                    <a:pt x="1516" y="907"/>
                    <a:pt x="1490" y="892"/>
                    <a:pt x="1464" y="877"/>
                  </a:cubicBezTo>
                  <a:cubicBezTo>
                    <a:pt x="1470" y="826"/>
                    <a:pt x="1470" y="774"/>
                    <a:pt x="1464" y="722"/>
                  </a:cubicBezTo>
                  <a:cubicBezTo>
                    <a:pt x="1490" y="707"/>
                    <a:pt x="1516" y="692"/>
                    <a:pt x="1541" y="677"/>
                  </a:cubicBezTo>
                  <a:cubicBezTo>
                    <a:pt x="1583" y="652"/>
                    <a:pt x="1600" y="599"/>
                    <a:pt x="1581" y="554"/>
                  </a:cubicBezTo>
                  <a:cubicBezTo>
                    <a:pt x="1581" y="554"/>
                    <a:pt x="1581" y="554"/>
                    <a:pt x="1581" y="554"/>
                  </a:cubicBezTo>
                  <a:cubicBezTo>
                    <a:pt x="1527" y="421"/>
                    <a:pt x="1527" y="421"/>
                    <a:pt x="1527" y="421"/>
                  </a:cubicBezTo>
                  <a:cubicBezTo>
                    <a:pt x="1508" y="376"/>
                    <a:pt x="1458" y="351"/>
                    <a:pt x="1410" y="363"/>
                  </a:cubicBezTo>
                  <a:cubicBezTo>
                    <a:pt x="1382" y="370"/>
                    <a:pt x="1353" y="377"/>
                    <a:pt x="1325" y="385"/>
                  </a:cubicBezTo>
                  <a:cubicBezTo>
                    <a:pt x="1293" y="344"/>
                    <a:pt x="1256" y="308"/>
                    <a:pt x="1215" y="275"/>
                  </a:cubicBezTo>
                  <a:cubicBezTo>
                    <a:pt x="1223" y="247"/>
                    <a:pt x="1230" y="218"/>
                    <a:pt x="1237" y="190"/>
                  </a:cubicBezTo>
                  <a:cubicBezTo>
                    <a:pt x="1249" y="142"/>
                    <a:pt x="1224" y="92"/>
                    <a:pt x="1179" y="73"/>
                  </a:cubicBezTo>
                  <a:cubicBezTo>
                    <a:pt x="1046" y="19"/>
                    <a:pt x="1046" y="19"/>
                    <a:pt x="1046" y="19"/>
                  </a:cubicBezTo>
                  <a:cubicBezTo>
                    <a:pt x="1001" y="0"/>
                    <a:pt x="948" y="17"/>
                    <a:pt x="923" y="59"/>
                  </a:cubicBezTo>
                  <a:cubicBezTo>
                    <a:pt x="908" y="84"/>
                    <a:pt x="892" y="110"/>
                    <a:pt x="878" y="136"/>
                  </a:cubicBezTo>
                  <a:cubicBezTo>
                    <a:pt x="826" y="130"/>
                    <a:pt x="774" y="130"/>
                    <a:pt x="723" y="136"/>
                  </a:cubicBezTo>
                  <a:cubicBezTo>
                    <a:pt x="708" y="110"/>
                    <a:pt x="693" y="84"/>
                    <a:pt x="678" y="59"/>
                  </a:cubicBezTo>
                  <a:cubicBezTo>
                    <a:pt x="653" y="17"/>
                    <a:pt x="599" y="0"/>
                    <a:pt x="554" y="19"/>
                  </a:cubicBezTo>
                  <a:cubicBezTo>
                    <a:pt x="422" y="73"/>
                    <a:pt x="422" y="73"/>
                    <a:pt x="422" y="73"/>
                  </a:cubicBezTo>
                  <a:cubicBezTo>
                    <a:pt x="377" y="92"/>
                    <a:pt x="351" y="142"/>
                    <a:pt x="363" y="190"/>
                  </a:cubicBezTo>
                  <a:cubicBezTo>
                    <a:pt x="370" y="218"/>
                    <a:pt x="378" y="247"/>
                    <a:pt x="385" y="275"/>
                  </a:cubicBezTo>
                  <a:cubicBezTo>
                    <a:pt x="345" y="307"/>
                    <a:pt x="308" y="344"/>
                    <a:pt x="276" y="385"/>
                  </a:cubicBezTo>
                  <a:cubicBezTo>
                    <a:pt x="247" y="377"/>
                    <a:pt x="218" y="370"/>
                    <a:pt x="190" y="363"/>
                  </a:cubicBezTo>
                  <a:cubicBezTo>
                    <a:pt x="142" y="351"/>
                    <a:pt x="92" y="376"/>
                    <a:pt x="74" y="421"/>
                  </a:cubicBezTo>
                  <a:cubicBezTo>
                    <a:pt x="19" y="554"/>
                    <a:pt x="19" y="554"/>
                    <a:pt x="19" y="554"/>
                  </a:cubicBezTo>
                  <a:cubicBezTo>
                    <a:pt x="0" y="599"/>
                    <a:pt x="18" y="652"/>
                    <a:pt x="60" y="677"/>
                  </a:cubicBezTo>
                  <a:cubicBezTo>
                    <a:pt x="85" y="692"/>
                    <a:pt x="110" y="708"/>
                    <a:pt x="136" y="722"/>
                  </a:cubicBezTo>
                  <a:cubicBezTo>
                    <a:pt x="130" y="774"/>
                    <a:pt x="130" y="826"/>
                    <a:pt x="136" y="877"/>
                  </a:cubicBezTo>
                  <a:cubicBezTo>
                    <a:pt x="110" y="892"/>
                    <a:pt x="85" y="907"/>
                    <a:pt x="60" y="922"/>
                  </a:cubicBezTo>
                  <a:cubicBezTo>
                    <a:pt x="18" y="947"/>
                    <a:pt x="0" y="1001"/>
                    <a:pt x="19" y="1046"/>
                  </a:cubicBezTo>
                  <a:cubicBezTo>
                    <a:pt x="74" y="1178"/>
                    <a:pt x="74" y="1178"/>
                    <a:pt x="74" y="1178"/>
                  </a:cubicBezTo>
                  <a:cubicBezTo>
                    <a:pt x="92" y="1223"/>
                    <a:pt x="142" y="1249"/>
                    <a:pt x="190" y="1237"/>
                  </a:cubicBezTo>
                  <a:cubicBezTo>
                    <a:pt x="218" y="1230"/>
                    <a:pt x="247" y="1222"/>
                    <a:pt x="276" y="1215"/>
                  </a:cubicBezTo>
                  <a:cubicBezTo>
                    <a:pt x="308" y="1255"/>
                    <a:pt x="345" y="1292"/>
                    <a:pt x="385" y="1324"/>
                  </a:cubicBezTo>
                  <a:cubicBezTo>
                    <a:pt x="378" y="1353"/>
                    <a:pt x="370" y="1382"/>
                    <a:pt x="363" y="1410"/>
                  </a:cubicBezTo>
                  <a:cubicBezTo>
                    <a:pt x="351" y="1458"/>
                    <a:pt x="377" y="1508"/>
                    <a:pt x="422" y="1526"/>
                  </a:cubicBezTo>
                  <a:cubicBezTo>
                    <a:pt x="554" y="1581"/>
                    <a:pt x="554" y="1581"/>
                    <a:pt x="554" y="1581"/>
                  </a:cubicBezTo>
                  <a:cubicBezTo>
                    <a:pt x="566" y="1586"/>
                    <a:pt x="579" y="1589"/>
                    <a:pt x="592" y="1589"/>
                  </a:cubicBezTo>
                  <a:cubicBezTo>
                    <a:pt x="626" y="1589"/>
                    <a:pt x="659" y="1571"/>
                    <a:pt x="678" y="1540"/>
                  </a:cubicBezTo>
                  <a:cubicBezTo>
                    <a:pt x="693" y="1516"/>
                    <a:pt x="708" y="1490"/>
                    <a:pt x="723" y="1464"/>
                  </a:cubicBezTo>
                  <a:cubicBezTo>
                    <a:pt x="774" y="1470"/>
                    <a:pt x="826" y="1470"/>
                    <a:pt x="878" y="1464"/>
                  </a:cubicBezTo>
                  <a:cubicBezTo>
                    <a:pt x="892" y="1490"/>
                    <a:pt x="908" y="1515"/>
                    <a:pt x="923" y="1540"/>
                  </a:cubicBezTo>
                  <a:cubicBezTo>
                    <a:pt x="948" y="1582"/>
                    <a:pt x="1001" y="1600"/>
                    <a:pt x="1046" y="1581"/>
                  </a:cubicBezTo>
                  <a:cubicBezTo>
                    <a:pt x="1179" y="1526"/>
                    <a:pt x="1179" y="1526"/>
                    <a:pt x="1179" y="1526"/>
                  </a:cubicBezTo>
                  <a:cubicBezTo>
                    <a:pt x="1224" y="1508"/>
                    <a:pt x="1249" y="1458"/>
                    <a:pt x="1237" y="1410"/>
                  </a:cubicBezTo>
                  <a:cubicBezTo>
                    <a:pt x="1230" y="1382"/>
                    <a:pt x="1223" y="1353"/>
                    <a:pt x="1215" y="1324"/>
                  </a:cubicBezTo>
                  <a:cubicBezTo>
                    <a:pt x="1256" y="1292"/>
                    <a:pt x="1292" y="1255"/>
                    <a:pt x="1325" y="1215"/>
                  </a:cubicBezTo>
                  <a:cubicBezTo>
                    <a:pt x="1353" y="1222"/>
                    <a:pt x="1382" y="1230"/>
                    <a:pt x="1410" y="1237"/>
                  </a:cubicBezTo>
                  <a:cubicBezTo>
                    <a:pt x="1458" y="1249"/>
                    <a:pt x="1508" y="1223"/>
                    <a:pt x="1527" y="1178"/>
                  </a:cubicBezTo>
                  <a:cubicBezTo>
                    <a:pt x="1581" y="1046"/>
                    <a:pt x="1581" y="1046"/>
                    <a:pt x="1581" y="1046"/>
                  </a:cubicBezTo>
                  <a:cubicBezTo>
                    <a:pt x="1600" y="1001"/>
                    <a:pt x="1583" y="947"/>
                    <a:pt x="1541" y="922"/>
                  </a:cubicBezTo>
                  <a:close/>
                  <a:moveTo>
                    <a:pt x="1430" y="1132"/>
                  </a:moveTo>
                  <a:cubicBezTo>
                    <a:pt x="1403" y="1125"/>
                    <a:pt x="1376" y="1118"/>
                    <a:pt x="1348" y="1111"/>
                  </a:cubicBezTo>
                  <a:cubicBezTo>
                    <a:pt x="1309" y="1100"/>
                    <a:pt x="1268" y="1114"/>
                    <a:pt x="1243" y="1146"/>
                  </a:cubicBezTo>
                  <a:cubicBezTo>
                    <a:pt x="1215" y="1182"/>
                    <a:pt x="1182" y="1215"/>
                    <a:pt x="1146" y="1243"/>
                  </a:cubicBezTo>
                  <a:cubicBezTo>
                    <a:pt x="1114" y="1268"/>
                    <a:pt x="1101" y="1309"/>
                    <a:pt x="1111" y="1348"/>
                  </a:cubicBezTo>
                  <a:cubicBezTo>
                    <a:pt x="1118" y="1375"/>
                    <a:pt x="1126" y="1403"/>
                    <a:pt x="1132" y="1430"/>
                  </a:cubicBezTo>
                  <a:cubicBezTo>
                    <a:pt x="1011" y="1480"/>
                    <a:pt x="1011" y="1480"/>
                    <a:pt x="1011" y="1480"/>
                  </a:cubicBezTo>
                  <a:cubicBezTo>
                    <a:pt x="996" y="1456"/>
                    <a:pt x="982" y="1432"/>
                    <a:pt x="968" y="1407"/>
                  </a:cubicBezTo>
                  <a:cubicBezTo>
                    <a:pt x="948" y="1372"/>
                    <a:pt x="909" y="1353"/>
                    <a:pt x="869" y="1358"/>
                  </a:cubicBezTo>
                  <a:cubicBezTo>
                    <a:pt x="823" y="1363"/>
                    <a:pt x="777" y="1363"/>
                    <a:pt x="731" y="1358"/>
                  </a:cubicBezTo>
                  <a:cubicBezTo>
                    <a:pt x="691" y="1353"/>
                    <a:pt x="653" y="1372"/>
                    <a:pt x="633" y="1407"/>
                  </a:cubicBezTo>
                  <a:cubicBezTo>
                    <a:pt x="618" y="1432"/>
                    <a:pt x="604" y="1457"/>
                    <a:pt x="589" y="1480"/>
                  </a:cubicBezTo>
                  <a:cubicBezTo>
                    <a:pt x="468" y="1430"/>
                    <a:pt x="468" y="1430"/>
                    <a:pt x="468" y="1430"/>
                  </a:cubicBezTo>
                  <a:cubicBezTo>
                    <a:pt x="475" y="1403"/>
                    <a:pt x="482" y="1375"/>
                    <a:pt x="489" y="1348"/>
                  </a:cubicBezTo>
                  <a:cubicBezTo>
                    <a:pt x="500" y="1309"/>
                    <a:pt x="486" y="1268"/>
                    <a:pt x="454" y="1243"/>
                  </a:cubicBezTo>
                  <a:cubicBezTo>
                    <a:pt x="418" y="1215"/>
                    <a:pt x="385" y="1182"/>
                    <a:pt x="357" y="1145"/>
                  </a:cubicBezTo>
                  <a:cubicBezTo>
                    <a:pt x="332" y="1114"/>
                    <a:pt x="291" y="1100"/>
                    <a:pt x="252" y="1111"/>
                  </a:cubicBezTo>
                  <a:cubicBezTo>
                    <a:pt x="225" y="1118"/>
                    <a:pt x="197" y="1125"/>
                    <a:pt x="170" y="1132"/>
                  </a:cubicBezTo>
                  <a:cubicBezTo>
                    <a:pt x="120" y="1011"/>
                    <a:pt x="120" y="1011"/>
                    <a:pt x="120" y="1011"/>
                  </a:cubicBezTo>
                  <a:cubicBezTo>
                    <a:pt x="144" y="996"/>
                    <a:pt x="168" y="982"/>
                    <a:pt x="193" y="967"/>
                  </a:cubicBezTo>
                  <a:cubicBezTo>
                    <a:pt x="228" y="947"/>
                    <a:pt x="247" y="909"/>
                    <a:pt x="242" y="869"/>
                  </a:cubicBezTo>
                  <a:cubicBezTo>
                    <a:pt x="237" y="823"/>
                    <a:pt x="237" y="777"/>
                    <a:pt x="242" y="731"/>
                  </a:cubicBezTo>
                  <a:cubicBezTo>
                    <a:pt x="247" y="691"/>
                    <a:pt x="228" y="652"/>
                    <a:pt x="193" y="632"/>
                  </a:cubicBezTo>
                  <a:cubicBezTo>
                    <a:pt x="168" y="618"/>
                    <a:pt x="144" y="603"/>
                    <a:pt x="120" y="589"/>
                  </a:cubicBezTo>
                  <a:cubicBezTo>
                    <a:pt x="170" y="468"/>
                    <a:pt x="170" y="468"/>
                    <a:pt x="170" y="468"/>
                  </a:cubicBezTo>
                  <a:cubicBezTo>
                    <a:pt x="197" y="474"/>
                    <a:pt x="225" y="482"/>
                    <a:pt x="252" y="489"/>
                  </a:cubicBezTo>
                  <a:cubicBezTo>
                    <a:pt x="291" y="499"/>
                    <a:pt x="332" y="486"/>
                    <a:pt x="357" y="454"/>
                  </a:cubicBezTo>
                  <a:cubicBezTo>
                    <a:pt x="385" y="418"/>
                    <a:pt x="418" y="385"/>
                    <a:pt x="455" y="357"/>
                  </a:cubicBezTo>
                  <a:cubicBezTo>
                    <a:pt x="486" y="332"/>
                    <a:pt x="500" y="291"/>
                    <a:pt x="489" y="252"/>
                  </a:cubicBezTo>
                  <a:cubicBezTo>
                    <a:pt x="482" y="224"/>
                    <a:pt x="475" y="197"/>
                    <a:pt x="468" y="170"/>
                  </a:cubicBezTo>
                  <a:cubicBezTo>
                    <a:pt x="589" y="119"/>
                    <a:pt x="589" y="119"/>
                    <a:pt x="589" y="119"/>
                  </a:cubicBezTo>
                  <a:cubicBezTo>
                    <a:pt x="604" y="143"/>
                    <a:pt x="618" y="168"/>
                    <a:pt x="633" y="193"/>
                  </a:cubicBezTo>
                  <a:cubicBezTo>
                    <a:pt x="653" y="228"/>
                    <a:pt x="691" y="247"/>
                    <a:pt x="731" y="242"/>
                  </a:cubicBezTo>
                  <a:cubicBezTo>
                    <a:pt x="777" y="236"/>
                    <a:pt x="823" y="236"/>
                    <a:pt x="869" y="242"/>
                  </a:cubicBezTo>
                  <a:cubicBezTo>
                    <a:pt x="909" y="247"/>
                    <a:pt x="948" y="228"/>
                    <a:pt x="968" y="193"/>
                  </a:cubicBezTo>
                  <a:cubicBezTo>
                    <a:pt x="982" y="168"/>
                    <a:pt x="997" y="143"/>
                    <a:pt x="1011" y="119"/>
                  </a:cubicBezTo>
                  <a:cubicBezTo>
                    <a:pt x="1132" y="170"/>
                    <a:pt x="1132" y="170"/>
                    <a:pt x="1132" y="170"/>
                  </a:cubicBezTo>
                  <a:cubicBezTo>
                    <a:pt x="1126" y="197"/>
                    <a:pt x="1118" y="224"/>
                    <a:pt x="1111" y="252"/>
                  </a:cubicBezTo>
                  <a:cubicBezTo>
                    <a:pt x="1100" y="291"/>
                    <a:pt x="1114" y="332"/>
                    <a:pt x="1146" y="357"/>
                  </a:cubicBezTo>
                  <a:cubicBezTo>
                    <a:pt x="1182" y="385"/>
                    <a:pt x="1215" y="418"/>
                    <a:pt x="1243" y="454"/>
                  </a:cubicBezTo>
                  <a:cubicBezTo>
                    <a:pt x="1268" y="486"/>
                    <a:pt x="1309" y="499"/>
                    <a:pt x="1348" y="489"/>
                  </a:cubicBezTo>
                  <a:cubicBezTo>
                    <a:pt x="1376" y="482"/>
                    <a:pt x="1403" y="474"/>
                    <a:pt x="1430" y="468"/>
                  </a:cubicBezTo>
                  <a:cubicBezTo>
                    <a:pt x="1481" y="589"/>
                    <a:pt x="1481" y="589"/>
                    <a:pt x="1481" y="589"/>
                  </a:cubicBezTo>
                  <a:cubicBezTo>
                    <a:pt x="1457" y="603"/>
                    <a:pt x="1432" y="618"/>
                    <a:pt x="1407" y="632"/>
                  </a:cubicBezTo>
                  <a:cubicBezTo>
                    <a:pt x="1372" y="652"/>
                    <a:pt x="1353" y="691"/>
                    <a:pt x="1358" y="731"/>
                  </a:cubicBezTo>
                  <a:cubicBezTo>
                    <a:pt x="1364" y="776"/>
                    <a:pt x="1364" y="823"/>
                    <a:pt x="1358" y="869"/>
                  </a:cubicBezTo>
                  <a:cubicBezTo>
                    <a:pt x="1353" y="909"/>
                    <a:pt x="1372" y="947"/>
                    <a:pt x="1407" y="967"/>
                  </a:cubicBezTo>
                  <a:cubicBezTo>
                    <a:pt x="1432" y="982"/>
                    <a:pt x="1457" y="996"/>
                    <a:pt x="1481" y="1011"/>
                  </a:cubicBezTo>
                  <a:lnTo>
                    <a:pt x="1430" y="113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81" name="Freeform 26">
              <a:extLst>
                <a:ext uri="{FF2B5EF4-FFF2-40B4-BE49-F238E27FC236}">
                  <a16:creationId xmlns:a16="http://schemas.microsoft.com/office/drawing/2014/main" id="{7175EBA5-C595-DB98-9763-85BE5B8584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1637" y="4481513"/>
              <a:ext cx="912813" cy="858837"/>
            </a:xfrm>
            <a:custGeom>
              <a:avLst/>
              <a:gdLst>
                <a:gd name="T0" fmla="*/ 748 w 824"/>
                <a:gd name="T1" fmla="*/ 273 h 775"/>
                <a:gd name="T2" fmla="*/ 748 w 824"/>
                <a:gd name="T3" fmla="*/ 273 h 775"/>
                <a:gd name="T4" fmla="*/ 273 w 824"/>
                <a:gd name="T5" fmla="*/ 76 h 775"/>
                <a:gd name="T6" fmla="*/ 77 w 824"/>
                <a:gd name="T7" fmla="*/ 551 h 775"/>
                <a:gd name="T8" fmla="*/ 273 w 824"/>
                <a:gd name="T9" fmla="*/ 747 h 775"/>
                <a:gd name="T10" fmla="*/ 412 w 824"/>
                <a:gd name="T11" fmla="*/ 775 h 775"/>
                <a:gd name="T12" fmla="*/ 551 w 824"/>
                <a:gd name="T13" fmla="*/ 747 h 775"/>
                <a:gd name="T14" fmla="*/ 748 w 824"/>
                <a:gd name="T15" fmla="*/ 273 h 775"/>
                <a:gd name="T16" fmla="*/ 510 w 824"/>
                <a:gd name="T17" fmla="*/ 649 h 775"/>
                <a:gd name="T18" fmla="*/ 314 w 824"/>
                <a:gd name="T19" fmla="*/ 649 h 775"/>
                <a:gd name="T20" fmla="*/ 175 w 824"/>
                <a:gd name="T21" fmla="*/ 510 h 775"/>
                <a:gd name="T22" fmla="*/ 314 w 824"/>
                <a:gd name="T23" fmla="*/ 175 h 775"/>
                <a:gd name="T24" fmla="*/ 412 w 824"/>
                <a:gd name="T25" fmla="*/ 155 h 775"/>
                <a:gd name="T26" fmla="*/ 649 w 824"/>
                <a:gd name="T27" fmla="*/ 314 h 775"/>
                <a:gd name="T28" fmla="*/ 510 w 824"/>
                <a:gd name="T29" fmla="*/ 649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4" h="775">
                  <a:moveTo>
                    <a:pt x="748" y="273"/>
                  </a:moveTo>
                  <a:cubicBezTo>
                    <a:pt x="748" y="273"/>
                    <a:pt x="748" y="273"/>
                    <a:pt x="748" y="273"/>
                  </a:cubicBezTo>
                  <a:cubicBezTo>
                    <a:pt x="671" y="88"/>
                    <a:pt x="458" y="0"/>
                    <a:pt x="273" y="76"/>
                  </a:cubicBezTo>
                  <a:cubicBezTo>
                    <a:pt x="88" y="153"/>
                    <a:pt x="0" y="366"/>
                    <a:pt x="77" y="551"/>
                  </a:cubicBezTo>
                  <a:cubicBezTo>
                    <a:pt x="114" y="640"/>
                    <a:pt x="184" y="710"/>
                    <a:pt x="273" y="747"/>
                  </a:cubicBezTo>
                  <a:cubicBezTo>
                    <a:pt x="318" y="766"/>
                    <a:pt x="365" y="775"/>
                    <a:pt x="412" y="775"/>
                  </a:cubicBezTo>
                  <a:cubicBezTo>
                    <a:pt x="459" y="775"/>
                    <a:pt x="506" y="766"/>
                    <a:pt x="551" y="747"/>
                  </a:cubicBezTo>
                  <a:cubicBezTo>
                    <a:pt x="736" y="671"/>
                    <a:pt x="824" y="458"/>
                    <a:pt x="748" y="273"/>
                  </a:cubicBezTo>
                  <a:close/>
                  <a:moveTo>
                    <a:pt x="510" y="649"/>
                  </a:moveTo>
                  <a:cubicBezTo>
                    <a:pt x="447" y="675"/>
                    <a:pt x="377" y="675"/>
                    <a:pt x="314" y="649"/>
                  </a:cubicBezTo>
                  <a:cubicBezTo>
                    <a:pt x="251" y="623"/>
                    <a:pt x="201" y="573"/>
                    <a:pt x="175" y="510"/>
                  </a:cubicBezTo>
                  <a:cubicBezTo>
                    <a:pt x="121" y="379"/>
                    <a:pt x="183" y="229"/>
                    <a:pt x="314" y="175"/>
                  </a:cubicBezTo>
                  <a:cubicBezTo>
                    <a:pt x="346" y="161"/>
                    <a:pt x="379" y="155"/>
                    <a:pt x="412" y="155"/>
                  </a:cubicBezTo>
                  <a:cubicBezTo>
                    <a:pt x="513" y="155"/>
                    <a:pt x="608" y="215"/>
                    <a:pt x="649" y="314"/>
                  </a:cubicBezTo>
                  <a:cubicBezTo>
                    <a:pt x="703" y="444"/>
                    <a:pt x="641" y="595"/>
                    <a:pt x="510" y="64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82" name="Freeform 27">
              <a:extLst>
                <a:ext uri="{FF2B5EF4-FFF2-40B4-BE49-F238E27FC236}">
                  <a16:creationId xmlns:a16="http://schemas.microsoft.com/office/drawing/2014/main" id="{F5F2C46E-9886-8473-EA0C-A94707F8C4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82700" y="3175000"/>
              <a:ext cx="1338263" cy="1338262"/>
            </a:xfrm>
            <a:custGeom>
              <a:avLst/>
              <a:gdLst>
                <a:gd name="T0" fmla="*/ 1081 w 1210"/>
                <a:gd name="T1" fmla="*/ 462 h 1210"/>
                <a:gd name="T2" fmla="*/ 1077 w 1210"/>
                <a:gd name="T3" fmla="*/ 324 h 1210"/>
                <a:gd name="T4" fmla="*/ 996 w 1210"/>
                <a:gd name="T5" fmla="*/ 141 h 1210"/>
                <a:gd name="T6" fmla="*/ 840 w 1210"/>
                <a:gd name="T7" fmla="*/ 167 h 1210"/>
                <a:gd name="T8" fmla="*/ 740 w 1210"/>
                <a:gd name="T9" fmla="*/ 72 h 1210"/>
                <a:gd name="T10" fmla="*/ 553 w 1210"/>
                <a:gd name="T11" fmla="*/ 0 h 1210"/>
                <a:gd name="T12" fmla="*/ 461 w 1210"/>
                <a:gd name="T13" fmla="*/ 129 h 1210"/>
                <a:gd name="T14" fmla="*/ 324 w 1210"/>
                <a:gd name="T15" fmla="*/ 133 h 1210"/>
                <a:gd name="T16" fmla="*/ 140 w 1210"/>
                <a:gd name="T17" fmla="*/ 214 h 1210"/>
                <a:gd name="T18" fmla="*/ 166 w 1210"/>
                <a:gd name="T19" fmla="*/ 370 h 1210"/>
                <a:gd name="T20" fmla="*/ 72 w 1210"/>
                <a:gd name="T21" fmla="*/ 470 h 1210"/>
                <a:gd name="T22" fmla="*/ 0 w 1210"/>
                <a:gd name="T23" fmla="*/ 657 h 1210"/>
                <a:gd name="T24" fmla="*/ 128 w 1210"/>
                <a:gd name="T25" fmla="*/ 749 h 1210"/>
                <a:gd name="T26" fmla="*/ 132 w 1210"/>
                <a:gd name="T27" fmla="*/ 887 h 1210"/>
                <a:gd name="T28" fmla="*/ 214 w 1210"/>
                <a:gd name="T29" fmla="*/ 1070 h 1210"/>
                <a:gd name="T30" fmla="*/ 369 w 1210"/>
                <a:gd name="T31" fmla="*/ 1044 h 1210"/>
                <a:gd name="T32" fmla="*/ 469 w 1210"/>
                <a:gd name="T33" fmla="*/ 1138 h 1210"/>
                <a:gd name="T34" fmla="*/ 657 w 1210"/>
                <a:gd name="T35" fmla="*/ 1210 h 1210"/>
                <a:gd name="T36" fmla="*/ 748 w 1210"/>
                <a:gd name="T37" fmla="*/ 1082 h 1210"/>
                <a:gd name="T38" fmla="*/ 886 w 1210"/>
                <a:gd name="T39" fmla="*/ 1078 h 1210"/>
                <a:gd name="T40" fmla="*/ 1069 w 1210"/>
                <a:gd name="T41" fmla="*/ 996 h 1210"/>
                <a:gd name="T42" fmla="*/ 1043 w 1210"/>
                <a:gd name="T43" fmla="*/ 841 h 1210"/>
                <a:gd name="T44" fmla="*/ 1138 w 1210"/>
                <a:gd name="T45" fmla="*/ 741 h 1210"/>
                <a:gd name="T46" fmla="*/ 1210 w 1210"/>
                <a:gd name="T47" fmla="*/ 553 h 1210"/>
                <a:gd name="T48" fmla="*/ 1108 w 1210"/>
                <a:gd name="T49" fmla="*/ 643 h 1210"/>
                <a:gd name="T50" fmla="*/ 987 w 1210"/>
                <a:gd name="T51" fmla="*/ 711 h 1210"/>
                <a:gd name="T52" fmla="*/ 956 w 1210"/>
                <a:gd name="T53" fmla="*/ 894 h 1210"/>
                <a:gd name="T54" fmla="*/ 934 w 1210"/>
                <a:gd name="T55" fmla="*/ 988 h 1210"/>
                <a:gd name="T56" fmla="*/ 800 w 1210"/>
                <a:gd name="T57" fmla="*/ 950 h 1210"/>
                <a:gd name="T58" fmla="*/ 649 w 1210"/>
                <a:gd name="T59" fmla="*/ 1058 h 1210"/>
                <a:gd name="T60" fmla="*/ 567 w 1210"/>
                <a:gd name="T61" fmla="*/ 1109 h 1210"/>
                <a:gd name="T62" fmla="*/ 499 w 1210"/>
                <a:gd name="T63" fmla="*/ 988 h 1210"/>
                <a:gd name="T64" fmla="*/ 316 w 1210"/>
                <a:gd name="T65" fmla="*/ 957 h 1210"/>
                <a:gd name="T66" fmla="*/ 222 w 1210"/>
                <a:gd name="T67" fmla="*/ 935 h 1210"/>
                <a:gd name="T68" fmla="*/ 260 w 1210"/>
                <a:gd name="T69" fmla="*/ 801 h 1210"/>
                <a:gd name="T70" fmla="*/ 152 w 1210"/>
                <a:gd name="T71" fmla="*/ 650 h 1210"/>
                <a:gd name="T72" fmla="*/ 101 w 1210"/>
                <a:gd name="T73" fmla="*/ 568 h 1210"/>
                <a:gd name="T74" fmla="*/ 222 w 1210"/>
                <a:gd name="T75" fmla="*/ 500 h 1210"/>
                <a:gd name="T76" fmla="*/ 253 w 1210"/>
                <a:gd name="T77" fmla="*/ 317 h 1210"/>
                <a:gd name="T78" fmla="*/ 275 w 1210"/>
                <a:gd name="T79" fmla="*/ 223 h 1210"/>
                <a:gd name="T80" fmla="*/ 409 w 1210"/>
                <a:gd name="T81" fmla="*/ 260 h 1210"/>
                <a:gd name="T82" fmla="*/ 560 w 1210"/>
                <a:gd name="T83" fmla="*/ 153 h 1210"/>
                <a:gd name="T84" fmla="*/ 642 w 1210"/>
                <a:gd name="T85" fmla="*/ 102 h 1210"/>
                <a:gd name="T86" fmla="*/ 710 w 1210"/>
                <a:gd name="T87" fmla="*/ 223 h 1210"/>
                <a:gd name="T88" fmla="*/ 893 w 1210"/>
                <a:gd name="T89" fmla="*/ 254 h 1210"/>
                <a:gd name="T90" fmla="*/ 987 w 1210"/>
                <a:gd name="T91" fmla="*/ 276 h 1210"/>
                <a:gd name="T92" fmla="*/ 950 w 1210"/>
                <a:gd name="T93" fmla="*/ 410 h 1210"/>
                <a:gd name="T94" fmla="*/ 1057 w 1210"/>
                <a:gd name="T95" fmla="*/ 561 h 1210"/>
                <a:gd name="T96" fmla="*/ 1108 w 1210"/>
                <a:gd name="T97" fmla="*/ 643 h 1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10" h="1210">
                  <a:moveTo>
                    <a:pt x="1138" y="470"/>
                  </a:moveTo>
                  <a:cubicBezTo>
                    <a:pt x="1119" y="467"/>
                    <a:pt x="1100" y="464"/>
                    <a:pt x="1081" y="462"/>
                  </a:cubicBezTo>
                  <a:cubicBezTo>
                    <a:pt x="1072" y="430"/>
                    <a:pt x="1059" y="399"/>
                    <a:pt x="1043" y="370"/>
                  </a:cubicBezTo>
                  <a:cubicBezTo>
                    <a:pt x="1055" y="354"/>
                    <a:pt x="1066" y="339"/>
                    <a:pt x="1077" y="324"/>
                  </a:cubicBezTo>
                  <a:cubicBezTo>
                    <a:pt x="1102" y="291"/>
                    <a:pt x="1098" y="244"/>
                    <a:pt x="1069" y="214"/>
                  </a:cubicBezTo>
                  <a:cubicBezTo>
                    <a:pt x="996" y="141"/>
                    <a:pt x="996" y="141"/>
                    <a:pt x="996" y="141"/>
                  </a:cubicBezTo>
                  <a:cubicBezTo>
                    <a:pt x="966" y="112"/>
                    <a:pt x="919" y="108"/>
                    <a:pt x="886" y="133"/>
                  </a:cubicBezTo>
                  <a:cubicBezTo>
                    <a:pt x="871" y="144"/>
                    <a:pt x="855" y="155"/>
                    <a:pt x="840" y="167"/>
                  </a:cubicBezTo>
                  <a:cubicBezTo>
                    <a:pt x="811" y="151"/>
                    <a:pt x="780" y="138"/>
                    <a:pt x="748" y="129"/>
                  </a:cubicBezTo>
                  <a:cubicBezTo>
                    <a:pt x="746" y="110"/>
                    <a:pt x="743" y="91"/>
                    <a:pt x="740" y="72"/>
                  </a:cubicBezTo>
                  <a:cubicBezTo>
                    <a:pt x="734" y="31"/>
                    <a:pt x="698" y="0"/>
                    <a:pt x="657" y="0"/>
                  </a:cubicBezTo>
                  <a:cubicBezTo>
                    <a:pt x="553" y="0"/>
                    <a:pt x="553" y="0"/>
                    <a:pt x="553" y="0"/>
                  </a:cubicBezTo>
                  <a:cubicBezTo>
                    <a:pt x="511" y="0"/>
                    <a:pt x="475" y="31"/>
                    <a:pt x="469" y="72"/>
                  </a:cubicBezTo>
                  <a:cubicBezTo>
                    <a:pt x="466" y="91"/>
                    <a:pt x="464" y="110"/>
                    <a:pt x="461" y="129"/>
                  </a:cubicBezTo>
                  <a:cubicBezTo>
                    <a:pt x="429" y="138"/>
                    <a:pt x="398" y="151"/>
                    <a:pt x="369" y="167"/>
                  </a:cubicBezTo>
                  <a:cubicBezTo>
                    <a:pt x="354" y="155"/>
                    <a:pt x="339" y="144"/>
                    <a:pt x="324" y="133"/>
                  </a:cubicBezTo>
                  <a:cubicBezTo>
                    <a:pt x="290" y="108"/>
                    <a:pt x="243" y="112"/>
                    <a:pt x="214" y="141"/>
                  </a:cubicBezTo>
                  <a:cubicBezTo>
                    <a:pt x="140" y="214"/>
                    <a:pt x="140" y="214"/>
                    <a:pt x="140" y="214"/>
                  </a:cubicBezTo>
                  <a:cubicBezTo>
                    <a:pt x="111" y="244"/>
                    <a:pt x="107" y="291"/>
                    <a:pt x="132" y="324"/>
                  </a:cubicBezTo>
                  <a:cubicBezTo>
                    <a:pt x="143" y="339"/>
                    <a:pt x="154" y="354"/>
                    <a:pt x="166" y="370"/>
                  </a:cubicBezTo>
                  <a:cubicBezTo>
                    <a:pt x="150" y="399"/>
                    <a:pt x="137" y="430"/>
                    <a:pt x="128" y="462"/>
                  </a:cubicBezTo>
                  <a:cubicBezTo>
                    <a:pt x="109" y="464"/>
                    <a:pt x="90" y="467"/>
                    <a:pt x="72" y="470"/>
                  </a:cubicBezTo>
                  <a:cubicBezTo>
                    <a:pt x="31" y="476"/>
                    <a:pt x="0" y="512"/>
                    <a:pt x="0" y="553"/>
                  </a:cubicBezTo>
                  <a:cubicBezTo>
                    <a:pt x="0" y="657"/>
                    <a:pt x="0" y="657"/>
                    <a:pt x="0" y="657"/>
                  </a:cubicBezTo>
                  <a:cubicBezTo>
                    <a:pt x="0" y="699"/>
                    <a:pt x="31" y="735"/>
                    <a:pt x="72" y="741"/>
                  </a:cubicBezTo>
                  <a:cubicBezTo>
                    <a:pt x="90" y="744"/>
                    <a:pt x="109" y="746"/>
                    <a:pt x="128" y="749"/>
                  </a:cubicBezTo>
                  <a:cubicBezTo>
                    <a:pt x="137" y="781"/>
                    <a:pt x="150" y="812"/>
                    <a:pt x="166" y="841"/>
                  </a:cubicBezTo>
                  <a:cubicBezTo>
                    <a:pt x="154" y="856"/>
                    <a:pt x="143" y="871"/>
                    <a:pt x="132" y="887"/>
                  </a:cubicBezTo>
                  <a:cubicBezTo>
                    <a:pt x="107" y="920"/>
                    <a:pt x="111" y="967"/>
                    <a:pt x="140" y="996"/>
                  </a:cubicBezTo>
                  <a:cubicBezTo>
                    <a:pt x="214" y="1070"/>
                    <a:pt x="214" y="1070"/>
                    <a:pt x="214" y="1070"/>
                  </a:cubicBezTo>
                  <a:cubicBezTo>
                    <a:pt x="243" y="1099"/>
                    <a:pt x="290" y="1103"/>
                    <a:pt x="323" y="1078"/>
                  </a:cubicBezTo>
                  <a:cubicBezTo>
                    <a:pt x="339" y="1067"/>
                    <a:pt x="354" y="1056"/>
                    <a:pt x="369" y="1044"/>
                  </a:cubicBezTo>
                  <a:cubicBezTo>
                    <a:pt x="398" y="1060"/>
                    <a:pt x="429" y="1073"/>
                    <a:pt x="461" y="1082"/>
                  </a:cubicBezTo>
                  <a:cubicBezTo>
                    <a:pt x="464" y="1101"/>
                    <a:pt x="466" y="1120"/>
                    <a:pt x="469" y="1138"/>
                  </a:cubicBezTo>
                  <a:cubicBezTo>
                    <a:pt x="475" y="1179"/>
                    <a:pt x="511" y="1210"/>
                    <a:pt x="553" y="1210"/>
                  </a:cubicBezTo>
                  <a:cubicBezTo>
                    <a:pt x="657" y="1210"/>
                    <a:pt x="657" y="1210"/>
                    <a:pt x="657" y="1210"/>
                  </a:cubicBezTo>
                  <a:cubicBezTo>
                    <a:pt x="698" y="1210"/>
                    <a:pt x="734" y="1179"/>
                    <a:pt x="740" y="1138"/>
                  </a:cubicBezTo>
                  <a:cubicBezTo>
                    <a:pt x="743" y="1120"/>
                    <a:pt x="746" y="1101"/>
                    <a:pt x="748" y="1082"/>
                  </a:cubicBezTo>
                  <a:cubicBezTo>
                    <a:pt x="780" y="1073"/>
                    <a:pt x="811" y="1060"/>
                    <a:pt x="840" y="1044"/>
                  </a:cubicBezTo>
                  <a:cubicBezTo>
                    <a:pt x="855" y="1056"/>
                    <a:pt x="871" y="1067"/>
                    <a:pt x="886" y="1078"/>
                  </a:cubicBezTo>
                  <a:cubicBezTo>
                    <a:pt x="919" y="1103"/>
                    <a:pt x="966" y="1099"/>
                    <a:pt x="996" y="1070"/>
                  </a:cubicBezTo>
                  <a:cubicBezTo>
                    <a:pt x="1069" y="996"/>
                    <a:pt x="1069" y="996"/>
                    <a:pt x="1069" y="996"/>
                  </a:cubicBezTo>
                  <a:cubicBezTo>
                    <a:pt x="1098" y="967"/>
                    <a:pt x="1102" y="920"/>
                    <a:pt x="1077" y="886"/>
                  </a:cubicBezTo>
                  <a:cubicBezTo>
                    <a:pt x="1066" y="871"/>
                    <a:pt x="1055" y="856"/>
                    <a:pt x="1043" y="841"/>
                  </a:cubicBezTo>
                  <a:cubicBezTo>
                    <a:pt x="1059" y="812"/>
                    <a:pt x="1072" y="781"/>
                    <a:pt x="1081" y="749"/>
                  </a:cubicBezTo>
                  <a:cubicBezTo>
                    <a:pt x="1100" y="746"/>
                    <a:pt x="1119" y="744"/>
                    <a:pt x="1138" y="741"/>
                  </a:cubicBezTo>
                  <a:cubicBezTo>
                    <a:pt x="1179" y="735"/>
                    <a:pt x="1210" y="699"/>
                    <a:pt x="1210" y="657"/>
                  </a:cubicBezTo>
                  <a:cubicBezTo>
                    <a:pt x="1210" y="553"/>
                    <a:pt x="1210" y="553"/>
                    <a:pt x="1210" y="553"/>
                  </a:cubicBezTo>
                  <a:cubicBezTo>
                    <a:pt x="1210" y="512"/>
                    <a:pt x="1179" y="476"/>
                    <a:pt x="1138" y="470"/>
                  </a:cubicBezTo>
                  <a:close/>
                  <a:moveTo>
                    <a:pt x="1108" y="643"/>
                  </a:moveTo>
                  <a:cubicBezTo>
                    <a:pt x="1092" y="645"/>
                    <a:pt x="1075" y="648"/>
                    <a:pt x="1057" y="650"/>
                  </a:cubicBezTo>
                  <a:cubicBezTo>
                    <a:pt x="1024" y="654"/>
                    <a:pt x="996" y="678"/>
                    <a:pt x="987" y="711"/>
                  </a:cubicBezTo>
                  <a:cubicBezTo>
                    <a:pt x="978" y="742"/>
                    <a:pt x="966" y="773"/>
                    <a:pt x="950" y="801"/>
                  </a:cubicBezTo>
                  <a:cubicBezTo>
                    <a:pt x="933" y="830"/>
                    <a:pt x="935" y="867"/>
                    <a:pt x="956" y="894"/>
                  </a:cubicBezTo>
                  <a:cubicBezTo>
                    <a:pt x="967" y="908"/>
                    <a:pt x="977" y="921"/>
                    <a:pt x="987" y="935"/>
                  </a:cubicBezTo>
                  <a:cubicBezTo>
                    <a:pt x="934" y="988"/>
                    <a:pt x="934" y="988"/>
                    <a:pt x="934" y="988"/>
                  </a:cubicBezTo>
                  <a:cubicBezTo>
                    <a:pt x="921" y="978"/>
                    <a:pt x="907" y="967"/>
                    <a:pt x="893" y="957"/>
                  </a:cubicBezTo>
                  <a:cubicBezTo>
                    <a:pt x="866" y="936"/>
                    <a:pt x="830" y="934"/>
                    <a:pt x="800" y="950"/>
                  </a:cubicBezTo>
                  <a:cubicBezTo>
                    <a:pt x="772" y="967"/>
                    <a:pt x="742" y="979"/>
                    <a:pt x="710" y="988"/>
                  </a:cubicBezTo>
                  <a:cubicBezTo>
                    <a:pt x="678" y="997"/>
                    <a:pt x="654" y="1024"/>
                    <a:pt x="649" y="1058"/>
                  </a:cubicBezTo>
                  <a:cubicBezTo>
                    <a:pt x="647" y="1075"/>
                    <a:pt x="645" y="1092"/>
                    <a:pt x="642" y="1109"/>
                  </a:cubicBezTo>
                  <a:cubicBezTo>
                    <a:pt x="567" y="1109"/>
                    <a:pt x="567" y="1109"/>
                    <a:pt x="567" y="1109"/>
                  </a:cubicBezTo>
                  <a:cubicBezTo>
                    <a:pt x="565" y="1092"/>
                    <a:pt x="562" y="1075"/>
                    <a:pt x="560" y="1058"/>
                  </a:cubicBezTo>
                  <a:cubicBezTo>
                    <a:pt x="556" y="1024"/>
                    <a:pt x="532" y="997"/>
                    <a:pt x="499" y="988"/>
                  </a:cubicBezTo>
                  <a:cubicBezTo>
                    <a:pt x="468" y="979"/>
                    <a:pt x="437" y="967"/>
                    <a:pt x="409" y="950"/>
                  </a:cubicBezTo>
                  <a:cubicBezTo>
                    <a:pt x="380" y="934"/>
                    <a:pt x="343" y="936"/>
                    <a:pt x="316" y="957"/>
                  </a:cubicBezTo>
                  <a:cubicBezTo>
                    <a:pt x="302" y="968"/>
                    <a:pt x="289" y="978"/>
                    <a:pt x="275" y="988"/>
                  </a:cubicBezTo>
                  <a:cubicBezTo>
                    <a:pt x="222" y="935"/>
                    <a:pt x="222" y="935"/>
                    <a:pt x="222" y="935"/>
                  </a:cubicBezTo>
                  <a:cubicBezTo>
                    <a:pt x="232" y="921"/>
                    <a:pt x="242" y="908"/>
                    <a:pt x="253" y="894"/>
                  </a:cubicBezTo>
                  <a:cubicBezTo>
                    <a:pt x="274" y="867"/>
                    <a:pt x="276" y="830"/>
                    <a:pt x="260" y="801"/>
                  </a:cubicBezTo>
                  <a:cubicBezTo>
                    <a:pt x="243" y="773"/>
                    <a:pt x="231" y="742"/>
                    <a:pt x="222" y="711"/>
                  </a:cubicBezTo>
                  <a:cubicBezTo>
                    <a:pt x="213" y="678"/>
                    <a:pt x="186" y="654"/>
                    <a:pt x="152" y="650"/>
                  </a:cubicBezTo>
                  <a:cubicBezTo>
                    <a:pt x="135" y="648"/>
                    <a:pt x="118" y="645"/>
                    <a:pt x="101" y="643"/>
                  </a:cubicBezTo>
                  <a:cubicBezTo>
                    <a:pt x="101" y="568"/>
                    <a:pt x="101" y="568"/>
                    <a:pt x="101" y="568"/>
                  </a:cubicBezTo>
                  <a:cubicBezTo>
                    <a:pt x="118" y="565"/>
                    <a:pt x="135" y="563"/>
                    <a:pt x="152" y="561"/>
                  </a:cubicBezTo>
                  <a:cubicBezTo>
                    <a:pt x="186" y="556"/>
                    <a:pt x="213" y="532"/>
                    <a:pt x="222" y="500"/>
                  </a:cubicBezTo>
                  <a:cubicBezTo>
                    <a:pt x="231" y="468"/>
                    <a:pt x="243" y="438"/>
                    <a:pt x="260" y="410"/>
                  </a:cubicBezTo>
                  <a:cubicBezTo>
                    <a:pt x="276" y="380"/>
                    <a:pt x="274" y="344"/>
                    <a:pt x="253" y="317"/>
                  </a:cubicBezTo>
                  <a:cubicBezTo>
                    <a:pt x="242" y="303"/>
                    <a:pt x="232" y="289"/>
                    <a:pt x="222" y="276"/>
                  </a:cubicBezTo>
                  <a:cubicBezTo>
                    <a:pt x="275" y="223"/>
                    <a:pt x="275" y="223"/>
                    <a:pt x="275" y="223"/>
                  </a:cubicBezTo>
                  <a:cubicBezTo>
                    <a:pt x="289" y="233"/>
                    <a:pt x="302" y="243"/>
                    <a:pt x="316" y="254"/>
                  </a:cubicBezTo>
                  <a:cubicBezTo>
                    <a:pt x="343" y="275"/>
                    <a:pt x="380" y="277"/>
                    <a:pt x="409" y="260"/>
                  </a:cubicBezTo>
                  <a:cubicBezTo>
                    <a:pt x="437" y="244"/>
                    <a:pt x="468" y="232"/>
                    <a:pt x="499" y="223"/>
                  </a:cubicBezTo>
                  <a:cubicBezTo>
                    <a:pt x="532" y="214"/>
                    <a:pt x="556" y="186"/>
                    <a:pt x="560" y="153"/>
                  </a:cubicBezTo>
                  <a:cubicBezTo>
                    <a:pt x="562" y="135"/>
                    <a:pt x="565" y="118"/>
                    <a:pt x="567" y="102"/>
                  </a:cubicBezTo>
                  <a:cubicBezTo>
                    <a:pt x="642" y="102"/>
                    <a:pt x="642" y="102"/>
                    <a:pt x="642" y="102"/>
                  </a:cubicBezTo>
                  <a:cubicBezTo>
                    <a:pt x="645" y="118"/>
                    <a:pt x="647" y="135"/>
                    <a:pt x="649" y="153"/>
                  </a:cubicBezTo>
                  <a:cubicBezTo>
                    <a:pt x="654" y="186"/>
                    <a:pt x="678" y="214"/>
                    <a:pt x="710" y="223"/>
                  </a:cubicBezTo>
                  <a:cubicBezTo>
                    <a:pt x="742" y="232"/>
                    <a:pt x="772" y="244"/>
                    <a:pt x="800" y="260"/>
                  </a:cubicBezTo>
                  <a:cubicBezTo>
                    <a:pt x="830" y="277"/>
                    <a:pt x="866" y="275"/>
                    <a:pt x="893" y="254"/>
                  </a:cubicBezTo>
                  <a:cubicBezTo>
                    <a:pt x="907" y="243"/>
                    <a:pt x="921" y="233"/>
                    <a:pt x="934" y="223"/>
                  </a:cubicBezTo>
                  <a:cubicBezTo>
                    <a:pt x="987" y="276"/>
                    <a:pt x="987" y="276"/>
                    <a:pt x="987" y="276"/>
                  </a:cubicBezTo>
                  <a:cubicBezTo>
                    <a:pt x="977" y="289"/>
                    <a:pt x="967" y="303"/>
                    <a:pt x="956" y="317"/>
                  </a:cubicBezTo>
                  <a:cubicBezTo>
                    <a:pt x="935" y="344"/>
                    <a:pt x="933" y="380"/>
                    <a:pt x="950" y="410"/>
                  </a:cubicBezTo>
                  <a:cubicBezTo>
                    <a:pt x="966" y="438"/>
                    <a:pt x="978" y="468"/>
                    <a:pt x="987" y="500"/>
                  </a:cubicBezTo>
                  <a:cubicBezTo>
                    <a:pt x="996" y="532"/>
                    <a:pt x="1024" y="556"/>
                    <a:pt x="1057" y="561"/>
                  </a:cubicBezTo>
                  <a:cubicBezTo>
                    <a:pt x="1075" y="563"/>
                    <a:pt x="1092" y="565"/>
                    <a:pt x="1108" y="568"/>
                  </a:cubicBezTo>
                  <a:cubicBezTo>
                    <a:pt x="1108" y="643"/>
                    <a:pt x="1108" y="643"/>
                    <a:pt x="1108" y="64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83" name="Freeform 28">
              <a:extLst>
                <a:ext uri="{FF2B5EF4-FFF2-40B4-BE49-F238E27FC236}">
                  <a16:creationId xmlns:a16="http://schemas.microsoft.com/office/drawing/2014/main" id="{5CC66539-75ED-6682-75CA-300BCC9DD3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2912" y="3606800"/>
              <a:ext cx="476250" cy="476250"/>
            </a:xfrm>
            <a:custGeom>
              <a:avLst/>
              <a:gdLst>
                <a:gd name="T0" fmla="*/ 216 w 431"/>
                <a:gd name="T1" fmla="*/ 0 h 431"/>
                <a:gd name="T2" fmla="*/ 0 w 431"/>
                <a:gd name="T3" fmla="*/ 215 h 431"/>
                <a:gd name="T4" fmla="*/ 216 w 431"/>
                <a:gd name="T5" fmla="*/ 431 h 431"/>
                <a:gd name="T6" fmla="*/ 431 w 431"/>
                <a:gd name="T7" fmla="*/ 215 h 431"/>
                <a:gd name="T8" fmla="*/ 216 w 431"/>
                <a:gd name="T9" fmla="*/ 0 h 431"/>
                <a:gd name="T10" fmla="*/ 216 w 431"/>
                <a:gd name="T11" fmla="*/ 335 h 431"/>
                <a:gd name="T12" fmla="*/ 96 w 431"/>
                <a:gd name="T13" fmla="*/ 215 h 431"/>
                <a:gd name="T14" fmla="*/ 216 w 431"/>
                <a:gd name="T15" fmla="*/ 95 h 431"/>
                <a:gd name="T16" fmla="*/ 335 w 431"/>
                <a:gd name="T17" fmla="*/ 215 h 431"/>
                <a:gd name="T18" fmla="*/ 216 w 431"/>
                <a:gd name="T19" fmla="*/ 335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1" h="431">
                  <a:moveTo>
                    <a:pt x="216" y="0"/>
                  </a:moveTo>
                  <a:cubicBezTo>
                    <a:pt x="97" y="0"/>
                    <a:pt x="0" y="96"/>
                    <a:pt x="0" y="215"/>
                  </a:cubicBezTo>
                  <a:cubicBezTo>
                    <a:pt x="0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5"/>
                  </a:cubicBezTo>
                  <a:cubicBezTo>
                    <a:pt x="431" y="96"/>
                    <a:pt x="335" y="0"/>
                    <a:pt x="216" y="0"/>
                  </a:cubicBezTo>
                  <a:close/>
                  <a:moveTo>
                    <a:pt x="216" y="335"/>
                  </a:moveTo>
                  <a:cubicBezTo>
                    <a:pt x="150" y="335"/>
                    <a:pt x="96" y="281"/>
                    <a:pt x="96" y="215"/>
                  </a:cubicBezTo>
                  <a:cubicBezTo>
                    <a:pt x="96" y="149"/>
                    <a:pt x="150" y="95"/>
                    <a:pt x="216" y="95"/>
                  </a:cubicBezTo>
                  <a:cubicBezTo>
                    <a:pt x="282" y="95"/>
                    <a:pt x="335" y="149"/>
                    <a:pt x="335" y="215"/>
                  </a:cubicBezTo>
                  <a:cubicBezTo>
                    <a:pt x="335" y="281"/>
                    <a:pt x="282" y="335"/>
                    <a:pt x="216" y="33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62FFAAB-AC2B-5917-99B9-858A66744AB7}"/>
              </a:ext>
            </a:extLst>
          </p:cNvPr>
          <p:cNvGrpSpPr/>
          <p:nvPr/>
        </p:nvGrpSpPr>
        <p:grpSpPr>
          <a:xfrm>
            <a:off x="7503686" y="1903933"/>
            <a:ext cx="262806" cy="262806"/>
            <a:chOff x="-2546350" y="3163888"/>
            <a:chExt cx="2635250" cy="2635249"/>
          </a:xfrm>
          <a:solidFill>
            <a:schemeClr val="bg1"/>
          </a:solidFill>
        </p:grpSpPr>
        <p:sp>
          <p:nvSpPr>
            <p:cNvPr id="85" name="Freeform 32">
              <a:extLst>
                <a:ext uri="{FF2B5EF4-FFF2-40B4-BE49-F238E27FC236}">
                  <a16:creationId xmlns:a16="http://schemas.microsoft.com/office/drawing/2014/main" id="{A7442852-EE2B-BF39-2BF4-4A34A4AF47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546350" y="3603625"/>
              <a:ext cx="2197100" cy="2195512"/>
            </a:xfrm>
            <a:custGeom>
              <a:avLst/>
              <a:gdLst>
                <a:gd name="T0" fmla="*/ 853 w 1707"/>
                <a:gd name="T1" fmla="*/ 1707 h 1707"/>
                <a:gd name="T2" fmla="*/ 0 w 1707"/>
                <a:gd name="T3" fmla="*/ 854 h 1707"/>
                <a:gd name="T4" fmla="*/ 853 w 1707"/>
                <a:gd name="T5" fmla="*/ 0 h 1707"/>
                <a:gd name="T6" fmla="*/ 1707 w 1707"/>
                <a:gd name="T7" fmla="*/ 854 h 1707"/>
                <a:gd name="T8" fmla="*/ 853 w 1707"/>
                <a:gd name="T9" fmla="*/ 1707 h 1707"/>
                <a:gd name="T10" fmla="*/ 853 w 1707"/>
                <a:gd name="T11" fmla="*/ 86 h 1707"/>
                <a:gd name="T12" fmla="*/ 85 w 1707"/>
                <a:gd name="T13" fmla="*/ 854 h 1707"/>
                <a:gd name="T14" fmla="*/ 853 w 1707"/>
                <a:gd name="T15" fmla="*/ 1622 h 1707"/>
                <a:gd name="T16" fmla="*/ 1621 w 1707"/>
                <a:gd name="T17" fmla="*/ 854 h 1707"/>
                <a:gd name="T18" fmla="*/ 853 w 1707"/>
                <a:gd name="T19" fmla="*/ 86 h 1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7" h="1707">
                  <a:moveTo>
                    <a:pt x="853" y="1707"/>
                  </a:moveTo>
                  <a:cubicBezTo>
                    <a:pt x="384" y="1707"/>
                    <a:pt x="0" y="1323"/>
                    <a:pt x="0" y="854"/>
                  </a:cubicBezTo>
                  <a:cubicBezTo>
                    <a:pt x="0" y="384"/>
                    <a:pt x="384" y="0"/>
                    <a:pt x="853" y="0"/>
                  </a:cubicBezTo>
                  <a:cubicBezTo>
                    <a:pt x="1323" y="0"/>
                    <a:pt x="1707" y="384"/>
                    <a:pt x="1707" y="854"/>
                  </a:cubicBezTo>
                  <a:cubicBezTo>
                    <a:pt x="1707" y="1323"/>
                    <a:pt x="1323" y="1707"/>
                    <a:pt x="853" y="1707"/>
                  </a:cubicBezTo>
                  <a:close/>
                  <a:moveTo>
                    <a:pt x="853" y="86"/>
                  </a:moveTo>
                  <a:cubicBezTo>
                    <a:pt x="427" y="86"/>
                    <a:pt x="85" y="427"/>
                    <a:pt x="85" y="854"/>
                  </a:cubicBezTo>
                  <a:cubicBezTo>
                    <a:pt x="85" y="1280"/>
                    <a:pt x="427" y="1622"/>
                    <a:pt x="853" y="1622"/>
                  </a:cubicBezTo>
                  <a:cubicBezTo>
                    <a:pt x="1280" y="1622"/>
                    <a:pt x="1621" y="1280"/>
                    <a:pt x="1621" y="854"/>
                  </a:cubicBezTo>
                  <a:cubicBezTo>
                    <a:pt x="1621" y="427"/>
                    <a:pt x="1280" y="86"/>
                    <a:pt x="853" y="8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86" name="Freeform 33">
              <a:extLst>
                <a:ext uri="{FF2B5EF4-FFF2-40B4-BE49-F238E27FC236}">
                  <a16:creationId xmlns:a16="http://schemas.microsoft.com/office/drawing/2014/main" id="{EBD60607-0F32-D467-9EA6-CDA72B2DA8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162175" y="3987800"/>
              <a:ext cx="1427163" cy="1427162"/>
            </a:xfrm>
            <a:custGeom>
              <a:avLst/>
              <a:gdLst>
                <a:gd name="T0" fmla="*/ 554 w 1109"/>
                <a:gd name="T1" fmla="*/ 1109 h 1109"/>
                <a:gd name="T2" fmla="*/ 0 w 1109"/>
                <a:gd name="T3" fmla="*/ 555 h 1109"/>
                <a:gd name="T4" fmla="*/ 554 w 1109"/>
                <a:gd name="T5" fmla="*/ 0 h 1109"/>
                <a:gd name="T6" fmla="*/ 1109 w 1109"/>
                <a:gd name="T7" fmla="*/ 555 h 1109"/>
                <a:gd name="T8" fmla="*/ 554 w 1109"/>
                <a:gd name="T9" fmla="*/ 1109 h 1109"/>
                <a:gd name="T10" fmla="*/ 554 w 1109"/>
                <a:gd name="T11" fmla="*/ 85 h 1109"/>
                <a:gd name="T12" fmla="*/ 85 w 1109"/>
                <a:gd name="T13" fmla="*/ 555 h 1109"/>
                <a:gd name="T14" fmla="*/ 554 w 1109"/>
                <a:gd name="T15" fmla="*/ 1024 h 1109"/>
                <a:gd name="T16" fmla="*/ 1024 w 1109"/>
                <a:gd name="T17" fmla="*/ 555 h 1109"/>
                <a:gd name="T18" fmla="*/ 554 w 1109"/>
                <a:gd name="T19" fmla="*/ 85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09" h="1109">
                  <a:moveTo>
                    <a:pt x="554" y="1109"/>
                  </a:moveTo>
                  <a:cubicBezTo>
                    <a:pt x="247" y="1109"/>
                    <a:pt x="0" y="862"/>
                    <a:pt x="0" y="555"/>
                  </a:cubicBezTo>
                  <a:cubicBezTo>
                    <a:pt x="0" y="247"/>
                    <a:pt x="247" y="0"/>
                    <a:pt x="554" y="0"/>
                  </a:cubicBezTo>
                  <a:cubicBezTo>
                    <a:pt x="862" y="0"/>
                    <a:pt x="1109" y="247"/>
                    <a:pt x="1109" y="555"/>
                  </a:cubicBezTo>
                  <a:cubicBezTo>
                    <a:pt x="1109" y="862"/>
                    <a:pt x="862" y="1109"/>
                    <a:pt x="554" y="1109"/>
                  </a:cubicBezTo>
                  <a:close/>
                  <a:moveTo>
                    <a:pt x="554" y="85"/>
                  </a:moveTo>
                  <a:cubicBezTo>
                    <a:pt x="298" y="85"/>
                    <a:pt x="85" y="299"/>
                    <a:pt x="85" y="555"/>
                  </a:cubicBezTo>
                  <a:cubicBezTo>
                    <a:pt x="85" y="811"/>
                    <a:pt x="298" y="1024"/>
                    <a:pt x="554" y="1024"/>
                  </a:cubicBezTo>
                  <a:cubicBezTo>
                    <a:pt x="810" y="1024"/>
                    <a:pt x="1024" y="811"/>
                    <a:pt x="1024" y="555"/>
                  </a:cubicBezTo>
                  <a:cubicBezTo>
                    <a:pt x="1024" y="299"/>
                    <a:pt x="810" y="85"/>
                    <a:pt x="554" y="8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87" name="Freeform 34">
              <a:extLst>
                <a:ext uri="{FF2B5EF4-FFF2-40B4-BE49-F238E27FC236}">
                  <a16:creationId xmlns:a16="http://schemas.microsoft.com/office/drawing/2014/main" id="{82C8C187-DC1C-1858-5324-7F3616CB47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78000" y="4371975"/>
              <a:ext cx="658813" cy="658812"/>
            </a:xfrm>
            <a:custGeom>
              <a:avLst/>
              <a:gdLst>
                <a:gd name="T0" fmla="*/ 256 w 512"/>
                <a:gd name="T1" fmla="*/ 512 h 512"/>
                <a:gd name="T2" fmla="*/ 0 w 512"/>
                <a:gd name="T3" fmla="*/ 256 h 512"/>
                <a:gd name="T4" fmla="*/ 256 w 512"/>
                <a:gd name="T5" fmla="*/ 0 h 512"/>
                <a:gd name="T6" fmla="*/ 512 w 512"/>
                <a:gd name="T7" fmla="*/ 256 h 512"/>
                <a:gd name="T8" fmla="*/ 256 w 512"/>
                <a:gd name="T9" fmla="*/ 512 h 512"/>
                <a:gd name="T10" fmla="*/ 256 w 512"/>
                <a:gd name="T11" fmla="*/ 85 h 512"/>
                <a:gd name="T12" fmla="*/ 86 w 512"/>
                <a:gd name="T13" fmla="*/ 256 h 512"/>
                <a:gd name="T14" fmla="*/ 256 w 512"/>
                <a:gd name="T15" fmla="*/ 426 h 512"/>
                <a:gd name="T16" fmla="*/ 427 w 512"/>
                <a:gd name="T17" fmla="*/ 256 h 512"/>
                <a:gd name="T18" fmla="*/ 256 w 512"/>
                <a:gd name="T19" fmla="*/ 85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512"/>
                  </a:moveTo>
                  <a:cubicBezTo>
                    <a:pt x="111" y="512"/>
                    <a:pt x="0" y="401"/>
                    <a:pt x="0" y="256"/>
                  </a:cubicBezTo>
                  <a:cubicBezTo>
                    <a:pt x="0" y="111"/>
                    <a:pt x="111" y="0"/>
                    <a:pt x="256" y="0"/>
                  </a:cubicBezTo>
                  <a:cubicBezTo>
                    <a:pt x="401" y="0"/>
                    <a:pt x="512" y="111"/>
                    <a:pt x="512" y="256"/>
                  </a:cubicBezTo>
                  <a:cubicBezTo>
                    <a:pt x="512" y="401"/>
                    <a:pt x="401" y="512"/>
                    <a:pt x="256" y="512"/>
                  </a:cubicBezTo>
                  <a:close/>
                  <a:moveTo>
                    <a:pt x="256" y="85"/>
                  </a:moveTo>
                  <a:cubicBezTo>
                    <a:pt x="162" y="85"/>
                    <a:pt x="86" y="162"/>
                    <a:pt x="86" y="256"/>
                  </a:cubicBezTo>
                  <a:cubicBezTo>
                    <a:pt x="86" y="350"/>
                    <a:pt x="162" y="426"/>
                    <a:pt x="256" y="426"/>
                  </a:cubicBezTo>
                  <a:cubicBezTo>
                    <a:pt x="350" y="426"/>
                    <a:pt x="427" y="350"/>
                    <a:pt x="427" y="256"/>
                  </a:cubicBezTo>
                  <a:cubicBezTo>
                    <a:pt x="427" y="162"/>
                    <a:pt x="350" y="85"/>
                    <a:pt x="256" y="8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88" name="Freeform 35">
              <a:extLst>
                <a:ext uri="{FF2B5EF4-FFF2-40B4-BE49-F238E27FC236}">
                  <a16:creationId xmlns:a16="http://schemas.microsoft.com/office/drawing/2014/main" id="{7A22E895-0027-FB4F-E748-CDC8233C5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14475" y="3822700"/>
              <a:ext cx="944563" cy="933450"/>
            </a:xfrm>
            <a:custGeom>
              <a:avLst/>
              <a:gdLst>
                <a:gd name="T0" fmla="*/ 51 w 734"/>
                <a:gd name="T1" fmla="*/ 725 h 725"/>
                <a:gd name="T2" fmla="*/ 17 w 734"/>
                <a:gd name="T3" fmla="*/ 717 h 725"/>
                <a:gd name="T4" fmla="*/ 17 w 734"/>
                <a:gd name="T5" fmla="*/ 657 h 725"/>
                <a:gd name="T6" fmla="*/ 657 w 734"/>
                <a:gd name="T7" fmla="*/ 17 h 725"/>
                <a:gd name="T8" fmla="*/ 717 w 734"/>
                <a:gd name="T9" fmla="*/ 17 h 725"/>
                <a:gd name="T10" fmla="*/ 717 w 734"/>
                <a:gd name="T11" fmla="*/ 77 h 725"/>
                <a:gd name="T12" fmla="*/ 77 w 734"/>
                <a:gd name="T13" fmla="*/ 717 h 725"/>
                <a:gd name="T14" fmla="*/ 51 w 734"/>
                <a:gd name="T15" fmla="*/ 725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4" h="725">
                  <a:moveTo>
                    <a:pt x="51" y="725"/>
                  </a:moveTo>
                  <a:cubicBezTo>
                    <a:pt x="43" y="725"/>
                    <a:pt x="26" y="725"/>
                    <a:pt x="17" y="717"/>
                  </a:cubicBezTo>
                  <a:cubicBezTo>
                    <a:pt x="0" y="700"/>
                    <a:pt x="0" y="674"/>
                    <a:pt x="17" y="657"/>
                  </a:cubicBezTo>
                  <a:cubicBezTo>
                    <a:pt x="657" y="17"/>
                    <a:pt x="657" y="17"/>
                    <a:pt x="657" y="17"/>
                  </a:cubicBezTo>
                  <a:cubicBezTo>
                    <a:pt x="674" y="0"/>
                    <a:pt x="700" y="0"/>
                    <a:pt x="717" y="17"/>
                  </a:cubicBezTo>
                  <a:cubicBezTo>
                    <a:pt x="734" y="34"/>
                    <a:pt x="734" y="60"/>
                    <a:pt x="717" y="77"/>
                  </a:cubicBezTo>
                  <a:cubicBezTo>
                    <a:pt x="77" y="717"/>
                    <a:pt x="77" y="717"/>
                    <a:pt x="77" y="717"/>
                  </a:cubicBezTo>
                  <a:cubicBezTo>
                    <a:pt x="77" y="725"/>
                    <a:pt x="60" y="725"/>
                    <a:pt x="51" y="72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89" name="Freeform 36">
              <a:extLst>
                <a:ext uri="{FF2B5EF4-FFF2-40B4-BE49-F238E27FC236}">
                  <a16:creationId xmlns:a16="http://schemas.microsoft.com/office/drawing/2014/main" id="{B8BC092B-9D48-DC12-9950-DF6466DAB1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679450" y="3163888"/>
              <a:ext cx="768350" cy="768350"/>
            </a:xfrm>
            <a:custGeom>
              <a:avLst/>
              <a:gdLst>
                <a:gd name="T0" fmla="*/ 256 w 597"/>
                <a:gd name="T1" fmla="*/ 597 h 597"/>
                <a:gd name="T2" fmla="*/ 42 w 597"/>
                <a:gd name="T3" fmla="*/ 597 h 597"/>
                <a:gd name="T4" fmla="*/ 0 w 597"/>
                <a:gd name="T5" fmla="*/ 555 h 597"/>
                <a:gd name="T6" fmla="*/ 0 w 597"/>
                <a:gd name="T7" fmla="*/ 341 h 597"/>
                <a:gd name="T8" fmla="*/ 8 w 597"/>
                <a:gd name="T9" fmla="*/ 307 h 597"/>
                <a:gd name="T10" fmla="*/ 307 w 597"/>
                <a:gd name="T11" fmla="*/ 9 h 597"/>
                <a:gd name="T12" fmla="*/ 358 w 597"/>
                <a:gd name="T13" fmla="*/ 0 h 597"/>
                <a:gd name="T14" fmla="*/ 384 w 597"/>
                <a:gd name="T15" fmla="*/ 43 h 597"/>
                <a:gd name="T16" fmla="*/ 384 w 597"/>
                <a:gd name="T17" fmla="*/ 213 h 597"/>
                <a:gd name="T18" fmla="*/ 554 w 597"/>
                <a:gd name="T19" fmla="*/ 213 h 597"/>
                <a:gd name="T20" fmla="*/ 597 w 597"/>
                <a:gd name="T21" fmla="*/ 239 h 597"/>
                <a:gd name="T22" fmla="*/ 588 w 597"/>
                <a:gd name="T23" fmla="*/ 290 h 597"/>
                <a:gd name="T24" fmla="*/ 290 w 597"/>
                <a:gd name="T25" fmla="*/ 589 h 597"/>
                <a:gd name="T26" fmla="*/ 256 w 597"/>
                <a:gd name="T27" fmla="*/ 597 h 597"/>
                <a:gd name="T28" fmla="*/ 85 w 597"/>
                <a:gd name="T29" fmla="*/ 512 h 597"/>
                <a:gd name="T30" fmla="*/ 239 w 597"/>
                <a:gd name="T31" fmla="*/ 512 h 597"/>
                <a:gd name="T32" fmla="*/ 452 w 597"/>
                <a:gd name="T33" fmla="*/ 299 h 597"/>
                <a:gd name="T34" fmla="*/ 341 w 597"/>
                <a:gd name="T35" fmla="*/ 299 h 597"/>
                <a:gd name="T36" fmla="*/ 298 w 597"/>
                <a:gd name="T37" fmla="*/ 256 h 597"/>
                <a:gd name="T38" fmla="*/ 298 w 597"/>
                <a:gd name="T39" fmla="*/ 145 h 597"/>
                <a:gd name="T40" fmla="*/ 85 w 597"/>
                <a:gd name="T41" fmla="*/ 358 h 597"/>
                <a:gd name="T42" fmla="*/ 85 w 597"/>
                <a:gd name="T43" fmla="*/ 512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7" h="597">
                  <a:moveTo>
                    <a:pt x="256" y="597"/>
                  </a:moveTo>
                  <a:cubicBezTo>
                    <a:pt x="42" y="597"/>
                    <a:pt x="42" y="597"/>
                    <a:pt x="42" y="597"/>
                  </a:cubicBezTo>
                  <a:cubicBezTo>
                    <a:pt x="17" y="597"/>
                    <a:pt x="0" y="580"/>
                    <a:pt x="0" y="555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0" y="333"/>
                    <a:pt x="8" y="316"/>
                    <a:pt x="8" y="307"/>
                  </a:cubicBezTo>
                  <a:cubicBezTo>
                    <a:pt x="307" y="9"/>
                    <a:pt x="307" y="9"/>
                    <a:pt x="307" y="9"/>
                  </a:cubicBezTo>
                  <a:cubicBezTo>
                    <a:pt x="324" y="0"/>
                    <a:pt x="341" y="0"/>
                    <a:pt x="358" y="0"/>
                  </a:cubicBezTo>
                  <a:cubicBezTo>
                    <a:pt x="375" y="9"/>
                    <a:pt x="384" y="26"/>
                    <a:pt x="384" y="43"/>
                  </a:cubicBezTo>
                  <a:cubicBezTo>
                    <a:pt x="384" y="213"/>
                    <a:pt x="384" y="213"/>
                    <a:pt x="384" y="213"/>
                  </a:cubicBezTo>
                  <a:cubicBezTo>
                    <a:pt x="554" y="213"/>
                    <a:pt x="554" y="213"/>
                    <a:pt x="554" y="213"/>
                  </a:cubicBezTo>
                  <a:cubicBezTo>
                    <a:pt x="571" y="213"/>
                    <a:pt x="588" y="222"/>
                    <a:pt x="597" y="239"/>
                  </a:cubicBezTo>
                  <a:cubicBezTo>
                    <a:pt x="597" y="256"/>
                    <a:pt x="597" y="273"/>
                    <a:pt x="588" y="290"/>
                  </a:cubicBezTo>
                  <a:cubicBezTo>
                    <a:pt x="290" y="589"/>
                    <a:pt x="290" y="589"/>
                    <a:pt x="290" y="589"/>
                  </a:cubicBezTo>
                  <a:cubicBezTo>
                    <a:pt x="281" y="589"/>
                    <a:pt x="264" y="597"/>
                    <a:pt x="256" y="597"/>
                  </a:cubicBezTo>
                  <a:close/>
                  <a:moveTo>
                    <a:pt x="85" y="512"/>
                  </a:moveTo>
                  <a:cubicBezTo>
                    <a:pt x="239" y="512"/>
                    <a:pt x="239" y="512"/>
                    <a:pt x="239" y="512"/>
                  </a:cubicBezTo>
                  <a:cubicBezTo>
                    <a:pt x="452" y="299"/>
                    <a:pt x="452" y="299"/>
                    <a:pt x="452" y="299"/>
                  </a:cubicBezTo>
                  <a:cubicBezTo>
                    <a:pt x="341" y="299"/>
                    <a:pt x="341" y="299"/>
                    <a:pt x="341" y="299"/>
                  </a:cubicBezTo>
                  <a:cubicBezTo>
                    <a:pt x="315" y="299"/>
                    <a:pt x="298" y="282"/>
                    <a:pt x="298" y="256"/>
                  </a:cubicBezTo>
                  <a:cubicBezTo>
                    <a:pt x="298" y="145"/>
                    <a:pt x="298" y="145"/>
                    <a:pt x="298" y="145"/>
                  </a:cubicBezTo>
                  <a:cubicBezTo>
                    <a:pt x="85" y="358"/>
                    <a:pt x="85" y="358"/>
                    <a:pt x="85" y="358"/>
                  </a:cubicBezTo>
                  <a:lnTo>
                    <a:pt x="85" y="5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B083A959-9F2B-B148-68C5-1C141443D632}"/>
              </a:ext>
            </a:extLst>
          </p:cNvPr>
          <p:cNvSpPr txBox="1"/>
          <p:nvPr/>
        </p:nvSpPr>
        <p:spPr>
          <a:xfrm>
            <a:off x="1772488" y="2410717"/>
            <a:ext cx="1329009" cy="9464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b="1" dirty="0"/>
              <a:t>Automated Cleaning System</a:t>
            </a:r>
          </a:p>
          <a:p>
            <a:pPr algn="ctr">
              <a:lnSpc>
                <a:spcPct val="90000"/>
              </a:lnSpc>
            </a:pPr>
            <a:endParaRPr lang="en-US" sz="1600" b="1" dirty="0"/>
          </a:p>
          <a:p>
            <a:pPr algn="ctr">
              <a:lnSpc>
                <a:spcPct val="90000"/>
              </a:lnSpc>
            </a:pPr>
            <a:r>
              <a:rPr lang="en-US" dirty="0"/>
              <a:t>Robot cleaners triggered instantly by AI → timely, efficient, and water-saving.</a:t>
            </a:r>
          </a:p>
          <a:p>
            <a:pPr algn="ctr">
              <a:lnSpc>
                <a:spcPct val="90000"/>
              </a:lnSpc>
            </a:pPr>
            <a:endParaRPr lang="en-US" sz="15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FA5B451-B515-EB6E-C392-ACFD8B4DACC3}"/>
              </a:ext>
            </a:extLst>
          </p:cNvPr>
          <p:cNvSpPr txBox="1"/>
          <p:nvPr/>
        </p:nvSpPr>
        <p:spPr>
          <a:xfrm>
            <a:off x="3997469" y="2470249"/>
            <a:ext cx="1342376" cy="96598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600" b="1" dirty="0"/>
              <a:t>IoT + Edge Integration</a:t>
            </a:r>
          </a:p>
          <a:p>
            <a:endParaRPr lang="en-US" b="1" dirty="0"/>
          </a:p>
          <a:p>
            <a:r>
              <a:rPr lang="en-US" dirty="0"/>
              <a:t>Continuous monitoring, predictive maintenance, and &lt;30ms response time.</a:t>
            </a:r>
          </a:p>
          <a:p>
            <a:endParaRPr lang="en-US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01FCD30-4B44-9830-13BC-1BC5507CF983}"/>
              </a:ext>
            </a:extLst>
          </p:cNvPr>
          <p:cNvSpPr txBox="1"/>
          <p:nvPr/>
        </p:nvSpPr>
        <p:spPr>
          <a:xfrm>
            <a:off x="5511417" y="2321474"/>
            <a:ext cx="1342376" cy="2120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600" b="1" dirty="0"/>
              <a:t>Sustainable &amp; Affordable</a:t>
            </a:r>
          </a:p>
          <a:p>
            <a:br>
              <a:rPr lang="en-US" dirty="0"/>
            </a:br>
            <a:r>
              <a:rPr lang="en-US" dirty="0"/>
              <a:t>Uses little/no water, reduces O&amp;M costs by </a:t>
            </a:r>
            <a:r>
              <a:rPr lang="en-US" b="1" dirty="0"/>
              <a:t>40%</a:t>
            </a:r>
            <a:r>
              <a:rPr lang="en-US" dirty="0"/>
              <a:t>, boosts energy output by </a:t>
            </a:r>
            <a:r>
              <a:rPr lang="en-US" b="1" dirty="0"/>
              <a:t>25–30%.</a:t>
            </a:r>
            <a:endParaRPr lang="en-US" dirty="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34592FB-6A45-5299-FF8F-5D4FCE95CBDA}"/>
              </a:ext>
            </a:extLst>
          </p:cNvPr>
          <p:cNvGrpSpPr/>
          <p:nvPr/>
        </p:nvGrpSpPr>
        <p:grpSpPr>
          <a:xfrm>
            <a:off x="2174187" y="1989341"/>
            <a:ext cx="262806" cy="262806"/>
            <a:chOff x="-2546350" y="3163888"/>
            <a:chExt cx="2635250" cy="2635249"/>
          </a:xfrm>
          <a:solidFill>
            <a:schemeClr val="bg1"/>
          </a:solidFill>
        </p:grpSpPr>
        <p:sp>
          <p:nvSpPr>
            <p:cNvPr id="94" name="Freeform 32">
              <a:extLst>
                <a:ext uri="{FF2B5EF4-FFF2-40B4-BE49-F238E27FC236}">
                  <a16:creationId xmlns:a16="http://schemas.microsoft.com/office/drawing/2014/main" id="{A0C33E98-0C3C-6378-BA24-0880A62099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546350" y="3603625"/>
              <a:ext cx="2197100" cy="2195512"/>
            </a:xfrm>
            <a:custGeom>
              <a:avLst/>
              <a:gdLst>
                <a:gd name="T0" fmla="*/ 853 w 1707"/>
                <a:gd name="T1" fmla="*/ 1707 h 1707"/>
                <a:gd name="T2" fmla="*/ 0 w 1707"/>
                <a:gd name="T3" fmla="*/ 854 h 1707"/>
                <a:gd name="T4" fmla="*/ 853 w 1707"/>
                <a:gd name="T5" fmla="*/ 0 h 1707"/>
                <a:gd name="T6" fmla="*/ 1707 w 1707"/>
                <a:gd name="T7" fmla="*/ 854 h 1707"/>
                <a:gd name="T8" fmla="*/ 853 w 1707"/>
                <a:gd name="T9" fmla="*/ 1707 h 1707"/>
                <a:gd name="T10" fmla="*/ 853 w 1707"/>
                <a:gd name="T11" fmla="*/ 86 h 1707"/>
                <a:gd name="T12" fmla="*/ 85 w 1707"/>
                <a:gd name="T13" fmla="*/ 854 h 1707"/>
                <a:gd name="T14" fmla="*/ 853 w 1707"/>
                <a:gd name="T15" fmla="*/ 1622 h 1707"/>
                <a:gd name="T16" fmla="*/ 1621 w 1707"/>
                <a:gd name="T17" fmla="*/ 854 h 1707"/>
                <a:gd name="T18" fmla="*/ 853 w 1707"/>
                <a:gd name="T19" fmla="*/ 86 h 1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7" h="1707">
                  <a:moveTo>
                    <a:pt x="853" y="1707"/>
                  </a:moveTo>
                  <a:cubicBezTo>
                    <a:pt x="384" y="1707"/>
                    <a:pt x="0" y="1323"/>
                    <a:pt x="0" y="854"/>
                  </a:cubicBezTo>
                  <a:cubicBezTo>
                    <a:pt x="0" y="384"/>
                    <a:pt x="384" y="0"/>
                    <a:pt x="853" y="0"/>
                  </a:cubicBezTo>
                  <a:cubicBezTo>
                    <a:pt x="1323" y="0"/>
                    <a:pt x="1707" y="384"/>
                    <a:pt x="1707" y="854"/>
                  </a:cubicBezTo>
                  <a:cubicBezTo>
                    <a:pt x="1707" y="1323"/>
                    <a:pt x="1323" y="1707"/>
                    <a:pt x="853" y="1707"/>
                  </a:cubicBezTo>
                  <a:close/>
                  <a:moveTo>
                    <a:pt x="853" y="86"/>
                  </a:moveTo>
                  <a:cubicBezTo>
                    <a:pt x="427" y="86"/>
                    <a:pt x="85" y="427"/>
                    <a:pt x="85" y="854"/>
                  </a:cubicBezTo>
                  <a:cubicBezTo>
                    <a:pt x="85" y="1280"/>
                    <a:pt x="427" y="1622"/>
                    <a:pt x="853" y="1622"/>
                  </a:cubicBezTo>
                  <a:cubicBezTo>
                    <a:pt x="1280" y="1622"/>
                    <a:pt x="1621" y="1280"/>
                    <a:pt x="1621" y="854"/>
                  </a:cubicBezTo>
                  <a:cubicBezTo>
                    <a:pt x="1621" y="427"/>
                    <a:pt x="1280" y="86"/>
                    <a:pt x="853" y="8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95" name="Freeform 33">
              <a:extLst>
                <a:ext uri="{FF2B5EF4-FFF2-40B4-BE49-F238E27FC236}">
                  <a16:creationId xmlns:a16="http://schemas.microsoft.com/office/drawing/2014/main" id="{AA743363-398E-D2C6-EA5B-1052BF341A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162175" y="3987800"/>
              <a:ext cx="1427163" cy="1427162"/>
            </a:xfrm>
            <a:custGeom>
              <a:avLst/>
              <a:gdLst>
                <a:gd name="T0" fmla="*/ 554 w 1109"/>
                <a:gd name="T1" fmla="*/ 1109 h 1109"/>
                <a:gd name="T2" fmla="*/ 0 w 1109"/>
                <a:gd name="T3" fmla="*/ 555 h 1109"/>
                <a:gd name="T4" fmla="*/ 554 w 1109"/>
                <a:gd name="T5" fmla="*/ 0 h 1109"/>
                <a:gd name="T6" fmla="*/ 1109 w 1109"/>
                <a:gd name="T7" fmla="*/ 555 h 1109"/>
                <a:gd name="T8" fmla="*/ 554 w 1109"/>
                <a:gd name="T9" fmla="*/ 1109 h 1109"/>
                <a:gd name="T10" fmla="*/ 554 w 1109"/>
                <a:gd name="T11" fmla="*/ 85 h 1109"/>
                <a:gd name="T12" fmla="*/ 85 w 1109"/>
                <a:gd name="T13" fmla="*/ 555 h 1109"/>
                <a:gd name="T14" fmla="*/ 554 w 1109"/>
                <a:gd name="T15" fmla="*/ 1024 h 1109"/>
                <a:gd name="T16" fmla="*/ 1024 w 1109"/>
                <a:gd name="T17" fmla="*/ 555 h 1109"/>
                <a:gd name="T18" fmla="*/ 554 w 1109"/>
                <a:gd name="T19" fmla="*/ 85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09" h="1109">
                  <a:moveTo>
                    <a:pt x="554" y="1109"/>
                  </a:moveTo>
                  <a:cubicBezTo>
                    <a:pt x="247" y="1109"/>
                    <a:pt x="0" y="862"/>
                    <a:pt x="0" y="555"/>
                  </a:cubicBezTo>
                  <a:cubicBezTo>
                    <a:pt x="0" y="247"/>
                    <a:pt x="247" y="0"/>
                    <a:pt x="554" y="0"/>
                  </a:cubicBezTo>
                  <a:cubicBezTo>
                    <a:pt x="862" y="0"/>
                    <a:pt x="1109" y="247"/>
                    <a:pt x="1109" y="555"/>
                  </a:cubicBezTo>
                  <a:cubicBezTo>
                    <a:pt x="1109" y="862"/>
                    <a:pt x="862" y="1109"/>
                    <a:pt x="554" y="1109"/>
                  </a:cubicBezTo>
                  <a:close/>
                  <a:moveTo>
                    <a:pt x="554" y="85"/>
                  </a:moveTo>
                  <a:cubicBezTo>
                    <a:pt x="298" y="85"/>
                    <a:pt x="85" y="299"/>
                    <a:pt x="85" y="555"/>
                  </a:cubicBezTo>
                  <a:cubicBezTo>
                    <a:pt x="85" y="811"/>
                    <a:pt x="298" y="1024"/>
                    <a:pt x="554" y="1024"/>
                  </a:cubicBezTo>
                  <a:cubicBezTo>
                    <a:pt x="810" y="1024"/>
                    <a:pt x="1024" y="811"/>
                    <a:pt x="1024" y="555"/>
                  </a:cubicBezTo>
                  <a:cubicBezTo>
                    <a:pt x="1024" y="299"/>
                    <a:pt x="810" y="85"/>
                    <a:pt x="554" y="8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96" name="Freeform 34">
              <a:extLst>
                <a:ext uri="{FF2B5EF4-FFF2-40B4-BE49-F238E27FC236}">
                  <a16:creationId xmlns:a16="http://schemas.microsoft.com/office/drawing/2014/main" id="{1AB71CCE-29A8-0A28-D51B-D6ECE1F7C6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78000" y="4371975"/>
              <a:ext cx="658813" cy="658812"/>
            </a:xfrm>
            <a:custGeom>
              <a:avLst/>
              <a:gdLst>
                <a:gd name="T0" fmla="*/ 256 w 512"/>
                <a:gd name="T1" fmla="*/ 512 h 512"/>
                <a:gd name="T2" fmla="*/ 0 w 512"/>
                <a:gd name="T3" fmla="*/ 256 h 512"/>
                <a:gd name="T4" fmla="*/ 256 w 512"/>
                <a:gd name="T5" fmla="*/ 0 h 512"/>
                <a:gd name="T6" fmla="*/ 512 w 512"/>
                <a:gd name="T7" fmla="*/ 256 h 512"/>
                <a:gd name="T8" fmla="*/ 256 w 512"/>
                <a:gd name="T9" fmla="*/ 512 h 512"/>
                <a:gd name="T10" fmla="*/ 256 w 512"/>
                <a:gd name="T11" fmla="*/ 85 h 512"/>
                <a:gd name="T12" fmla="*/ 86 w 512"/>
                <a:gd name="T13" fmla="*/ 256 h 512"/>
                <a:gd name="T14" fmla="*/ 256 w 512"/>
                <a:gd name="T15" fmla="*/ 426 h 512"/>
                <a:gd name="T16" fmla="*/ 427 w 512"/>
                <a:gd name="T17" fmla="*/ 256 h 512"/>
                <a:gd name="T18" fmla="*/ 256 w 512"/>
                <a:gd name="T19" fmla="*/ 85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512"/>
                  </a:moveTo>
                  <a:cubicBezTo>
                    <a:pt x="111" y="512"/>
                    <a:pt x="0" y="401"/>
                    <a:pt x="0" y="256"/>
                  </a:cubicBezTo>
                  <a:cubicBezTo>
                    <a:pt x="0" y="111"/>
                    <a:pt x="111" y="0"/>
                    <a:pt x="256" y="0"/>
                  </a:cubicBezTo>
                  <a:cubicBezTo>
                    <a:pt x="401" y="0"/>
                    <a:pt x="512" y="111"/>
                    <a:pt x="512" y="256"/>
                  </a:cubicBezTo>
                  <a:cubicBezTo>
                    <a:pt x="512" y="401"/>
                    <a:pt x="401" y="512"/>
                    <a:pt x="256" y="512"/>
                  </a:cubicBezTo>
                  <a:close/>
                  <a:moveTo>
                    <a:pt x="256" y="85"/>
                  </a:moveTo>
                  <a:cubicBezTo>
                    <a:pt x="162" y="85"/>
                    <a:pt x="86" y="162"/>
                    <a:pt x="86" y="256"/>
                  </a:cubicBezTo>
                  <a:cubicBezTo>
                    <a:pt x="86" y="350"/>
                    <a:pt x="162" y="426"/>
                    <a:pt x="256" y="426"/>
                  </a:cubicBezTo>
                  <a:cubicBezTo>
                    <a:pt x="350" y="426"/>
                    <a:pt x="427" y="350"/>
                    <a:pt x="427" y="256"/>
                  </a:cubicBezTo>
                  <a:cubicBezTo>
                    <a:pt x="427" y="162"/>
                    <a:pt x="350" y="85"/>
                    <a:pt x="256" y="8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97" name="Freeform 35">
              <a:extLst>
                <a:ext uri="{FF2B5EF4-FFF2-40B4-BE49-F238E27FC236}">
                  <a16:creationId xmlns:a16="http://schemas.microsoft.com/office/drawing/2014/main" id="{DDC22F93-8CC3-4BF5-C57D-FB059BEAD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14475" y="3822700"/>
              <a:ext cx="944563" cy="933450"/>
            </a:xfrm>
            <a:custGeom>
              <a:avLst/>
              <a:gdLst>
                <a:gd name="T0" fmla="*/ 51 w 734"/>
                <a:gd name="T1" fmla="*/ 725 h 725"/>
                <a:gd name="T2" fmla="*/ 17 w 734"/>
                <a:gd name="T3" fmla="*/ 717 h 725"/>
                <a:gd name="T4" fmla="*/ 17 w 734"/>
                <a:gd name="T5" fmla="*/ 657 h 725"/>
                <a:gd name="T6" fmla="*/ 657 w 734"/>
                <a:gd name="T7" fmla="*/ 17 h 725"/>
                <a:gd name="T8" fmla="*/ 717 w 734"/>
                <a:gd name="T9" fmla="*/ 17 h 725"/>
                <a:gd name="T10" fmla="*/ 717 w 734"/>
                <a:gd name="T11" fmla="*/ 77 h 725"/>
                <a:gd name="T12" fmla="*/ 77 w 734"/>
                <a:gd name="T13" fmla="*/ 717 h 725"/>
                <a:gd name="T14" fmla="*/ 51 w 734"/>
                <a:gd name="T15" fmla="*/ 725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4" h="725">
                  <a:moveTo>
                    <a:pt x="51" y="725"/>
                  </a:moveTo>
                  <a:cubicBezTo>
                    <a:pt x="43" y="725"/>
                    <a:pt x="26" y="725"/>
                    <a:pt x="17" y="717"/>
                  </a:cubicBezTo>
                  <a:cubicBezTo>
                    <a:pt x="0" y="700"/>
                    <a:pt x="0" y="674"/>
                    <a:pt x="17" y="657"/>
                  </a:cubicBezTo>
                  <a:cubicBezTo>
                    <a:pt x="657" y="17"/>
                    <a:pt x="657" y="17"/>
                    <a:pt x="657" y="17"/>
                  </a:cubicBezTo>
                  <a:cubicBezTo>
                    <a:pt x="674" y="0"/>
                    <a:pt x="700" y="0"/>
                    <a:pt x="717" y="17"/>
                  </a:cubicBezTo>
                  <a:cubicBezTo>
                    <a:pt x="734" y="34"/>
                    <a:pt x="734" y="60"/>
                    <a:pt x="717" y="77"/>
                  </a:cubicBezTo>
                  <a:cubicBezTo>
                    <a:pt x="77" y="717"/>
                    <a:pt x="77" y="717"/>
                    <a:pt x="77" y="717"/>
                  </a:cubicBezTo>
                  <a:cubicBezTo>
                    <a:pt x="77" y="725"/>
                    <a:pt x="60" y="725"/>
                    <a:pt x="51" y="72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98" name="Freeform 36">
              <a:extLst>
                <a:ext uri="{FF2B5EF4-FFF2-40B4-BE49-F238E27FC236}">
                  <a16:creationId xmlns:a16="http://schemas.microsoft.com/office/drawing/2014/main" id="{95204D0F-FB5B-0CE1-5A04-8804E5A2CC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679450" y="3163888"/>
              <a:ext cx="768350" cy="768350"/>
            </a:xfrm>
            <a:custGeom>
              <a:avLst/>
              <a:gdLst>
                <a:gd name="T0" fmla="*/ 256 w 597"/>
                <a:gd name="T1" fmla="*/ 597 h 597"/>
                <a:gd name="T2" fmla="*/ 42 w 597"/>
                <a:gd name="T3" fmla="*/ 597 h 597"/>
                <a:gd name="T4" fmla="*/ 0 w 597"/>
                <a:gd name="T5" fmla="*/ 555 h 597"/>
                <a:gd name="T6" fmla="*/ 0 w 597"/>
                <a:gd name="T7" fmla="*/ 341 h 597"/>
                <a:gd name="T8" fmla="*/ 8 w 597"/>
                <a:gd name="T9" fmla="*/ 307 h 597"/>
                <a:gd name="T10" fmla="*/ 307 w 597"/>
                <a:gd name="T11" fmla="*/ 9 h 597"/>
                <a:gd name="T12" fmla="*/ 358 w 597"/>
                <a:gd name="T13" fmla="*/ 0 h 597"/>
                <a:gd name="T14" fmla="*/ 384 w 597"/>
                <a:gd name="T15" fmla="*/ 43 h 597"/>
                <a:gd name="T16" fmla="*/ 384 w 597"/>
                <a:gd name="T17" fmla="*/ 213 h 597"/>
                <a:gd name="T18" fmla="*/ 554 w 597"/>
                <a:gd name="T19" fmla="*/ 213 h 597"/>
                <a:gd name="T20" fmla="*/ 597 w 597"/>
                <a:gd name="T21" fmla="*/ 239 h 597"/>
                <a:gd name="T22" fmla="*/ 588 w 597"/>
                <a:gd name="T23" fmla="*/ 290 h 597"/>
                <a:gd name="T24" fmla="*/ 290 w 597"/>
                <a:gd name="T25" fmla="*/ 589 h 597"/>
                <a:gd name="T26" fmla="*/ 256 w 597"/>
                <a:gd name="T27" fmla="*/ 597 h 597"/>
                <a:gd name="T28" fmla="*/ 85 w 597"/>
                <a:gd name="T29" fmla="*/ 512 h 597"/>
                <a:gd name="T30" fmla="*/ 239 w 597"/>
                <a:gd name="T31" fmla="*/ 512 h 597"/>
                <a:gd name="T32" fmla="*/ 452 w 597"/>
                <a:gd name="T33" fmla="*/ 299 h 597"/>
                <a:gd name="T34" fmla="*/ 341 w 597"/>
                <a:gd name="T35" fmla="*/ 299 h 597"/>
                <a:gd name="T36" fmla="*/ 298 w 597"/>
                <a:gd name="T37" fmla="*/ 256 h 597"/>
                <a:gd name="T38" fmla="*/ 298 w 597"/>
                <a:gd name="T39" fmla="*/ 145 h 597"/>
                <a:gd name="T40" fmla="*/ 85 w 597"/>
                <a:gd name="T41" fmla="*/ 358 h 597"/>
                <a:gd name="T42" fmla="*/ 85 w 597"/>
                <a:gd name="T43" fmla="*/ 512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7" h="597">
                  <a:moveTo>
                    <a:pt x="256" y="597"/>
                  </a:moveTo>
                  <a:cubicBezTo>
                    <a:pt x="42" y="597"/>
                    <a:pt x="42" y="597"/>
                    <a:pt x="42" y="597"/>
                  </a:cubicBezTo>
                  <a:cubicBezTo>
                    <a:pt x="17" y="597"/>
                    <a:pt x="0" y="580"/>
                    <a:pt x="0" y="555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0" y="333"/>
                    <a:pt x="8" y="316"/>
                    <a:pt x="8" y="307"/>
                  </a:cubicBezTo>
                  <a:cubicBezTo>
                    <a:pt x="307" y="9"/>
                    <a:pt x="307" y="9"/>
                    <a:pt x="307" y="9"/>
                  </a:cubicBezTo>
                  <a:cubicBezTo>
                    <a:pt x="324" y="0"/>
                    <a:pt x="341" y="0"/>
                    <a:pt x="358" y="0"/>
                  </a:cubicBezTo>
                  <a:cubicBezTo>
                    <a:pt x="375" y="9"/>
                    <a:pt x="384" y="26"/>
                    <a:pt x="384" y="43"/>
                  </a:cubicBezTo>
                  <a:cubicBezTo>
                    <a:pt x="384" y="213"/>
                    <a:pt x="384" y="213"/>
                    <a:pt x="384" y="213"/>
                  </a:cubicBezTo>
                  <a:cubicBezTo>
                    <a:pt x="554" y="213"/>
                    <a:pt x="554" y="213"/>
                    <a:pt x="554" y="213"/>
                  </a:cubicBezTo>
                  <a:cubicBezTo>
                    <a:pt x="571" y="213"/>
                    <a:pt x="588" y="222"/>
                    <a:pt x="597" y="239"/>
                  </a:cubicBezTo>
                  <a:cubicBezTo>
                    <a:pt x="597" y="256"/>
                    <a:pt x="597" y="273"/>
                    <a:pt x="588" y="290"/>
                  </a:cubicBezTo>
                  <a:cubicBezTo>
                    <a:pt x="290" y="589"/>
                    <a:pt x="290" y="589"/>
                    <a:pt x="290" y="589"/>
                  </a:cubicBezTo>
                  <a:cubicBezTo>
                    <a:pt x="281" y="589"/>
                    <a:pt x="264" y="597"/>
                    <a:pt x="256" y="597"/>
                  </a:cubicBezTo>
                  <a:close/>
                  <a:moveTo>
                    <a:pt x="85" y="512"/>
                  </a:moveTo>
                  <a:cubicBezTo>
                    <a:pt x="239" y="512"/>
                    <a:pt x="239" y="512"/>
                    <a:pt x="239" y="512"/>
                  </a:cubicBezTo>
                  <a:cubicBezTo>
                    <a:pt x="452" y="299"/>
                    <a:pt x="452" y="299"/>
                    <a:pt x="452" y="299"/>
                  </a:cubicBezTo>
                  <a:cubicBezTo>
                    <a:pt x="341" y="299"/>
                    <a:pt x="341" y="299"/>
                    <a:pt x="341" y="299"/>
                  </a:cubicBezTo>
                  <a:cubicBezTo>
                    <a:pt x="315" y="299"/>
                    <a:pt x="298" y="282"/>
                    <a:pt x="298" y="256"/>
                  </a:cubicBezTo>
                  <a:cubicBezTo>
                    <a:pt x="298" y="145"/>
                    <a:pt x="298" y="145"/>
                    <a:pt x="298" y="145"/>
                  </a:cubicBezTo>
                  <a:cubicBezTo>
                    <a:pt x="85" y="358"/>
                    <a:pt x="85" y="358"/>
                    <a:pt x="85" y="358"/>
                  </a:cubicBezTo>
                  <a:lnTo>
                    <a:pt x="85" y="5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</p:grp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727D3B6B-A3FF-F9AF-5364-BB3821EE27FC}"/>
              </a:ext>
            </a:extLst>
          </p:cNvPr>
          <p:cNvSpPr/>
          <p:nvPr/>
        </p:nvSpPr>
        <p:spPr>
          <a:xfrm>
            <a:off x="3668460" y="2181930"/>
            <a:ext cx="1776248" cy="2615968"/>
          </a:xfrm>
          <a:prstGeom prst="roundRect">
            <a:avLst/>
          </a:prstGeom>
          <a:solidFill>
            <a:schemeClr val="tx1">
              <a:alpha val="14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6F7FC1F-780E-A36E-38F9-577D8B9DDC14}"/>
              </a:ext>
            </a:extLst>
          </p:cNvPr>
          <p:cNvGrpSpPr/>
          <p:nvPr/>
        </p:nvGrpSpPr>
        <p:grpSpPr>
          <a:xfrm>
            <a:off x="654255" y="1907833"/>
            <a:ext cx="262806" cy="262806"/>
            <a:chOff x="-2546350" y="3163888"/>
            <a:chExt cx="2635250" cy="2635249"/>
          </a:xfrm>
          <a:solidFill>
            <a:schemeClr val="bg1"/>
          </a:solidFill>
        </p:grpSpPr>
        <p:sp>
          <p:nvSpPr>
            <p:cNvPr id="101" name="Freeform 32">
              <a:extLst>
                <a:ext uri="{FF2B5EF4-FFF2-40B4-BE49-F238E27FC236}">
                  <a16:creationId xmlns:a16="http://schemas.microsoft.com/office/drawing/2014/main" id="{F152A689-DFC2-964E-9615-91B8674849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546350" y="3603625"/>
              <a:ext cx="2197100" cy="2195512"/>
            </a:xfrm>
            <a:custGeom>
              <a:avLst/>
              <a:gdLst>
                <a:gd name="T0" fmla="*/ 853 w 1707"/>
                <a:gd name="T1" fmla="*/ 1707 h 1707"/>
                <a:gd name="T2" fmla="*/ 0 w 1707"/>
                <a:gd name="T3" fmla="*/ 854 h 1707"/>
                <a:gd name="T4" fmla="*/ 853 w 1707"/>
                <a:gd name="T5" fmla="*/ 0 h 1707"/>
                <a:gd name="T6" fmla="*/ 1707 w 1707"/>
                <a:gd name="T7" fmla="*/ 854 h 1707"/>
                <a:gd name="T8" fmla="*/ 853 w 1707"/>
                <a:gd name="T9" fmla="*/ 1707 h 1707"/>
                <a:gd name="T10" fmla="*/ 853 w 1707"/>
                <a:gd name="T11" fmla="*/ 86 h 1707"/>
                <a:gd name="T12" fmla="*/ 85 w 1707"/>
                <a:gd name="T13" fmla="*/ 854 h 1707"/>
                <a:gd name="T14" fmla="*/ 853 w 1707"/>
                <a:gd name="T15" fmla="*/ 1622 h 1707"/>
                <a:gd name="T16" fmla="*/ 1621 w 1707"/>
                <a:gd name="T17" fmla="*/ 854 h 1707"/>
                <a:gd name="T18" fmla="*/ 853 w 1707"/>
                <a:gd name="T19" fmla="*/ 86 h 1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7" h="1707">
                  <a:moveTo>
                    <a:pt x="853" y="1707"/>
                  </a:moveTo>
                  <a:cubicBezTo>
                    <a:pt x="384" y="1707"/>
                    <a:pt x="0" y="1323"/>
                    <a:pt x="0" y="854"/>
                  </a:cubicBezTo>
                  <a:cubicBezTo>
                    <a:pt x="0" y="384"/>
                    <a:pt x="384" y="0"/>
                    <a:pt x="853" y="0"/>
                  </a:cubicBezTo>
                  <a:cubicBezTo>
                    <a:pt x="1323" y="0"/>
                    <a:pt x="1707" y="384"/>
                    <a:pt x="1707" y="854"/>
                  </a:cubicBezTo>
                  <a:cubicBezTo>
                    <a:pt x="1707" y="1323"/>
                    <a:pt x="1323" y="1707"/>
                    <a:pt x="853" y="1707"/>
                  </a:cubicBezTo>
                  <a:close/>
                  <a:moveTo>
                    <a:pt x="853" y="86"/>
                  </a:moveTo>
                  <a:cubicBezTo>
                    <a:pt x="427" y="86"/>
                    <a:pt x="85" y="427"/>
                    <a:pt x="85" y="854"/>
                  </a:cubicBezTo>
                  <a:cubicBezTo>
                    <a:pt x="85" y="1280"/>
                    <a:pt x="427" y="1622"/>
                    <a:pt x="853" y="1622"/>
                  </a:cubicBezTo>
                  <a:cubicBezTo>
                    <a:pt x="1280" y="1622"/>
                    <a:pt x="1621" y="1280"/>
                    <a:pt x="1621" y="854"/>
                  </a:cubicBezTo>
                  <a:cubicBezTo>
                    <a:pt x="1621" y="427"/>
                    <a:pt x="1280" y="86"/>
                    <a:pt x="853" y="8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02" name="Freeform 33">
              <a:extLst>
                <a:ext uri="{FF2B5EF4-FFF2-40B4-BE49-F238E27FC236}">
                  <a16:creationId xmlns:a16="http://schemas.microsoft.com/office/drawing/2014/main" id="{3A9553C3-A575-606D-1142-D3327ADBC0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162172" y="3987796"/>
              <a:ext cx="1427164" cy="1427163"/>
            </a:xfrm>
            <a:custGeom>
              <a:avLst/>
              <a:gdLst>
                <a:gd name="T0" fmla="*/ 554 w 1109"/>
                <a:gd name="T1" fmla="*/ 1109 h 1109"/>
                <a:gd name="T2" fmla="*/ 0 w 1109"/>
                <a:gd name="T3" fmla="*/ 555 h 1109"/>
                <a:gd name="T4" fmla="*/ 554 w 1109"/>
                <a:gd name="T5" fmla="*/ 0 h 1109"/>
                <a:gd name="T6" fmla="*/ 1109 w 1109"/>
                <a:gd name="T7" fmla="*/ 555 h 1109"/>
                <a:gd name="T8" fmla="*/ 554 w 1109"/>
                <a:gd name="T9" fmla="*/ 1109 h 1109"/>
                <a:gd name="T10" fmla="*/ 554 w 1109"/>
                <a:gd name="T11" fmla="*/ 85 h 1109"/>
                <a:gd name="T12" fmla="*/ 85 w 1109"/>
                <a:gd name="T13" fmla="*/ 555 h 1109"/>
                <a:gd name="T14" fmla="*/ 554 w 1109"/>
                <a:gd name="T15" fmla="*/ 1024 h 1109"/>
                <a:gd name="T16" fmla="*/ 1024 w 1109"/>
                <a:gd name="T17" fmla="*/ 555 h 1109"/>
                <a:gd name="T18" fmla="*/ 554 w 1109"/>
                <a:gd name="T19" fmla="*/ 85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09" h="1109">
                  <a:moveTo>
                    <a:pt x="554" y="1109"/>
                  </a:moveTo>
                  <a:cubicBezTo>
                    <a:pt x="247" y="1109"/>
                    <a:pt x="0" y="862"/>
                    <a:pt x="0" y="555"/>
                  </a:cubicBezTo>
                  <a:cubicBezTo>
                    <a:pt x="0" y="247"/>
                    <a:pt x="247" y="0"/>
                    <a:pt x="554" y="0"/>
                  </a:cubicBezTo>
                  <a:cubicBezTo>
                    <a:pt x="862" y="0"/>
                    <a:pt x="1109" y="247"/>
                    <a:pt x="1109" y="555"/>
                  </a:cubicBezTo>
                  <a:cubicBezTo>
                    <a:pt x="1109" y="862"/>
                    <a:pt x="862" y="1109"/>
                    <a:pt x="554" y="1109"/>
                  </a:cubicBezTo>
                  <a:close/>
                  <a:moveTo>
                    <a:pt x="554" y="85"/>
                  </a:moveTo>
                  <a:cubicBezTo>
                    <a:pt x="298" y="85"/>
                    <a:pt x="85" y="299"/>
                    <a:pt x="85" y="555"/>
                  </a:cubicBezTo>
                  <a:cubicBezTo>
                    <a:pt x="85" y="811"/>
                    <a:pt x="298" y="1024"/>
                    <a:pt x="554" y="1024"/>
                  </a:cubicBezTo>
                  <a:cubicBezTo>
                    <a:pt x="810" y="1024"/>
                    <a:pt x="1024" y="811"/>
                    <a:pt x="1024" y="555"/>
                  </a:cubicBezTo>
                  <a:cubicBezTo>
                    <a:pt x="1024" y="299"/>
                    <a:pt x="810" y="85"/>
                    <a:pt x="554" y="8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03" name="Freeform 34">
              <a:extLst>
                <a:ext uri="{FF2B5EF4-FFF2-40B4-BE49-F238E27FC236}">
                  <a16:creationId xmlns:a16="http://schemas.microsoft.com/office/drawing/2014/main" id="{30E84383-0CE6-DE4A-5956-B9CDD94320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78000" y="4371975"/>
              <a:ext cx="658813" cy="658812"/>
            </a:xfrm>
            <a:custGeom>
              <a:avLst/>
              <a:gdLst>
                <a:gd name="T0" fmla="*/ 256 w 512"/>
                <a:gd name="T1" fmla="*/ 512 h 512"/>
                <a:gd name="T2" fmla="*/ 0 w 512"/>
                <a:gd name="T3" fmla="*/ 256 h 512"/>
                <a:gd name="T4" fmla="*/ 256 w 512"/>
                <a:gd name="T5" fmla="*/ 0 h 512"/>
                <a:gd name="T6" fmla="*/ 512 w 512"/>
                <a:gd name="T7" fmla="*/ 256 h 512"/>
                <a:gd name="T8" fmla="*/ 256 w 512"/>
                <a:gd name="T9" fmla="*/ 512 h 512"/>
                <a:gd name="T10" fmla="*/ 256 w 512"/>
                <a:gd name="T11" fmla="*/ 85 h 512"/>
                <a:gd name="T12" fmla="*/ 86 w 512"/>
                <a:gd name="T13" fmla="*/ 256 h 512"/>
                <a:gd name="T14" fmla="*/ 256 w 512"/>
                <a:gd name="T15" fmla="*/ 426 h 512"/>
                <a:gd name="T16" fmla="*/ 427 w 512"/>
                <a:gd name="T17" fmla="*/ 256 h 512"/>
                <a:gd name="T18" fmla="*/ 256 w 512"/>
                <a:gd name="T19" fmla="*/ 85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512"/>
                  </a:moveTo>
                  <a:cubicBezTo>
                    <a:pt x="111" y="512"/>
                    <a:pt x="0" y="401"/>
                    <a:pt x="0" y="256"/>
                  </a:cubicBezTo>
                  <a:cubicBezTo>
                    <a:pt x="0" y="111"/>
                    <a:pt x="111" y="0"/>
                    <a:pt x="256" y="0"/>
                  </a:cubicBezTo>
                  <a:cubicBezTo>
                    <a:pt x="401" y="0"/>
                    <a:pt x="512" y="111"/>
                    <a:pt x="512" y="256"/>
                  </a:cubicBezTo>
                  <a:cubicBezTo>
                    <a:pt x="512" y="401"/>
                    <a:pt x="401" y="512"/>
                    <a:pt x="256" y="512"/>
                  </a:cubicBezTo>
                  <a:close/>
                  <a:moveTo>
                    <a:pt x="256" y="85"/>
                  </a:moveTo>
                  <a:cubicBezTo>
                    <a:pt x="162" y="85"/>
                    <a:pt x="86" y="162"/>
                    <a:pt x="86" y="256"/>
                  </a:cubicBezTo>
                  <a:cubicBezTo>
                    <a:pt x="86" y="350"/>
                    <a:pt x="162" y="426"/>
                    <a:pt x="256" y="426"/>
                  </a:cubicBezTo>
                  <a:cubicBezTo>
                    <a:pt x="350" y="426"/>
                    <a:pt x="427" y="350"/>
                    <a:pt x="427" y="256"/>
                  </a:cubicBezTo>
                  <a:cubicBezTo>
                    <a:pt x="427" y="162"/>
                    <a:pt x="350" y="85"/>
                    <a:pt x="256" y="8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04" name="Freeform 35">
              <a:extLst>
                <a:ext uri="{FF2B5EF4-FFF2-40B4-BE49-F238E27FC236}">
                  <a16:creationId xmlns:a16="http://schemas.microsoft.com/office/drawing/2014/main" id="{F02D47E4-167F-96AA-77B3-086FDD590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14475" y="3822700"/>
              <a:ext cx="944563" cy="933450"/>
            </a:xfrm>
            <a:custGeom>
              <a:avLst/>
              <a:gdLst>
                <a:gd name="T0" fmla="*/ 51 w 734"/>
                <a:gd name="T1" fmla="*/ 725 h 725"/>
                <a:gd name="T2" fmla="*/ 17 w 734"/>
                <a:gd name="T3" fmla="*/ 717 h 725"/>
                <a:gd name="T4" fmla="*/ 17 w 734"/>
                <a:gd name="T5" fmla="*/ 657 h 725"/>
                <a:gd name="T6" fmla="*/ 657 w 734"/>
                <a:gd name="T7" fmla="*/ 17 h 725"/>
                <a:gd name="T8" fmla="*/ 717 w 734"/>
                <a:gd name="T9" fmla="*/ 17 h 725"/>
                <a:gd name="T10" fmla="*/ 717 w 734"/>
                <a:gd name="T11" fmla="*/ 77 h 725"/>
                <a:gd name="T12" fmla="*/ 77 w 734"/>
                <a:gd name="T13" fmla="*/ 717 h 725"/>
                <a:gd name="T14" fmla="*/ 51 w 734"/>
                <a:gd name="T15" fmla="*/ 725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4" h="725">
                  <a:moveTo>
                    <a:pt x="51" y="725"/>
                  </a:moveTo>
                  <a:cubicBezTo>
                    <a:pt x="43" y="725"/>
                    <a:pt x="26" y="725"/>
                    <a:pt x="17" y="717"/>
                  </a:cubicBezTo>
                  <a:cubicBezTo>
                    <a:pt x="0" y="700"/>
                    <a:pt x="0" y="674"/>
                    <a:pt x="17" y="657"/>
                  </a:cubicBezTo>
                  <a:cubicBezTo>
                    <a:pt x="657" y="17"/>
                    <a:pt x="657" y="17"/>
                    <a:pt x="657" y="17"/>
                  </a:cubicBezTo>
                  <a:cubicBezTo>
                    <a:pt x="674" y="0"/>
                    <a:pt x="700" y="0"/>
                    <a:pt x="717" y="17"/>
                  </a:cubicBezTo>
                  <a:cubicBezTo>
                    <a:pt x="734" y="34"/>
                    <a:pt x="734" y="60"/>
                    <a:pt x="717" y="77"/>
                  </a:cubicBezTo>
                  <a:cubicBezTo>
                    <a:pt x="77" y="717"/>
                    <a:pt x="77" y="717"/>
                    <a:pt x="77" y="717"/>
                  </a:cubicBezTo>
                  <a:cubicBezTo>
                    <a:pt x="77" y="725"/>
                    <a:pt x="60" y="725"/>
                    <a:pt x="51" y="72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05" name="Freeform 36">
              <a:extLst>
                <a:ext uri="{FF2B5EF4-FFF2-40B4-BE49-F238E27FC236}">
                  <a16:creationId xmlns:a16="http://schemas.microsoft.com/office/drawing/2014/main" id="{392559DB-65AA-3830-A52D-0A6EFE4CC0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679450" y="3163888"/>
              <a:ext cx="768350" cy="768350"/>
            </a:xfrm>
            <a:custGeom>
              <a:avLst/>
              <a:gdLst>
                <a:gd name="T0" fmla="*/ 256 w 597"/>
                <a:gd name="T1" fmla="*/ 597 h 597"/>
                <a:gd name="T2" fmla="*/ 42 w 597"/>
                <a:gd name="T3" fmla="*/ 597 h 597"/>
                <a:gd name="T4" fmla="*/ 0 w 597"/>
                <a:gd name="T5" fmla="*/ 555 h 597"/>
                <a:gd name="T6" fmla="*/ 0 w 597"/>
                <a:gd name="T7" fmla="*/ 341 h 597"/>
                <a:gd name="T8" fmla="*/ 8 w 597"/>
                <a:gd name="T9" fmla="*/ 307 h 597"/>
                <a:gd name="T10" fmla="*/ 307 w 597"/>
                <a:gd name="T11" fmla="*/ 9 h 597"/>
                <a:gd name="T12" fmla="*/ 358 w 597"/>
                <a:gd name="T13" fmla="*/ 0 h 597"/>
                <a:gd name="T14" fmla="*/ 384 w 597"/>
                <a:gd name="T15" fmla="*/ 43 h 597"/>
                <a:gd name="T16" fmla="*/ 384 w 597"/>
                <a:gd name="T17" fmla="*/ 213 h 597"/>
                <a:gd name="T18" fmla="*/ 554 w 597"/>
                <a:gd name="T19" fmla="*/ 213 h 597"/>
                <a:gd name="T20" fmla="*/ 597 w 597"/>
                <a:gd name="T21" fmla="*/ 239 h 597"/>
                <a:gd name="T22" fmla="*/ 588 w 597"/>
                <a:gd name="T23" fmla="*/ 290 h 597"/>
                <a:gd name="T24" fmla="*/ 290 w 597"/>
                <a:gd name="T25" fmla="*/ 589 h 597"/>
                <a:gd name="T26" fmla="*/ 256 w 597"/>
                <a:gd name="T27" fmla="*/ 597 h 597"/>
                <a:gd name="T28" fmla="*/ 85 w 597"/>
                <a:gd name="T29" fmla="*/ 512 h 597"/>
                <a:gd name="T30" fmla="*/ 239 w 597"/>
                <a:gd name="T31" fmla="*/ 512 h 597"/>
                <a:gd name="T32" fmla="*/ 452 w 597"/>
                <a:gd name="T33" fmla="*/ 299 h 597"/>
                <a:gd name="T34" fmla="*/ 341 w 597"/>
                <a:gd name="T35" fmla="*/ 299 h 597"/>
                <a:gd name="T36" fmla="*/ 298 w 597"/>
                <a:gd name="T37" fmla="*/ 256 h 597"/>
                <a:gd name="T38" fmla="*/ 298 w 597"/>
                <a:gd name="T39" fmla="*/ 145 h 597"/>
                <a:gd name="T40" fmla="*/ 85 w 597"/>
                <a:gd name="T41" fmla="*/ 358 h 597"/>
                <a:gd name="T42" fmla="*/ 85 w 597"/>
                <a:gd name="T43" fmla="*/ 512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7" h="597">
                  <a:moveTo>
                    <a:pt x="256" y="597"/>
                  </a:moveTo>
                  <a:cubicBezTo>
                    <a:pt x="42" y="597"/>
                    <a:pt x="42" y="597"/>
                    <a:pt x="42" y="597"/>
                  </a:cubicBezTo>
                  <a:cubicBezTo>
                    <a:pt x="17" y="597"/>
                    <a:pt x="0" y="580"/>
                    <a:pt x="0" y="555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0" y="333"/>
                    <a:pt x="8" y="316"/>
                    <a:pt x="8" y="307"/>
                  </a:cubicBezTo>
                  <a:cubicBezTo>
                    <a:pt x="307" y="9"/>
                    <a:pt x="307" y="9"/>
                    <a:pt x="307" y="9"/>
                  </a:cubicBezTo>
                  <a:cubicBezTo>
                    <a:pt x="324" y="0"/>
                    <a:pt x="341" y="0"/>
                    <a:pt x="358" y="0"/>
                  </a:cubicBezTo>
                  <a:cubicBezTo>
                    <a:pt x="375" y="9"/>
                    <a:pt x="384" y="26"/>
                    <a:pt x="384" y="43"/>
                  </a:cubicBezTo>
                  <a:cubicBezTo>
                    <a:pt x="384" y="213"/>
                    <a:pt x="384" y="213"/>
                    <a:pt x="384" y="213"/>
                  </a:cubicBezTo>
                  <a:cubicBezTo>
                    <a:pt x="554" y="213"/>
                    <a:pt x="554" y="213"/>
                    <a:pt x="554" y="213"/>
                  </a:cubicBezTo>
                  <a:cubicBezTo>
                    <a:pt x="571" y="213"/>
                    <a:pt x="588" y="222"/>
                    <a:pt x="597" y="239"/>
                  </a:cubicBezTo>
                  <a:cubicBezTo>
                    <a:pt x="597" y="256"/>
                    <a:pt x="597" y="273"/>
                    <a:pt x="588" y="290"/>
                  </a:cubicBezTo>
                  <a:cubicBezTo>
                    <a:pt x="290" y="589"/>
                    <a:pt x="290" y="589"/>
                    <a:pt x="290" y="589"/>
                  </a:cubicBezTo>
                  <a:cubicBezTo>
                    <a:pt x="281" y="589"/>
                    <a:pt x="264" y="597"/>
                    <a:pt x="256" y="597"/>
                  </a:cubicBezTo>
                  <a:close/>
                  <a:moveTo>
                    <a:pt x="85" y="512"/>
                  </a:moveTo>
                  <a:cubicBezTo>
                    <a:pt x="239" y="512"/>
                    <a:pt x="239" y="512"/>
                    <a:pt x="239" y="512"/>
                  </a:cubicBezTo>
                  <a:cubicBezTo>
                    <a:pt x="452" y="299"/>
                    <a:pt x="452" y="299"/>
                    <a:pt x="452" y="299"/>
                  </a:cubicBezTo>
                  <a:cubicBezTo>
                    <a:pt x="341" y="299"/>
                    <a:pt x="341" y="299"/>
                    <a:pt x="341" y="299"/>
                  </a:cubicBezTo>
                  <a:cubicBezTo>
                    <a:pt x="315" y="299"/>
                    <a:pt x="298" y="282"/>
                    <a:pt x="298" y="256"/>
                  </a:cubicBezTo>
                  <a:cubicBezTo>
                    <a:pt x="298" y="145"/>
                    <a:pt x="298" y="145"/>
                    <a:pt x="298" y="145"/>
                  </a:cubicBezTo>
                  <a:cubicBezTo>
                    <a:pt x="85" y="358"/>
                    <a:pt x="85" y="358"/>
                    <a:pt x="85" y="358"/>
                  </a:cubicBezTo>
                  <a:lnTo>
                    <a:pt x="85" y="5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D3590642-857B-5146-2F46-3D392FD82074}"/>
              </a:ext>
            </a:extLst>
          </p:cNvPr>
          <p:cNvSpPr/>
          <p:nvPr/>
        </p:nvSpPr>
        <p:spPr>
          <a:xfrm>
            <a:off x="5612467" y="1854310"/>
            <a:ext cx="492239" cy="4922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8222B9D9-44A7-2CA9-808B-398723287E67}"/>
              </a:ext>
            </a:extLst>
          </p:cNvPr>
          <p:cNvSpPr/>
          <p:nvPr/>
        </p:nvSpPr>
        <p:spPr>
          <a:xfrm flipH="1">
            <a:off x="5717836" y="1549381"/>
            <a:ext cx="140883" cy="326572"/>
          </a:xfrm>
          <a:custGeom>
            <a:avLst/>
            <a:gdLst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0 w 7053942"/>
              <a:gd name="connsiteY4" fmla="*/ 435429 h 435429"/>
              <a:gd name="connsiteX5" fmla="*/ 0 w 7053942"/>
              <a:gd name="connsiteY5" fmla="*/ 187844 h 435429"/>
              <a:gd name="connsiteX6" fmla="*/ 187844 w 7053942"/>
              <a:gd name="connsiteY6" fmla="*/ 0 h 435429"/>
              <a:gd name="connsiteX0" fmla="*/ 187844 w 7053942"/>
              <a:gd name="connsiteY0" fmla="*/ 0 h 435429"/>
              <a:gd name="connsiteX1" fmla="*/ 6866098 w 7053942"/>
              <a:gd name="connsiteY1" fmla="*/ 0 h 435429"/>
              <a:gd name="connsiteX2" fmla="*/ 7053942 w 7053942"/>
              <a:gd name="connsiteY2" fmla="*/ 187844 h 435429"/>
              <a:gd name="connsiteX3" fmla="*/ 7053942 w 7053942"/>
              <a:gd name="connsiteY3" fmla="*/ 435429 h 435429"/>
              <a:gd name="connsiteX4" fmla="*/ 3254828 w 7053942"/>
              <a:gd name="connsiteY4" fmla="*/ 424543 h 435429"/>
              <a:gd name="connsiteX5" fmla="*/ 0 w 7053942"/>
              <a:gd name="connsiteY5" fmla="*/ 435429 h 435429"/>
              <a:gd name="connsiteX6" fmla="*/ 0 w 7053942"/>
              <a:gd name="connsiteY6" fmla="*/ 187844 h 435429"/>
              <a:gd name="connsiteX7" fmla="*/ 187844 w 7053942"/>
              <a:gd name="connsiteY7" fmla="*/ 0 h 435429"/>
              <a:gd name="connsiteX0" fmla="*/ 3254828 w 7053942"/>
              <a:gd name="connsiteY0" fmla="*/ 424543 h 515983"/>
              <a:gd name="connsiteX1" fmla="*/ 0 w 7053942"/>
              <a:gd name="connsiteY1" fmla="*/ 435429 h 515983"/>
              <a:gd name="connsiteX2" fmla="*/ 0 w 7053942"/>
              <a:gd name="connsiteY2" fmla="*/ 187844 h 515983"/>
              <a:gd name="connsiteX3" fmla="*/ 187844 w 7053942"/>
              <a:gd name="connsiteY3" fmla="*/ 0 h 515983"/>
              <a:gd name="connsiteX4" fmla="*/ 6866098 w 7053942"/>
              <a:gd name="connsiteY4" fmla="*/ 0 h 515983"/>
              <a:gd name="connsiteX5" fmla="*/ 7053942 w 7053942"/>
              <a:gd name="connsiteY5" fmla="*/ 187844 h 515983"/>
              <a:gd name="connsiteX6" fmla="*/ 7053942 w 7053942"/>
              <a:gd name="connsiteY6" fmla="*/ 435429 h 515983"/>
              <a:gd name="connsiteX7" fmla="*/ 3346268 w 7053942"/>
              <a:gd name="connsiteY7" fmla="*/ 515983 h 515983"/>
              <a:gd name="connsiteX0" fmla="*/ 3254828 w 7053942"/>
              <a:gd name="connsiteY0" fmla="*/ 424543 h 435429"/>
              <a:gd name="connsiteX1" fmla="*/ 0 w 7053942"/>
              <a:gd name="connsiteY1" fmla="*/ 435429 h 435429"/>
              <a:gd name="connsiteX2" fmla="*/ 0 w 7053942"/>
              <a:gd name="connsiteY2" fmla="*/ 187844 h 435429"/>
              <a:gd name="connsiteX3" fmla="*/ 187844 w 7053942"/>
              <a:gd name="connsiteY3" fmla="*/ 0 h 435429"/>
              <a:gd name="connsiteX4" fmla="*/ 6866098 w 7053942"/>
              <a:gd name="connsiteY4" fmla="*/ 0 h 435429"/>
              <a:gd name="connsiteX5" fmla="*/ 7053942 w 7053942"/>
              <a:gd name="connsiteY5" fmla="*/ 187844 h 435429"/>
              <a:gd name="connsiteX6" fmla="*/ 7053942 w 7053942"/>
              <a:gd name="connsiteY6" fmla="*/ 435429 h 435429"/>
              <a:gd name="connsiteX0" fmla="*/ 0 w 7053942"/>
              <a:gd name="connsiteY0" fmla="*/ 435429 h 435429"/>
              <a:gd name="connsiteX1" fmla="*/ 0 w 7053942"/>
              <a:gd name="connsiteY1" fmla="*/ 187844 h 435429"/>
              <a:gd name="connsiteX2" fmla="*/ 187844 w 7053942"/>
              <a:gd name="connsiteY2" fmla="*/ 0 h 435429"/>
              <a:gd name="connsiteX3" fmla="*/ 6866098 w 7053942"/>
              <a:gd name="connsiteY3" fmla="*/ 0 h 435429"/>
              <a:gd name="connsiteX4" fmla="*/ 7053942 w 7053942"/>
              <a:gd name="connsiteY4" fmla="*/ 187844 h 435429"/>
              <a:gd name="connsiteX5" fmla="*/ 7053942 w 7053942"/>
              <a:gd name="connsiteY5" fmla="*/ 435429 h 435429"/>
              <a:gd name="connsiteX0" fmla="*/ 0 w 7053942"/>
              <a:gd name="connsiteY0" fmla="*/ 435429 h 435429"/>
              <a:gd name="connsiteX1" fmla="*/ 0 w 7053942"/>
              <a:gd name="connsiteY1" fmla="*/ 187844 h 435429"/>
              <a:gd name="connsiteX2" fmla="*/ 187844 w 7053942"/>
              <a:gd name="connsiteY2" fmla="*/ 0 h 435429"/>
              <a:gd name="connsiteX3" fmla="*/ 6866098 w 7053942"/>
              <a:gd name="connsiteY3" fmla="*/ 0 h 435429"/>
              <a:gd name="connsiteX4" fmla="*/ 7053942 w 7053942"/>
              <a:gd name="connsiteY4" fmla="*/ 187844 h 435429"/>
              <a:gd name="connsiteX0" fmla="*/ 0 w 6866098"/>
              <a:gd name="connsiteY0" fmla="*/ 435429 h 435429"/>
              <a:gd name="connsiteX1" fmla="*/ 0 w 6866098"/>
              <a:gd name="connsiteY1" fmla="*/ 187844 h 435429"/>
              <a:gd name="connsiteX2" fmla="*/ 187844 w 6866098"/>
              <a:gd name="connsiteY2" fmla="*/ 0 h 435429"/>
              <a:gd name="connsiteX3" fmla="*/ 6866098 w 6866098"/>
              <a:gd name="connsiteY3" fmla="*/ 0 h 435429"/>
              <a:gd name="connsiteX0" fmla="*/ 0 w 187844"/>
              <a:gd name="connsiteY0" fmla="*/ 435429 h 435429"/>
              <a:gd name="connsiteX1" fmla="*/ 0 w 187844"/>
              <a:gd name="connsiteY1" fmla="*/ 187844 h 435429"/>
              <a:gd name="connsiteX2" fmla="*/ 187844 w 187844"/>
              <a:gd name="connsiteY2" fmla="*/ 0 h 43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844" h="435429">
                <a:moveTo>
                  <a:pt x="0" y="435429"/>
                </a:moveTo>
                <a:lnTo>
                  <a:pt x="0" y="187844"/>
                </a:lnTo>
                <a:cubicBezTo>
                  <a:pt x="0" y="84101"/>
                  <a:pt x="84101" y="0"/>
                  <a:pt x="187844" y="0"/>
                </a:cubicBezTo>
              </a:path>
            </a:pathLst>
          </a:cu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35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5DC8007-8A21-8B45-71EC-A3E312B1CF5A}"/>
              </a:ext>
            </a:extLst>
          </p:cNvPr>
          <p:cNvGrpSpPr/>
          <p:nvPr/>
        </p:nvGrpSpPr>
        <p:grpSpPr>
          <a:xfrm>
            <a:off x="5717836" y="1943566"/>
            <a:ext cx="262806" cy="262806"/>
            <a:chOff x="-2546350" y="3163888"/>
            <a:chExt cx="2635250" cy="2635249"/>
          </a:xfrm>
          <a:solidFill>
            <a:schemeClr val="bg1"/>
          </a:solidFill>
        </p:grpSpPr>
        <p:sp>
          <p:nvSpPr>
            <p:cNvPr id="110" name="Freeform 32">
              <a:extLst>
                <a:ext uri="{FF2B5EF4-FFF2-40B4-BE49-F238E27FC236}">
                  <a16:creationId xmlns:a16="http://schemas.microsoft.com/office/drawing/2014/main" id="{F06E8433-8783-C600-B7E4-6951E626B1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546350" y="3603625"/>
              <a:ext cx="2197100" cy="2195512"/>
            </a:xfrm>
            <a:custGeom>
              <a:avLst/>
              <a:gdLst>
                <a:gd name="T0" fmla="*/ 853 w 1707"/>
                <a:gd name="T1" fmla="*/ 1707 h 1707"/>
                <a:gd name="T2" fmla="*/ 0 w 1707"/>
                <a:gd name="T3" fmla="*/ 854 h 1707"/>
                <a:gd name="T4" fmla="*/ 853 w 1707"/>
                <a:gd name="T5" fmla="*/ 0 h 1707"/>
                <a:gd name="T6" fmla="*/ 1707 w 1707"/>
                <a:gd name="T7" fmla="*/ 854 h 1707"/>
                <a:gd name="T8" fmla="*/ 853 w 1707"/>
                <a:gd name="T9" fmla="*/ 1707 h 1707"/>
                <a:gd name="T10" fmla="*/ 853 w 1707"/>
                <a:gd name="T11" fmla="*/ 86 h 1707"/>
                <a:gd name="T12" fmla="*/ 85 w 1707"/>
                <a:gd name="T13" fmla="*/ 854 h 1707"/>
                <a:gd name="T14" fmla="*/ 853 w 1707"/>
                <a:gd name="T15" fmla="*/ 1622 h 1707"/>
                <a:gd name="T16" fmla="*/ 1621 w 1707"/>
                <a:gd name="T17" fmla="*/ 854 h 1707"/>
                <a:gd name="T18" fmla="*/ 853 w 1707"/>
                <a:gd name="T19" fmla="*/ 86 h 1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7" h="1707">
                  <a:moveTo>
                    <a:pt x="853" y="1707"/>
                  </a:moveTo>
                  <a:cubicBezTo>
                    <a:pt x="384" y="1707"/>
                    <a:pt x="0" y="1323"/>
                    <a:pt x="0" y="854"/>
                  </a:cubicBezTo>
                  <a:cubicBezTo>
                    <a:pt x="0" y="384"/>
                    <a:pt x="384" y="0"/>
                    <a:pt x="853" y="0"/>
                  </a:cubicBezTo>
                  <a:cubicBezTo>
                    <a:pt x="1323" y="0"/>
                    <a:pt x="1707" y="384"/>
                    <a:pt x="1707" y="854"/>
                  </a:cubicBezTo>
                  <a:cubicBezTo>
                    <a:pt x="1707" y="1323"/>
                    <a:pt x="1323" y="1707"/>
                    <a:pt x="853" y="1707"/>
                  </a:cubicBezTo>
                  <a:close/>
                  <a:moveTo>
                    <a:pt x="853" y="86"/>
                  </a:moveTo>
                  <a:cubicBezTo>
                    <a:pt x="427" y="86"/>
                    <a:pt x="85" y="427"/>
                    <a:pt x="85" y="854"/>
                  </a:cubicBezTo>
                  <a:cubicBezTo>
                    <a:pt x="85" y="1280"/>
                    <a:pt x="427" y="1622"/>
                    <a:pt x="853" y="1622"/>
                  </a:cubicBezTo>
                  <a:cubicBezTo>
                    <a:pt x="1280" y="1622"/>
                    <a:pt x="1621" y="1280"/>
                    <a:pt x="1621" y="854"/>
                  </a:cubicBezTo>
                  <a:cubicBezTo>
                    <a:pt x="1621" y="427"/>
                    <a:pt x="1280" y="86"/>
                    <a:pt x="853" y="8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11" name="Freeform 33">
              <a:extLst>
                <a:ext uri="{FF2B5EF4-FFF2-40B4-BE49-F238E27FC236}">
                  <a16:creationId xmlns:a16="http://schemas.microsoft.com/office/drawing/2014/main" id="{21C77DBB-A179-D982-CA5A-5A63920143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162175" y="3987800"/>
              <a:ext cx="1427163" cy="1427162"/>
            </a:xfrm>
            <a:custGeom>
              <a:avLst/>
              <a:gdLst>
                <a:gd name="T0" fmla="*/ 554 w 1109"/>
                <a:gd name="T1" fmla="*/ 1109 h 1109"/>
                <a:gd name="T2" fmla="*/ 0 w 1109"/>
                <a:gd name="T3" fmla="*/ 555 h 1109"/>
                <a:gd name="T4" fmla="*/ 554 w 1109"/>
                <a:gd name="T5" fmla="*/ 0 h 1109"/>
                <a:gd name="T6" fmla="*/ 1109 w 1109"/>
                <a:gd name="T7" fmla="*/ 555 h 1109"/>
                <a:gd name="T8" fmla="*/ 554 w 1109"/>
                <a:gd name="T9" fmla="*/ 1109 h 1109"/>
                <a:gd name="T10" fmla="*/ 554 w 1109"/>
                <a:gd name="T11" fmla="*/ 85 h 1109"/>
                <a:gd name="T12" fmla="*/ 85 w 1109"/>
                <a:gd name="T13" fmla="*/ 555 h 1109"/>
                <a:gd name="T14" fmla="*/ 554 w 1109"/>
                <a:gd name="T15" fmla="*/ 1024 h 1109"/>
                <a:gd name="T16" fmla="*/ 1024 w 1109"/>
                <a:gd name="T17" fmla="*/ 555 h 1109"/>
                <a:gd name="T18" fmla="*/ 554 w 1109"/>
                <a:gd name="T19" fmla="*/ 85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09" h="1109">
                  <a:moveTo>
                    <a:pt x="554" y="1109"/>
                  </a:moveTo>
                  <a:cubicBezTo>
                    <a:pt x="247" y="1109"/>
                    <a:pt x="0" y="862"/>
                    <a:pt x="0" y="555"/>
                  </a:cubicBezTo>
                  <a:cubicBezTo>
                    <a:pt x="0" y="247"/>
                    <a:pt x="247" y="0"/>
                    <a:pt x="554" y="0"/>
                  </a:cubicBezTo>
                  <a:cubicBezTo>
                    <a:pt x="862" y="0"/>
                    <a:pt x="1109" y="247"/>
                    <a:pt x="1109" y="555"/>
                  </a:cubicBezTo>
                  <a:cubicBezTo>
                    <a:pt x="1109" y="862"/>
                    <a:pt x="862" y="1109"/>
                    <a:pt x="554" y="1109"/>
                  </a:cubicBezTo>
                  <a:close/>
                  <a:moveTo>
                    <a:pt x="554" y="85"/>
                  </a:moveTo>
                  <a:cubicBezTo>
                    <a:pt x="298" y="85"/>
                    <a:pt x="85" y="299"/>
                    <a:pt x="85" y="555"/>
                  </a:cubicBezTo>
                  <a:cubicBezTo>
                    <a:pt x="85" y="811"/>
                    <a:pt x="298" y="1024"/>
                    <a:pt x="554" y="1024"/>
                  </a:cubicBezTo>
                  <a:cubicBezTo>
                    <a:pt x="810" y="1024"/>
                    <a:pt x="1024" y="811"/>
                    <a:pt x="1024" y="555"/>
                  </a:cubicBezTo>
                  <a:cubicBezTo>
                    <a:pt x="1024" y="299"/>
                    <a:pt x="810" y="85"/>
                    <a:pt x="554" y="8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12" name="Freeform 34">
              <a:extLst>
                <a:ext uri="{FF2B5EF4-FFF2-40B4-BE49-F238E27FC236}">
                  <a16:creationId xmlns:a16="http://schemas.microsoft.com/office/drawing/2014/main" id="{2DB3F564-547A-AE7D-A31D-EE070542BF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78000" y="4371975"/>
              <a:ext cx="658813" cy="658812"/>
            </a:xfrm>
            <a:custGeom>
              <a:avLst/>
              <a:gdLst>
                <a:gd name="T0" fmla="*/ 256 w 512"/>
                <a:gd name="T1" fmla="*/ 512 h 512"/>
                <a:gd name="T2" fmla="*/ 0 w 512"/>
                <a:gd name="T3" fmla="*/ 256 h 512"/>
                <a:gd name="T4" fmla="*/ 256 w 512"/>
                <a:gd name="T5" fmla="*/ 0 h 512"/>
                <a:gd name="T6" fmla="*/ 512 w 512"/>
                <a:gd name="T7" fmla="*/ 256 h 512"/>
                <a:gd name="T8" fmla="*/ 256 w 512"/>
                <a:gd name="T9" fmla="*/ 512 h 512"/>
                <a:gd name="T10" fmla="*/ 256 w 512"/>
                <a:gd name="T11" fmla="*/ 85 h 512"/>
                <a:gd name="T12" fmla="*/ 86 w 512"/>
                <a:gd name="T13" fmla="*/ 256 h 512"/>
                <a:gd name="T14" fmla="*/ 256 w 512"/>
                <a:gd name="T15" fmla="*/ 426 h 512"/>
                <a:gd name="T16" fmla="*/ 427 w 512"/>
                <a:gd name="T17" fmla="*/ 256 h 512"/>
                <a:gd name="T18" fmla="*/ 256 w 512"/>
                <a:gd name="T19" fmla="*/ 85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2" h="512">
                  <a:moveTo>
                    <a:pt x="256" y="512"/>
                  </a:moveTo>
                  <a:cubicBezTo>
                    <a:pt x="111" y="512"/>
                    <a:pt x="0" y="401"/>
                    <a:pt x="0" y="256"/>
                  </a:cubicBezTo>
                  <a:cubicBezTo>
                    <a:pt x="0" y="111"/>
                    <a:pt x="111" y="0"/>
                    <a:pt x="256" y="0"/>
                  </a:cubicBezTo>
                  <a:cubicBezTo>
                    <a:pt x="401" y="0"/>
                    <a:pt x="512" y="111"/>
                    <a:pt x="512" y="256"/>
                  </a:cubicBezTo>
                  <a:cubicBezTo>
                    <a:pt x="512" y="401"/>
                    <a:pt x="401" y="512"/>
                    <a:pt x="256" y="512"/>
                  </a:cubicBezTo>
                  <a:close/>
                  <a:moveTo>
                    <a:pt x="256" y="85"/>
                  </a:moveTo>
                  <a:cubicBezTo>
                    <a:pt x="162" y="85"/>
                    <a:pt x="86" y="162"/>
                    <a:pt x="86" y="256"/>
                  </a:cubicBezTo>
                  <a:cubicBezTo>
                    <a:pt x="86" y="350"/>
                    <a:pt x="162" y="426"/>
                    <a:pt x="256" y="426"/>
                  </a:cubicBezTo>
                  <a:cubicBezTo>
                    <a:pt x="350" y="426"/>
                    <a:pt x="427" y="350"/>
                    <a:pt x="427" y="256"/>
                  </a:cubicBezTo>
                  <a:cubicBezTo>
                    <a:pt x="427" y="162"/>
                    <a:pt x="350" y="85"/>
                    <a:pt x="256" y="8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13" name="Freeform 35">
              <a:extLst>
                <a:ext uri="{FF2B5EF4-FFF2-40B4-BE49-F238E27FC236}">
                  <a16:creationId xmlns:a16="http://schemas.microsoft.com/office/drawing/2014/main" id="{C0B42483-52E9-1EEF-05C3-1FB544C2B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14475" y="3822700"/>
              <a:ext cx="944563" cy="933450"/>
            </a:xfrm>
            <a:custGeom>
              <a:avLst/>
              <a:gdLst>
                <a:gd name="T0" fmla="*/ 51 w 734"/>
                <a:gd name="T1" fmla="*/ 725 h 725"/>
                <a:gd name="T2" fmla="*/ 17 w 734"/>
                <a:gd name="T3" fmla="*/ 717 h 725"/>
                <a:gd name="T4" fmla="*/ 17 w 734"/>
                <a:gd name="T5" fmla="*/ 657 h 725"/>
                <a:gd name="T6" fmla="*/ 657 w 734"/>
                <a:gd name="T7" fmla="*/ 17 h 725"/>
                <a:gd name="T8" fmla="*/ 717 w 734"/>
                <a:gd name="T9" fmla="*/ 17 h 725"/>
                <a:gd name="T10" fmla="*/ 717 w 734"/>
                <a:gd name="T11" fmla="*/ 77 h 725"/>
                <a:gd name="T12" fmla="*/ 77 w 734"/>
                <a:gd name="T13" fmla="*/ 717 h 725"/>
                <a:gd name="T14" fmla="*/ 51 w 734"/>
                <a:gd name="T15" fmla="*/ 725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4" h="725">
                  <a:moveTo>
                    <a:pt x="51" y="725"/>
                  </a:moveTo>
                  <a:cubicBezTo>
                    <a:pt x="43" y="725"/>
                    <a:pt x="26" y="725"/>
                    <a:pt x="17" y="717"/>
                  </a:cubicBezTo>
                  <a:cubicBezTo>
                    <a:pt x="0" y="700"/>
                    <a:pt x="0" y="674"/>
                    <a:pt x="17" y="657"/>
                  </a:cubicBezTo>
                  <a:cubicBezTo>
                    <a:pt x="657" y="17"/>
                    <a:pt x="657" y="17"/>
                    <a:pt x="657" y="17"/>
                  </a:cubicBezTo>
                  <a:cubicBezTo>
                    <a:pt x="674" y="0"/>
                    <a:pt x="700" y="0"/>
                    <a:pt x="717" y="17"/>
                  </a:cubicBezTo>
                  <a:cubicBezTo>
                    <a:pt x="734" y="34"/>
                    <a:pt x="734" y="60"/>
                    <a:pt x="717" y="77"/>
                  </a:cubicBezTo>
                  <a:cubicBezTo>
                    <a:pt x="77" y="717"/>
                    <a:pt x="77" y="717"/>
                    <a:pt x="77" y="717"/>
                  </a:cubicBezTo>
                  <a:cubicBezTo>
                    <a:pt x="77" y="725"/>
                    <a:pt x="60" y="725"/>
                    <a:pt x="51" y="72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  <p:sp>
          <p:nvSpPr>
            <p:cNvPr id="114" name="Freeform 36">
              <a:extLst>
                <a:ext uri="{FF2B5EF4-FFF2-40B4-BE49-F238E27FC236}">
                  <a16:creationId xmlns:a16="http://schemas.microsoft.com/office/drawing/2014/main" id="{EB3881D7-BF1B-7283-B8E5-314DF25C45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679450" y="3163888"/>
              <a:ext cx="768350" cy="768350"/>
            </a:xfrm>
            <a:custGeom>
              <a:avLst/>
              <a:gdLst>
                <a:gd name="T0" fmla="*/ 256 w 597"/>
                <a:gd name="T1" fmla="*/ 597 h 597"/>
                <a:gd name="T2" fmla="*/ 42 w 597"/>
                <a:gd name="T3" fmla="*/ 597 h 597"/>
                <a:gd name="T4" fmla="*/ 0 w 597"/>
                <a:gd name="T5" fmla="*/ 555 h 597"/>
                <a:gd name="T6" fmla="*/ 0 w 597"/>
                <a:gd name="T7" fmla="*/ 341 h 597"/>
                <a:gd name="T8" fmla="*/ 8 w 597"/>
                <a:gd name="T9" fmla="*/ 307 h 597"/>
                <a:gd name="T10" fmla="*/ 307 w 597"/>
                <a:gd name="T11" fmla="*/ 9 h 597"/>
                <a:gd name="T12" fmla="*/ 358 w 597"/>
                <a:gd name="T13" fmla="*/ 0 h 597"/>
                <a:gd name="T14" fmla="*/ 384 w 597"/>
                <a:gd name="T15" fmla="*/ 43 h 597"/>
                <a:gd name="T16" fmla="*/ 384 w 597"/>
                <a:gd name="T17" fmla="*/ 213 h 597"/>
                <a:gd name="T18" fmla="*/ 554 w 597"/>
                <a:gd name="T19" fmla="*/ 213 h 597"/>
                <a:gd name="T20" fmla="*/ 597 w 597"/>
                <a:gd name="T21" fmla="*/ 239 h 597"/>
                <a:gd name="T22" fmla="*/ 588 w 597"/>
                <a:gd name="T23" fmla="*/ 290 h 597"/>
                <a:gd name="T24" fmla="*/ 290 w 597"/>
                <a:gd name="T25" fmla="*/ 589 h 597"/>
                <a:gd name="T26" fmla="*/ 256 w 597"/>
                <a:gd name="T27" fmla="*/ 597 h 597"/>
                <a:gd name="T28" fmla="*/ 85 w 597"/>
                <a:gd name="T29" fmla="*/ 512 h 597"/>
                <a:gd name="T30" fmla="*/ 239 w 597"/>
                <a:gd name="T31" fmla="*/ 512 h 597"/>
                <a:gd name="T32" fmla="*/ 452 w 597"/>
                <a:gd name="T33" fmla="*/ 299 h 597"/>
                <a:gd name="T34" fmla="*/ 341 w 597"/>
                <a:gd name="T35" fmla="*/ 299 h 597"/>
                <a:gd name="T36" fmla="*/ 298 w 597"/>
                <a:gd name="T37" fmla="*/ 256 h 597"/>
                <a:gd name="T38" fmla="*/ 298 w 597"/>
                <a:gd name="T39" fmla="*/ 145 h 597"/>
                <a:gd name="T40" fmla="*/ 85 w 597"/>
                <a:gd name="T41" fmla="*/ 358 h 597"/>
                <a:gd name="T42" fmla="*/ 85 w 597"/>
                <a:gd name="T43" fmla="*/ 512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97" h="597">
                  <a:moveTo>
                    <a:pt x="256" y="597"/>
                  </a:moveTo>
                  <a:cubicBezTo>
                    <a:pt x="42" y="597"/>
                    <a:pt x="42" y="597"/>
                    <a:pt x="42" y="597"/>
                  </a:cubicBezTo>
                  <a:cubicBezTo>
                    <a:pt x="17" y="597"/>
                    <a:pt x="0" y="580"/>
                    <a:pt x="0" y="555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0" y="333"/>
                    <a:pt x="8" y="316"/>
                    <a:pt x="8" y="307"/>
                  </a:cubicBezTo>
                  <a:cubicBezTo>
                    <a:pt x="307" y="9"/>
                    <a:pt x="307" y="9"/>
                    <a:pt x="307" y="9"/>
                  </a:cubicBezTo>
                  <a:cubicBezTo>
                    <a:pt x="324" y="0"/>
                    <a:pt x="341" y="0"/>
                    <a:pt x="358" y="0"/>
                  </a:cubicBezTo>
                  <a:cubicBezTo>
                    <a:pt x="375" y="9"/>
                    <a:pt x="384" y="26"/>
                    <a:pt x="384" y="43"/>
                  </a:cubicBezTo>
                  <a:cubicBezTo>
                    <a:pt x="384" y="213"/>
                    <a:pt x="384" y="213"/>
                    <a:pt x="384" y="213"/>
                  </a:cubicBezTo>
                  <a:cubicBezTo>
                    <a:pt x="554" y="213"/>
                    <a:pt x="554" y="213"/>
                    <a:pt x="554" y="213"/>
                  </a:cubicBezTo>
                  <a:cubicBezTo>
                    <a:pt x="571" y="213"/>
                    <a:pt x="588" y="222"/>
                    <a:pt x="597" y="239"/>
                  </a:cubicBezTo>
                  <a:cubicBezTo>
                    <a:pt x="597" y="256"/>
                    <a:pt x="597" y="273"/>
                    <a:pt x="588" y="290"/>
                  </a:cubicBezTo>
                  <a:cubicBezTo>
                    <a:pt x="290" y="589"/>
                    <a:pt x="290" y="589"/>
                    <a:pt x="290" y="589"/>
                  </a:cubicBezTo>
                  <a:cubicBezTo>
                    <a:pt x="281" y="589"/>
                    <a:pt x="264" y="597"/>
                    <a:pt x="256" y="597"/>
                  </a:cubicBezTo>
                  <a:close/>
                  <a:moveTo>
                    <a:pt x="85" y="512"/>
                  </a:moveTo>
                  <a:cubicBezTo>
                    <a:pt x="239" y="512"/>
                    <a:pt x="239" y="512"/>
                    <a:pt x="239" y="512"/>
                  </a:cubicBezTo>
                  <a:cubicBezTo>
                    <a:pt x="452" y="299"/>
                    <a:pt x="452" y="299"/>
                    <a:pt x="452" y="299"/>
                  </a:cubicBezTo>
                  <a:cubicBezTo>
                    <a:pt x="341" y="299"/>
                    <a:pt x="341" y="299"/>
                    <a:pt x="341" y="299"/>
                  </a:cubicBezTo>
                  <a:cubicBezTo>
                    <a:pt x="315" y="299"/>
                    <a:pt x="298" y="282"/>
                    <a:pt x="298" y="256"/>
                  </a:cubicBezTo>
                  <a:cubicBezTo>
                    <a:pt x="298" y="145"/>
                    <a:pt x="298" y="145"/>
                    <a:pt x="298" y="145"/>
                  </a:cubicBezTo>
                  <a:cubicBezTo>
                    <a:pt x="85" y="358"/>
                    <a:pt x="85" y="358"/>
                    <a:pt x="85" y="358"/>
                  </a:cubicBezTo>
                  <a:lnTo>
                    <a:pt x="85" y="51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350"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D139277B-7A5A-D160-DF3E-DF81CC9918BB}"/>
              </a:ext>
            </a:extLst>
          </p:cNvPr>
          <p:cNvSpPr txBox="1"/>
          <p:nvPr/>
        </p:nvSpPr>
        <p:spPr>
          <a:xfrm>
            <a:off x="7193088" y="2346549"/>
            <a:ext cx="1342376" cy="96598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b="1" dirty="0"/>
              <a:t>Patented AI detection </a:t>
            </a:r>
          </a:p>
          <a:p>
            <a:endParaRPr lang="en-US" b="1" dirty="0"/>
          </a:p>
          <a:p>
            <a:r>
              <a:rPr lang="en-US" dirty="0"/>
              <a:t>Ensures a unique </a:t>
            </a:r>
            <a:r>
              <a:rPr lang="en-US" sz="1200" dirty="0"/>
              <a:t>and</a:t>
            </a:r>
          </a:p>
          <a:p>
            <a:r>
              <a:rPr lang="en-US" sz="1200" dirty="0"/>
              <a:t>high-accuracy cleaning system not offered by others</a:t>
            </a:r>
            <a:endParaRPr lang="en-US" dirty="0"/>
          </a:p>
          <a:p>
            <a:endParaRPr lang="en-US" b="1" dirty="0"/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D3573C03-3432-346C-E788-B3E76519A999}"/>
              </a:ext>
            </a:extLst>
          </p:cNvPr>
          <p:cNvSpPr/>
          <p:nvPr/>
        </p:nvSpPr>
        <p:spPr>
          <a:xfrm>
            <a:off x="6849595" y="2086286"/>
            <a:ext cx="1776248" cy="2363519"/>
          </a:xfrm>
          <a:prstGeom prst="roundRect">
            <a:avLst/>
          </a:prstGeom>
          <a:solidFill>
            <a:schemeClr val="tx1">
              <a:alpha val="14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0" descr="CodeRush-Final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2" name="Google Shape;82;p17"/>
          <p:cNvSpPr txBox="1"/>
          <p:nvPr/>
        </p:nvSpPr>
        <p:spPr>
          <a:xfrm>
            <a:off x="90244" y="549227"/>
            <a:ext cx="5924596" cy="45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Times New Roman"/>
                <a:ea typeface="Google Sans Medium"/>
                <a:cs typeface="Times New Roman"/>
                <a:sym typeface="Google Sans Medium"/>
              </a:rPr>
              <a:t>List of features offered by the solution</a:t>
            </a:r>
            <a:endParaRPr lang="en-US" sz="1600" dirty="0">
              <a:latin typeface="Times New Roman"/>
              <a:ea typeface="Google Sans Medium"/>
              <a:cs typeface="Times New Roman"/>
            </a:endParaRPr>
          </a:p>
          <a:p>
            <a:pPr algn="just"/>
            <a:r>
              <a:rPr lang="en-GB" sz="1600" dirty="0">
                <a:latin typeface="Times New Roman"/>
                <a:cs typeface="Times New Roman"/>
              </a:rPr>
              <a:t> </a:t>
            </a:r>
            <a:r>
              <a:rPr lang="en-GB" sz="1600" b="1" dirty="0">
                <a:latin typeface="Times New Roman"/>
                <a:cs typeface="Times New Roman"/>
              </a:rPr>
              <a:t>CORE FEATURES:</a:t>
            </a:r>
          </a:p>
          <a:p>
            <a:pPr algn="just"/>
            <a:endParaRPr lang="en-GB" sz="1600" b="1" dirty="0">
              <a:latin typeface="Times New Roman"/>
              <a:ea typeface="Google Sans Medium"/>
              <a:cs typeface="Times New Roman"/>
            </a:endParaRPr>
          </a:p>
          <a:p>
            <a:pPr algn="just"/>
            <a:endParaRPr lang="en-GB" sz="1600" b="1" dirty="0">
              <a:latin typeface="Times New Roman"/>
              <a:ea typeface="Google Sans Medium"/>
              <a:cs typeface="Times New Roman"/>
            </a:endParaRPr>
          </a:p>
          <a:p>
            <a:pPr marL="228600" indent="-228600" algn="just">
              <a:buAutoNum type="arabicPeriod"/>
            </a:pPr>
            <a:r>
              <a:rPr lang="en-GB" sz="1800" dirty="0">
                <a:latin typeface="Times New Roman"/>
                <a:ea typeface="Google Sans Medium"/>
                <a:cs typeface="Times New Roman"/>
              </a:rPr>
              <a:t>AI Dust Detection Engine: </a:t>
            </a:r>
            <a:r>
              <a:rPr lang="en-GB" sz="1800" b="1" dirty="0">
                <a:latin typeface="Times New Roman"/>
                <a:ea typeface="Google Sans Medium"/>
                <a:cs typeface="Times New Roman"/>
              </a:rPr>
              <a:t>Real-time computer vision</a:t>
            </a:r>
            <a:r>
              <a:rPr lang="en-GB" sz="1800" dirty="0">
                <a:latin typeface="Times New Roman"/>
                <a:ea typeface="Google Sans Medium"/>
                <a:cs typeface="Times New Roman"/>
              </a:rPr>
              <a:t> analysis</a:t>
            </a:r>
          </a:p>
          <a:p>
            <a:pPr marL="228600" indent="-228600" algn="just">
              <a:buAutoNum type="arabicPeriod"/>
            </a:pPr>
            <a:r>
              <a:rPr lang="en-GB" sz="1800" dirty="0">
                <a:latin typeface="Times New Roman"/>
                <a:ea typeface="Google Sans Medium"/>
                <a:cs typeface="Times New Roman"/>
              </a:rPr>
              <a:t>Automated Cleaning System: </a:t>
            </a:r>
            <a:r>
              <a:rPr lang="en-GB" sz="1800" b="1" dirty="0">
                <a:latin typeface="Times New Roman"/>
                <a:ea typeface="Google Sans Medium"/>
                <a:cs typeface="Times New Roman"/>
              </a:rPr>
              <a:t>Motorized brush</a:t>
            </a:r>
            <a:r>
              <a:rPr lang="en-GB" sz="1800" dirty="0">
                <a:latin typeface="Times New Roman"/>
                <a:ea typeface="Google Sans Medium"/>
                <a:cs typeface="Times New Roman"/>
              </a:rPr>
              <a:t> + </a:t>
            </a:r>
            <a:r>
              <a:rPr lang="en-GB" sz="1800" b="1" dirty="0">
                <a:latin typeface="Times New Roman"/>
                <a:ea typeface="Google Sans Medium"/>
                <a:cs typeface="Times New Roman"/>
              </a:rPr>
              <a:t>ultrasonic mist</a:t>
            </a:r>
            <a:r>
              <a:rPr lang="en-GB" sz="1800" dirty="0">
                <a:latin typeface="Times New Roman"/>
                <a:ea typeface="Google Sans Medium"/>
                <a:cs typeface="Times New Roman"/>
              </a:rPr>
              <a:t> </a:t>
            </a:r>
            <a:r>
              <a:rPr lang="en-GB" sz="1800" b="1" dirty="0">
                <a:latin typeface="Times New Roman"/>
                <a:ea typeface="Google Sans Medium"/>
                <a:cs typeface="Times New Roman"/>
              </a:rPr>
              <a:t>spray</a:t>
            </a:r>
            <a:endParaRPr lang="en-GB" sz="1800" b="1" dirty="0">
              <a:latin typeface="Times New Roman"/>
              <a:cs typeface="Times New Roman"/>
            </a:endParaRPr>
          </a:p>
          <a:p>
            <a:pPr marL="228600" indent="-228600" algn="just">
              <a:buAutoNum type="arabicPeriod"/>
            </a:pPr>
            <a:r>
              <a:rPr lang="en-GB" sz="1800" dirty="0">
                <a:latin typeface="Times New Roman"/>
                <a:ea typeface="Google Sans Medium"/>
                <a:cs typeface="Times New Roman"/>
              </a:rPr>
              <a:t>Predictive Maintenance: </a:t>
            </a:r>
            <a:r>
              <a:rPr lang="en-GB" sz="1800" b="1" dirty="0">
                <a:latin typeface="Times New Roman"/>
                <a:ea typeface="Google Sans Medium"/>
                <a:cs typeface="Times New Roman"/>
              </a:rPr>
              <a:t>Weather-based cleaning</a:t>
            </a:r>
            <a:r>
              <a:rPr lang="en-GB" sz="1800" dirty="0">
                <a:latin typeface="Times New Roman"/>
                <a:ea typeface="Google Sans Medium"/>
                <a:cs typeface="Times New Roman"/>
              </a:rPr>
              <a:t> schedule optimization</a:t>
            </a:r>
          </a:p>
          <a:p>
            <a:pPr marL="228600" indent="-228600" algn="just">
              <a:buAutoNum type="arabicPeriod"/>
            </a:pPr>
            <a:r>
              <a:rPr lang="en-GB" sz="1800" dirty="0">
                <a:latin typeface="Times New Roman"/>
                <a:ea typeface="Google Sans Medium"/>
                <a:cs typeface="Times New Roman"/>
              </a:rPr>
              <a:t>IoT Dashboard: </a:t>
            </a:r>
            <a:r>
              <a:rPr lang="en-GB" sz="1800" b="1" dirty="0">
                <a:latin typeface="Times New Roman"/>
                <a:ea typeface="Google Sans Medium"/>
                <a:cs typeface="Times New Roman"/>
              </a:rPr>
              <a:t>Remote monitoring</a:t>
            </a:r>
            <a:r>
              <a:rPr lang="en-GB" sz="1800" dirty="0">
                <a:latin typeface="Times New Roman"/>
                <a:ea typeface="Google Sans Medium"/>
                <a:cs typeface="Times New Roman"/>
              </a:rPr>
              <a:t> and control via mobile/web app</a:t>
            </a:r>
            <a:endParaRPr lang="en-GB" sz="1800" dirty="0">
              <a:latin typeface="Times New Roman"/>
              <a:cs typeface="Times New Roman"/>
            </a:endParaRPr>
          </a:p>
          <a:p>
            <a:pPr marL="228600" indent="-228600" algn="just">
              <a:buAutoNum type="arabicPeriod"/>
            </a:pPr>
            <a:r>
              <a:rPr lang="en-GB" sz="1800" dirty="0">
                <a:latin typeface="Times New Roman"/>
                <a:ea typeface="Google Sans Medium"/>
                <a:cs typeface="Times New Roman"/>
              </a:rPr>
              <a:t>Water Conservation Mode: </a:t>
            </a:r>
            <a:r>
              <a:rPr lang="en-GB" sz="1800" b="1" dirty="0">
                <a:latin typeface="Times New Roman"/>
                <a:ea typeface="Google Sans Medium"/>
                <a:cs typeface="Times New Roman"/>
              </a:rPr>
              <a:t>90% reduction in water usage</a:t>
            </a:r>
          </a:p>
          <a:p>
            <a:pPr marL="228600" indent="-228600" algn="just">
              <a:buAutoNum type="arabicPeriod"/>
            </a:pPr>
            <a:r>
              <a:rPr lang="en-GB" sz="1800" dirty="0">
                <a:latin typeface="Times New Roman"/>
                <a:ea typeface="Google Sans Medium"/>
                <a:cs typeface="Times New Roman"/>
              </a:rPr>
              <a:t>Emergency Response: Instant cleaning during dust storms</a:t>
            </a:r>
            <a:endParaRPr lang="en-GB" sz="1800" dirty="0">
              <a:latin typeface="Times New Roman"/>
              <a:cs typeface="Times New Roman"/>
            </a:endParaRPr>
          </a:p>
          <a:p>
            <a:pPr marL="228600" indent="-228600" algn="just">
              <a:buAutoNum type="arabicPeriod"/>
            </a:pPr>
            <a:r>
              <a:rPr lang="en-GB" sz="1800" dirty="0">
                <a:latin typeface="Times New Roman"/>
                <a:ea typeface="Google Sans Medium"/>
                <a:cs typeface="Times New Roman"/>
              </a:rPr>
              <a:t>Performance Analytics: ROI tracking and efficiency reports</a:t>
            </a:r>
            <a:endParaRPr lang="en-GB" sz="1800" dirty="0">
              <a:latin typeface="Times New Roman"/>
              <a:cs typeface="Times New Roman"/>
            </a:endParaRPr>
          </a:p>
          <a:p>
            <a:pPr marL="228600" indent="-228600" algn="just">
              <a:buAutoNum type="arabicPeriod"/>
            </a:pPr>
            <a:r>
              <a:rPr lang="en-GB" sz="1800" dirty="0">
                <a:latin typeface="Times New Roman"/>
                <a:ea typeface="Google Sans Medium"/>
                <a:cs typeface="Times New Roman"/>
              </a:rPr>
              <a:t>Modular Design: </a:t>
            </a:r>
            <a:r>
              <a:rPr lang="en-GB" sz="1800" b="1" dirty="0">
                <a:latin typeface="Times New Roman"/>
                <a:ea typeface="Google Sans Medium"/>
                <a:cs typeface="Times New Roman"/>
              </a:rPr>
              <a:t>Expandable</a:t>
            </a:r>
            <a:r>
              <a:rPr lang="en-GB" sz="1800" dirty="0">
                <a:latin typeface="Times New Roman"/>
                <a:ea typeface="Google Sans Medium"/>
                <a:cs typeface="Times New Roman"/>
              </a:rPr>
              <a:t> for different solar installation sizes</a:t>
            </a:r>
            <a:endParaRPr lang="en-GB" sz="1800" dirty="0">
              <a:latin typeface="Times New Roman"/>
              <a:cs typeface="Times New Roman"/>
            </a:endParaRPr>
          </a:p>
          <a:p>
            <a:pPr marL="228600" indent="-228600" algn="just">
              <a:buAutoNum type="arabicPeriod"/>
            </a:pPr>
            <a:r>
              <a:rPr lang="en-GB" sz="1800" dirty="0">
                <a:latin typeface="Times New Roman"/>
                <a:ea typeface="Google Sans Medium"/>
                <a:cs typeface="Times New Roman"/>
              </a:rPr>
              <a:t>Edge Computing: Local processing for &lt;30-second response time</a:t>
            </a:r>
            <a:endParaRPr lang="en-GB" sz="1800" dirty="0">
              <a:latin typeface="Times New Roman"/>
              <a:cs typeface="Times New Roman"/>
            </a:endParaRPr>
          </a:p>
          <a:p>
            <a:pPr algn="just"/>
            <a:endParaRPr lang="en-GB" sz="1600" dirty="0">
              <a:solidFill>
                <a:schemeClr val="dk1"/>
              </a:solidFill>
              <a:latin typeface="Times New Roman"/>
              <a:ea typeface="Google Sans Medium"/>
            </a:endParaRPr>
          </a:p>
          <a:p>
            <a:pPr marL="0" lvl="0" indent="0" algn="just" rtl="0">
              <a:buNone/>
            </a:pPr>
            <a:endParaRPr lang="en-GB" sz="1600" b="1" dirty="0">
              <a:latin typeface="Times New Roman"/>
              <a:ea typeface="Google Sans Medium"/>
            </a:endParaRPr>
          </a:p>
          <a:p>
            <a:pPr algn="just">
              <a:lnSpc>
                <a:spcPct val="150000"/>
              </a:lnSpc>
            </a:pPr>
            <a:endParaRPr lang="en-GB" sz="1600" dirty="0">
              <a:latin typeface="Times New Roman"/>
              <a:ea typeface="Google Sans Medium"/>
              <a:cs typeface="Google Sans Medium"/>
            </a:endParaRPr>
          </a:p>
          <a:p>
            <a:pPr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endParaRPr lang="en-GB" sz="1600" dirty="0">
              <a:solidFill>
                <a:schemeClr val="dk2"/>
              </a:solidFill>
              <a:latin typeface="Times New Roman"/>
              <a:ea typeface="Google Sans"/>
              <a:cs typeface="Google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6E7CE9-5FD6-A215-6736-636CB838C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757" y="0"/>
            <a:ext cx="788243" cy="547141"/>
          </a:xfrm>
          <a:prstGeom prst="rect">
            <a:avLst/>
          </a:prstGeom>
        </p:spPr>
      </p:pic>
      <p:pic>
        <p:nvPicPr>
          <p:cNvPr id="4" name="Picture 3" descr="A drawing of a robot&#10;&#10;AI-generated content may be incorrect.">
            <a:extLst>
              <a:ext uri="{FF2B5EF4-FFF2-40B4-BE49-F238E27FC236}">
                <a16:creationId xmlns:a16="http://schemas.microsoft.com/office/drawing/2014/main" id="{CF1E562F-E323-E61C-2D29-B0E3FF260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7057" y="767680"/>
            <a:ext cx="3057463" cy="42099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0" descr="CodeRush-Final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552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1447A6-3B5F-4D71-4452-8DE45099D5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036" y="0"/>
            <a:ext cx="816964" cy="567077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8A34EC94-4BAC-A6F9-6110-A233EF5E2D5C}"/>
              </a:ext>
            </a:extLst>
          </p:cNvPr>
          <p:cNvGrpSpPr/>
          <p:nvPr/>
        </p:nvGrpSpPr>
        <p:grpSpPr>
          <a:xfrm rot="-10800000">
            <a:off x="744770" y="1954537"/>
            <a:ext cx="1470656" cy="1352825"/>
            <a:chOff x="82539" y="-6350"/>
            <a:chExt cx="647721" cy="59582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A67AC12-451C-EAE5-7CE5-0A538556242B}"/>
                </a:ext>
              </a:extLst>
            </p:cNvPr>
            <p:cNvSpPr/>
            <p:nvPr/>
          </p:nvSpPr>
          <p:spPr>
            <a:xfrm>
              <a:off x="82539" y="0"/>
              <a:ext cx="647721" cy="589475"/>
            </a:xfrm>
            <a:custGeom>
              <a:avLst/>
              <a:gdLst/>
              <a:ahLst/>
              <a:cxnLst/>
              <a:rect l="l" t="t" r="r" b="b"/>
              <a:pathLst>
                <a:path w="647721" h="589475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A3B869D-CB11-5C66-D329-0781CD59546A}"/>
                </a:ext>
              </a:extLst>
            </p:cNvPr>
            <p:cNvSpPr txBox="1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69683C1F-71DF-6B73-608A-03352C6C8160}"/>
              </a:ext>
            </a:extLst>
          </p:cNvPr>
          <p:cNvGrpSpPr/>
          <p:nvPr/>
        </p:nvGrpSpPr>
        <p:grpSpPr>
          <a:xfrm>
            <a:off x="1089544" y="2357081"/>
            <a:ext cx="781104" cy="781104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FC12FF-55D1-8418-8722-7923A8D4B7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7B5F208-45A7-15A2-62EF-E741EB204E4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BCC7A90-3F91-B903-852B-23A47CB13339}"/>
              </a:ext>
            </a:extLst>
          </p:cNvPr>
          <p:cNvGrpSpPr/>
          <p:nvPr/>
        </p:nvGrpSpPr>
        <p:grpSpPr>
          <a:xfrm rot="-10800000">
            <a:off x="3858180" y="1954537"/>
            <a:ext cx="1470656" cy="1352825"/>
            <a:chOff x="82539" y="-6350"/>
            <a:chExt cx="647721" cy="5958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6922287-C1F8-EE9A-E634-26EDF4CB411F}"/>
                </a:ext>
              </a:extLst>
            </p:cNvPr>
            <p:cNvSpPr/>
            <p:nvPr/>
          </p:nvSpPr>
          <p:spPr>
            <a:xfrm>
              <a:off x="82539" y="0"/>
              <a:ext cx="647721" cy="589475"/>
            </a:xfrm>
            <a:custGeom>
              <a:avLst/>
              <a:gdLst/>
              <a:ahLst/>
              <a:cxnLst/>
              <a:rect l="l" t="t" r="r" b="b"/>
              <a:pathLst>
                <a:path w="647721" h="589475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8282DB"/>
            </a:solid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2B6407B-89D9-E95D-DED8-B19F0D9B4EB5}"/>
                </a:ext>
              </a:extLst>
            </p:cNvPr>
            <p:cNvSpPr txBox="1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C7D9969-7143-4D79-1D25-714C21C22B25}"/>
              </a:ext>
            </a:extLst>
          </p:cNvPr>
          <p:cNvGrpSpPr/>
          <p:nvPr/>
        </p:nvGrpSpPr>
        <p:grpSpPr>
          <a:xfrm>
            <a:off x="4202954" y="2357081"/>
            <a:ext cx="781104" cy="781104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0D3C8AD-3848-2852-5CA0-0916160BF5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7F89369-23FB-C06D-C48C-2AC3F0069D8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6D13E8C-7EB9-8929-11F4-2CE24E41284D}"/>
              </a:ext>
            </a:extLst>
          </p:cNvPr>
          <p:cNvGrpSpPr/>
          <p:nvPr/>
        </p:nvGrpSpPr>
        <p:grpSpPr>
          <a:xfrm>
            <a:off x="5414882" y="3193832"/>
            <a:ext cx="1470656" cy="1352825"/>
            <a:chOff x="82539" y="-6350"/>
            <a:chExt cx="647721" cy="59582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6DECD36-D801-D1D0-1E85-F8BFAD0A250E}"/>
                </a:ext>
              </a:extLst>
            </p:cNvPr>
            <p:cNvSpPr/>
            <p:nvPr/>
          </p:nvSpPr>
          <p:spPr>
            <a:xfrm>
              <a:off x="82539" y="0"/>
              <a:ext cx="647721" cy="589475"/>
            </a:xfrm>
            <a:custGeom>
              <a:avLst/>
              <a:gdLst/>
              <a:ahLst/>
              <a:cxnLst/>
              <a:rect l="l" t="t" r="r" b="b"/>
              <a:pathLst>
                <a:path w="647721" h="589475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CD707278-0FBC-3226-1DB3-E3EF4EA5E6A2}"/>
                </a:ext>
              </a:extLst>
            </p:cNvPr>
            <p:cNvSpPr txBox="1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0736C44-217D-A0B0-3C87-AB1E0CB7FDF3}"/>
              </a:ext>
            </a:extLst>
          </p:cNvPr>
          <p:cNvGrpSpPr/>
          <p:nvPr/>
        </p:nvGrpSpPr>
        <p:grpSpPr>
          <a:xfrm rot="-10800000">
            <a:off x="6971590" y="1954537"/>
            <a:ext cx="1470656" cy="1352825"/>
            <a:chOff x="82539" y="-6350"/>
            <a:chExt cx="647721" cy="595825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2E6D762-27A2-4CD4-E880-45F97C4E8442}"/>
                </a:ext>
              </a:extLst>
            </p:cNvPr>
            <p:cNvSpPr/>
            <p:nvPr/>
          </p:nvSpPr>
          <p:spPr>
            <a:xfrm>
              <a:off x="82539" y="0"/>
              <a:ext cx="647721" cy="589475"/>
            </a:xfrm>
            <a:custGeom>
              <a:avLst/>
              <a:gdLst/>
              <a:ahLst/>
              <a:cxnLst/>
              <a:rect l="l" t="t" r="r" b="b"/>
              <a:pathLst>
                <a:path w="647721" h="589475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9E8C95"/>
            </a:solid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D3CF95F-9CD3-E9E1-2706-09683C142F2C}"/>
                </a:ext>
              </a:extLst>
            </p:cNvPr>
            <p:cNvSpPr txBox="1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323C219-E1C0-DA5A-0423-06BF698C8CB9}"/>
              </a:ext>
            </a:extLst>
          </p:cNvPr>
          <p:cNvGrpSpPr/>
          <p:nvPr/>
        </p:nvGrpSpPr>
        <p:grpSpPr>
          <a:xfrm>
            <a:off x="2301472" y="3193832"/>
            <a:ext cx="1470656" cy="1352825"/>
            <a:chOff x="82539" y="-6350"/>
            <a:chExt cx="647721" cy="595825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9395BF1D-E4E4-7B38-0AB8-3E1780FE7D9D}"/>
                </a:ext>
              </a:extLst>
            </p:cNvPr>
            <p:cNvSpPr/>
            <p:nvPr/>
          </p:nvSpPr>
          <p:spPr>
            <a:xfrm>
              <a:off x="82539" y="0"/>
              <a:ext cx="647721" cy="589475"/>
            </a:xfrm>
            <a:custGeom>
              <a:avLst/>
              <a:gdLst/>
              <a:ahLst/>
              <a:cxnLst/>
              <a:rect l="l" t="t" r="r" b="b"/>
              <a:pathLst>
                <a:path w="647721" h="589475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7A74CDA-74ED-9987-E4AF-0286C1310F44}"/>
                </a:ext>
              </a:extLst>
            </p:cNvPr>
            <p:cNvSpPr txBox="1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F278B07-B9E1-82A4-E4C0-3D55B409FB6E}"/>
              </a:ext>
            </a:extLst>
          </p:cNvPr>
          <p:cNvGrpSpPr/>
          <p:nvPr/>
        </p:nvGrpSpPr>
        <p:grpSpPr>
          <a:xfrm>
            <a:off x="2646249" y="3363760"/>
            <a:ext cx="781104" cy="781104"/>
            <a:chOff x="0" y="0"/>
            <a:chExt cx="812800" cy="8128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B08B89EF-95B3-7355-075D-B2EEA811359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418AD046-0751-B37F-5E90-BFC95998DE6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003BFEA-9DFE-A46A-57AA-98848F4A6234}"/>
              </a:ext>
            </a:extLst>
          </p:cNvPr>
          <p:cNvGrpSpPr/>
          <p:nvPr/>
        </p:nvGrpSpPr>
        <p:grpSpPr>
          <a:xfrm>
            <a:off x="7316364" y="2357081"/>
            <a:ext cx="781104" cy="781104"/>
            <a:chOff x="0" y="0"/>
            <a:chExt cx="812800" cy="8128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14E0AF1-E233-3FA2-DE05-1755DCF11B2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1A579AA-8ED0-3FD5-CE0D-7AB92B536C8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CBC5D6D7-C1B9-2F1C-9765-E3FF0A9A9E0A}"/>
              </a:ext>
            </a:extLst>
          </p:cNvPr>
          <p:cNvGrpSpPr/>
          <p:nvPr/>
        </p:nvGrpSpPr>
        <p:grpSpPr>
          <a:xfrm>
            <a:off x="5759659" y="3363760"/>
            <a:ext cx="781104" cy="781104"/>
            <a:chOff x="0" y="0"/>
            <a:chExt cx="812800" cy="8128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83F4681-234C-A83A-F000-349CA54F84B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20FE825C-BAD3-30D1-41CF-28EA1BEF2B8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C6BAC6A7-2D2E-5CD8-5F58-EB981388BCA3}"/>
              </a:ext>
            </a:extLst>
          </p:cNvPr>
          <p:cNvSpPr/>
          <p:nvPr/>
        </p:nvSpPr>
        <p:spPr>
          <a:xfrm rot="2545444">
            <a:off x="1029244" y="1587826"/>
            <a:ext cx="880136" cy="803324"/>
          </a:xfrm>
          <a:custGeom>
            <a:avLst/>
            <a:gdLst/>
            <a:ahLst/>
            <a:cxnLst/>
            <a:rect l="l" t="t" r="r" b="b"/>
            <a:pathLst>
              <a:path w="1760271" h="1606647">
                <a:moveTo>
                  <a:pt x="0" y="0"/>
                </a:moveTo>
                <a:lnTo>
                  <a:pt x="1760271" y="0"/>
                </a:lnTo>
                <a:lnTo>
                  <a:pt x="1760271" y="1606648"/>
                </a:lnTo>
                <a:lnTo>
                  <a:pt x="0" y="16066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0007E667-8C7A-F58B-E3AA-244FC2E30C5F}"/>
              </a:ext>
            </a:extLst>
          </p:cNvPr>
          <p:cNvSpPr/>
          <p:nvPr/>
        </p:nvSpPr>
        <p:spPr>
          <a:xfrm rot="2545444">
            <a:off x="4153438" y="1587826"/>
            <a:ext cx="880136" cy="803324"/>
          </a:xfrm>
          <a:custGeom>
            <a:avLst/>
            <a:gdLst/>
            <a:ahLst/>
            <a:cxnLst/>
            <a:rect l="l" t="t" r="r" b="b"/>
            <a:pathLst>
              <a:path w="1760271" h="1606647">
                <a:moveTo>
                  <a:pt x="0" y="0"/>
                </a:moveTo>
                <a:lnTo>
                  <a:pt x="1760271" y="0"/>
                </a:lnTo>
                <a:lnTo>
                  <a:pt x="1760271" y="1606648"/>
                </a:lnTo>
                <a:lnTo>
                  <a:pt x="0" y="16066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6B62CB93-78B5-0455-E741-F741DE9720D9}"/>
              </a:ext>
            </a:extLst>
          </p:cNvPr>
          <p:cNvSpPr/>
          <p:nvPr/>
        </p:nvSpPr>
        <p:spPr>
          <a:xfrm rot="8168989" flipH="1">
            <a:off x="2596209" y="4111710"/>
            <a:ext cx="880136" cy="803324"/>
          </a:xfrm>
          <a:custGeom>
            <a:avLst/>
            <a:gdLst/>
            <a:ahLst/>
            <a:cxnLst/>
            <a:rect l="l" t="t" r="r" b="b"/>
            <a:pathLst>
              <a:path w="1760271" h="1606647">
                <a:moveTo>
                  <a:pt x="1760271" y="0"/>
                </a:moveTo>
                <a:lnTo>
                  <a:pt x="0" y="0"/>
                </a:lnTo>
                <a:lnTo>
                  <a:pt x="0" y="1606647"/>
                </a:lnTo>
                <a:lnTo>
                  <a:pt x="1760271" y="1606647"/>
                </a:lnTo>
                <a:lnTo>
                  <a:pt x="176027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309E8287-52EC-453B-17E7-C1065F0D4588}"/>
              </a:ext>
            </a:extLst>
          </p:cNvPr>
          <p:cNvSpPr/>
          <p:nvPr/>
        </p:nvSpPr>
        <p:spPr>
          <a:xfrm rot="8174555" flipH="1">
            <a:off x="5720403" y="4111710"/>
            <a:ext cx="880136" cy="803324"/>
          </a:xfrm>
          <a:custGeom>
            <a:avLst/>
            <a:gdLst/>
            <a:ahLst/>
            <a:cxnLst/>
            <a:rect l="l" t="t" r="r" b="b"/>
            <a:pathLst>
              <a:path w="1760271" h="1606647">
                <a:moveTo>
                  <a:pt x="1760271" y="0"/>
                </a:moveTo>
                <a:lnTo>
                  <a:pt x="0" y="0"/>
                </a:lnTo>
                <a:lnTo>
                  <a:pt x="0" y="1606647"/>
                </a:lnTo>
                <a:lnTo>
                  <a:pt x="1760271" y="1606647"/>
                </a:lnTo>
                <a:lnTo>
                  <a:pt x="176027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53AB6BC7-3D14-D5CF-5899-1499E5262AD9}"/>
              </a:ext>
            </a:extLst>
          </p:cNvPr>
          <p:cNvSpPr/>
          <p:nvPr/>
        </p:nvSpPr>
        <p:spPr>
          <a:xfrm>
            <a:off x="1318820" y="2556945"/>
            <a:ext cx="355077" cy="389029"/>
          </a:xfrm>
          <a:custGeom>
            <a:avLst/>
            <a:gdLst/>
            <a:ahLst/>
            <a:cxnLst/>
            <a:rect l="l" t="t" r="r" b="b"/>
            <a:pathLst>
              <a:path w="710154" h="778057">
                <a:moveTo>
                  <a:pt x="0" y="0"/>
                </a:moveTo>
                <a:lnTo>
                  <a:pt x="710153" y="0"/>
                </a:lnTo>
                <a:lnTo>
                  <a:pt x="710153" y="778057"/>
                </a:lnTo>
                <a:lnTo>
                  <a:pt x="0" y="7780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643D9E96-FBA6-E72A-1B33-F1237D869D24}"/>
              </a:ext>
            </a:extLst>
          </p:cNvPr>
          <p:cNvSpPr/>
          <p:nvPr/>
        </p:nvSpPr>
        <p:spPr>
          <a:xfrm>
            <a:off x="2841012" y="3547016"/>
            <a:ext cx="413084" cy="414591"/>
          </a:xfrm>
          <a:custGeom>
            <a:avLst/>
            <a:gdLst/>
            <a:ahLst/>
            <a:cxnLst/>
            <a:rect l="l" t="t" r="r" b="b"/>
            <a:pathLst>
              <a:path w="826167" h="829182">
                <a:moveTo>
                  <a:pt x="0" y="0"/>
                </a:moveTo>
                <a:lnTo>
                  <a:pt x="826166" y="0"/>
                </a:lnTo>
                <a:lnTo>
                  <a:pt x="826166" y="829181"/>
                </a:lnTo>
                <a:lnTo>
                  <a:pt x="0" y="8291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A4948DDF-E309-07B1-DB27-5F3C13706982}"/>
              </a:ext>
            </a:extLst>
          </p:cNvPr>
          <p:cNvSpPr/>
          <p:nvPr/>
        </p:nvSpPr>
        <p:spPr>
          <a:xfrm>
            <a:off x="4338640" y="2493941"/>
            <a:ext cx="509732" cy="507384"/>
          </a:xfrm>
          <a:custGeom>
            <a:avLst/>
            <a:gdLst/>
            <a:ahLst/>
            <a:cxnLst/>
            <a:rect l="l" t="t" r="r" b="b"/>
            <a:pathLst>
              <a:path w="1019464" h="1014767">
                <a:moveTo>
                  <a:pt x="0" y="0"/>
                </a:moveTo>
                <a:lnTo>
                  <a:pt x="1019464" y="0"/>
                </a:lnTo>
                <a:lnTo>
                  <a:pt x="1019464" y="1014767"/>
                </a:lnTo>
                <a:lnTo>
                  <a:pt x="0" y="101476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415811EE-0BC7-D4BE-5073-19B2F4905DB2}"/>
              </a:ext>
            </a:extLst>
          </p:cNvPr>
          <p:cNvSpPr/>
          <p:nvPr/>
        </p:nvSpPr>
        <p:spPr>
          <a:xfrm>
            <a:off x="5913637" y="3509965"/>
            <a:ext cx="451642" cy="451642"/>
          </a:xfrm>
          <a:custGeom>
            <a:avLst/>
            <a:gdLst/>
            <a:ahLst/>
            <a:cxnLst/>
            <a:rect l="l" t="t" r="r" b="b"/>
            <a:pathLst>
              <a:path w="903284" h="903284">
                <a:moveTo>
                  <a:pt x="0" y="0"/>
                </a:moveTo>
                <a:lnTo>
                  <a:pt x="903284" y="0"/>
                </a:lnTo>
                <a:lnTo>
                  <a:pt x="903284" y="903284"/>
                </a:lnTo>
                <a:lnTo>
                  <a:pt x="0" y="90328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0C4CB495-1B06-69A3-AB49-97201E10027D}"/>
              </a:ext>
            </a:extLst>
          </p:cNvPr>
          <p:cNvSpPr/>
          <p:nvPr/>
        </p:nvSpPr>
        <p:spPr>
          <a:xfrm>
            <a:off x="7499069" y="2531227"/>
            <a:ext cx="437261" cy="440465"/>
          </a:xfrm>
          <a:custGeom>
            <a:avLst/>
            <a:gdLst/>
            <a:ahLst/>
            <a:cxnLst/>
            <a:rect l="l" t="t" r="r" b="b"/>
            <a:pathLst>
              <a:path w="874522" h="880929">
                <a:moveTo>
                  <a:pt x="0" y="0"/>
                </a:moveTo>
                <a:lnTo>
                  <a:pt x="874523" y="0"/>
                </a:lnTo>
                <a:lnTo>
                  <a:pt x="874523" y="880929"/>
                </a:lnTo>
                <a:lnTo>
                  <a:pt x="0" y="88092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77837DC9-22D1-0B3C-EF75-390AA00A7D6B}"/>
              </a:ext>
            </a:extLst>
          </p:cNvPr>
          <p:cNvSpPr/>
          <p:nvPr/>
        </p:nvSpPr>
        <p:spPr>
          <a:xfrm>
            <a:off x="4823066" y="178483"/>
            <a:ext cx="1164955" cy="1073877"/>
          </a:xfrm>
          <a:custGeom>
            <a:avLst/>
            <a:gdLst/>
            <a:ahLst/>
            <a:cxnLst/>
            <a:rect l="l" t="t" r="r" b="b"/>
            <a:pathLst>
              <a:path w="2329910" h="2147754">
                <a:moveTo>
                  <a:pt x="0" y="0"/>
                </a:moveTo>
                <a:lnTo>
                  <a:pt x="2329910" y="0"/>
                </a:lnTo>
                <a:lnTo>
                  <a:pt x="2329910" y="2147753"/>
                </a:lnTo>
                <a:lnTo>
                  <a:pt x="0" y="21477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5346D44E-BDB9-3AD8-EFF9-BAF61704BB97}"/>
              </a:ext>
            </a:extLst>
          </p:cNvPr>
          <p:cNvSpPr/>
          <p:nvPr/>
        </p:nvSpPr>
        <p:spPr>
          <a:xfrm>
            <a:off x="3581996" y="392542"/>
            <a:ext cx="1035228" cy="1035228"/>
          </a:xfrm>
          <a:custGeom>
            <a:avLst/>
            <a:gdLst/>
            <a:ahLst/>
            <a:cxnLst/>
            <a:rect l="l" t="t" r="r" b="b"/>
            <a:pathLst>
              <a:path w="2070456" h="2070456">
                <a:moveTo>
                  <a:pt x="0" y="0"/>
                </a:moveTo>
                <a:lnTo>
                  <a:pt x="2070456" y="0"/>
                </a:lnTo>
                <a:lnTo>
                  <a:pt x="2070456" y="2070455"/>
                </a:lnTo>
                <a:lnTo>
                  <a:pt x="0" y="207045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7">
            <a:extLst>
              <a:ext uri="{FF2B5EF4-FFF2-40B4-BE49-F238E27FC236}">
                <a16:creationId xmlns:a16="http://schemas.microsoft.com/office/drawing/2014/main" id="{694E040C-0209-FE36-E6A8-6EA6AEF33EDD}"/>
              </a:ext>
            </a:extLst>
          </p:cNvPr>
          <p:cNvSpPr txBox="1"/>
          <p:nvPr/>
        </p:nvSpPr>
        <p:spPr>
          <a:xfrm>
            <a:off x="1005053" y="3511508"/>
            <a:ext cx="976258" cy="595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"/>
              </a:lnSpc>
            </a:pPr>
            <a:r>
              <a:rPr lang="en-US" sz="1150" b="1">
                <a:solidFill>
                  <a:srgbClr val="1F1F1B"/>
                </a:solidFill>
                <a:latin typeface="Lato Bold"/>
                <a:ea typeface="Lato Bold"/>
                <a:cs typeface="Lato Bold"/>
              </a:rPr>
              <a:t>Image Captured with Camera</a:t>
            </a:r>
          </a:p>
        </p:txBody>
      </p:sp>
      <p:sp>
        <p:nvSpPr>
          <p:cNvPr id="46" name="TextBox 48">
            <a:extLst>
              <a:ext uri="{FF2B5EF4-FFF2-40B4-BE49-F238E27FC236}">
                <a16:creationId xmlns:a16="http://schemas.microsoft.com/office/drawing/2014/main" id="{E5AB9EE8-4E55-9AE9-1AF2-D83E13357C06}"/>
              </a:ext>
            </a:extLst>
          </p:cNvPr>
          <p:cNvSpPr txBox="1"/>
          <p:nvPr/>
        </p:nvSpPr>
        <p:spPr>
          <a:xfrm>
            <a:off x="7227717" y="3556581"/>
            <a:ext cx="976258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"/>
              </a:lnSpc>
            </a:pPr>
            <a:r>
              <a:rPr lang="en-US" sz="1150" b="1">
                <a:solidFill>
                  <a:srgbClr val="1F1F1B"/>
                </a:solidFill>
                <a:latin typeface="Lato Bold"/>
                <a:ea typeface="Lato Bold"/>
                <a:cs typeface="Lato Bold"/>
              </a:rPr>
              <a:t>Monitoring and Prediction</a:t>
            </a:r>
            <a:endParaRPr lang="en-US"/>
          </a:p>
        </p:txBody>
      </p:sp>
      <p:sp>
        <p:nvSpPr>
          <p:cNvPr id="48" name="TextBox 50">
            <a:extLst>
              <a:ext uri="{FF2B5EF4-FFF2-40B4-BE49-F238E27FC236}">
                <a16:creationId xmlns:a16="http://schemas.microsoft.com/office/drawing/2014/main" id="{162576D6-984F-7F6F-3D61-CEF406CA171F}"/>
              </a:ext>
            </a:extLst>
          </p:cNvPr>
          <p:cNvSpPr txBox="1"/>
          <p:nvPr/>
        </p:nvSpPr>
        <p:spPr>
          <a:xfrm>
            <a:off x="2548148" y="2257743"/>
            <a:ext cx="976258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"/>
              </a:lnSpc>
            </a:pPr>
            <a:r>
              <a:rPr lang="en-US" sz="1150" b="1">
                <a:solidFill>
                  <a:srgbClr val="1F1F1B"/>
                </a:solidFill>
                <a:latin typeface="Lato Bold"/>
                <a:ea typeface="Lato Bold"/>
                <a:cs typeface="Lato Bold"/>
                <a:sym typeface="Lato Bold"/>
              </a:rPr>
              <a:t>Dust Detection</a:t>
            </a:r>
            <a:endParaRPr lang="en-US"/>
          </a:p>
        </p:txBody>
      </p:sp>
      <p:sp>
        <p:nvSpPr>
          <p:cNvPr id="49" name="TextBox 51">
            <a:extLst>
              <a:ext uri="{FF2B5EF4-FFF2-40B4-BE49-F238E27FC236}">
                <a16:creationId xmlns:a16="http://schemas.microsoft.com/office/drawing/2014/main" id="{F8F1A4A6-BF4F-E88C-37FE-C1865EC5C14B}"/>
              </a:ext>
            </a:extLst>
          </p:cNvPr>
          <p:cNvSpPr txBox="1"/>
          <p:nvPr/>
        </p:nvSpPr>
        <p:spPr>
          <a:xfrm>
            <a:off x="4202954" y="3553508"/>
            <a:ext cx="976258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"/>
              </a:lnSpc>
            </a:pPr>
            <a:r>
              <a:rPr lang="en-US" sz="1150" b="1">
                <a:solidFill>
                  <a:srgbClr val="1F1F1B"/>
                </a:solidFill>
                <a:latin typeface="Lato Bold"/>
                <a:ea typeface="Lato Bold"/>
                <a:cs typeface="Lato Bold"/>
                <a:sym typeface="Lato Bold"/>
              </a:rPr>
              <a:t>AI Processing and Analysis</a:t>
            </a:r>
            <a:endParaRPr lang="en-US"/>
          </a:p>
        </p:txBody>
      </p:sp>
      <p:sp>
        <p:nvSpPr>
          <p:cNvPr id="50" name="TextBox 52">
            <a:extLst>
              <a:ext uri="{FF2B5EF4-FFF2-40B4-BE49-F238E27FC236}">
                <a16:creationId xmlns:a16="http://schemas.microsoft.com/office/drawing/2014/main" id="{467CF724-326D-7045-E673-15465ADB769D}"/>
              </a:ext>
            </a:extLst>
          </p:cNvPr>
          <p:cNvSpPr txBox="1"/>
          <p:nvPr/>
        </p:nvSpPr>
        <p:spPr>
          <a:xfrm>
            <a:off x="5678118" y="2254171"/>
            <a:ext cx="976258" cy="390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"/>
              </a:lnSpc>
            </a:pPr>
            <a:r>
              <a:rPr lang="en-US" sz="1150" b="1">
                <a:solidFill>
                  <a:srgbClr val="1F1F1B"/>
                </a:solidFill>
                <a:latin typeface="Lato Bold"/>
                <a:ea typeface="Lato Bold"/>
                <a:cs typeface="Lato Bold"/>
              </a:rPr>
              <a:t>Automated Cleaning</a:t>
            </a:r>
          </a:p>
        </p:txBody>
      </p:sp>
      <p:sp>
        <p:nvSpPr>
          <p:cNvPr id="51" name="Freeform 53">
            <a:extLst>
              <a:ext uri="{FF2B5EF4-FFF2-40B4-BE49-F238E27FC236}">
                <a16:creationId xmlns:a16="http://schemas.microsoft.com/office/drawing/2014/main" id="{562EA33E-6AD4-8B39-D0E7-91F5697941E6}"/>
              </a:ext>
            </a:extLst>
          </p:cNvPr>
          <p:cNvSpPr/>
          <p:nvPr/>
        </p:nvSpPr>
        <p:spPr>
          <a:xfrm>
            <a:off x="149064" y="851399"/>
            <a:ext cx="3316674" cy="717608"/>
          </a:xfrm>
          <a:custGeom>
            <a:avLst/>
            <a:gdLst/>
            <a:ahLst/>
            <a:cxnLst/>
            <a:rect l="l" t="t" r="r" b="b"/>
            <a:pathLst>
              <a:path w="6633347" h="1435215">
                <a:moveTo>
                  <a:pt x="0" y="0"/>
                </a:moveTo>
                <a:lnTo>
                  <a:pt x="6633347" y="0"/>
                </a:lnTo>
                <a:lnTo>
                  <a:pt x="6633347" y="1435215"/>
                </a:lnTo>
                <a:lnTo>
                  <a:pt x="0" y="143521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4">
            <a:extLst>
              <a:ext uri="{FF2B5EF4-FFF2-40B4-BE49-F238E27FC236}">
                <a16:creationId xmlns:a16="http://schemas.microsoft.com/office/drawing/2014/main" id="{8564BB51-1035-4465-7929-607387E2174E}"/>
              </a:ext>
            </a:extLst>
          </p:cNvPr>
          <p:cNvSpPr txBox="1"/>
          <p:nvPr/>
        </p:nvSpPr>
        <p:spPr>
          <a:xfrm>
            <a:off x="420585" y="987319"/>
            <a:ext cx="2897440" cy="39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 ???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7A5F53A-7AE8-9493-C0ED-D69A82C9135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89103" y="593970"/>
            <a:ext cx="1657380" cy="8834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0" descr="CodeRush-Final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636" y="0"/>
            <a:ext cx="9144000" cy="5143500"/>
          </a:xfrm>
          <a:prstGeom prst="rect">
            <a:avLst/>
          </a:prstGeom>
        </p:spPr>
      </p:pic>
      <p:sp>
        <p:nvSpPr>
          <p:cNvPr id="88" name="Google Shape;88;p18"/>
          <p:cNvSpPr txBox="1"/>
          <p:nvPr/>
        </p:nvSpPr>
        <p:spPr>
          <a:xfrm>
            <a:off x="0" y="534704"/>
            <a:ext cx="7569300" cy="814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Process flow diagram or Use-case diagram</a:t>
            </a:r>
            <a:endParaRPr lang="en-GB" sz="2000" b="1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GB" sz="1600" dirty="0">
              <a:solidFill>
                <a:schemeClr val="dk2"/>
              </a:solidFill>
              <a:latin typeface="Google Sans"/>
              <a:ea typeface="Google Sans"/>
              <a:cs typeface="Google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1CDB1B-CA5B-8AC8-68BF-C94C35CD1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932" y="1077654"/>
            <a:ext cx="5076125" cy="3563675"/>
          </a:xfrm>
          <a:prstGeom prst="rect">
            <a:avLst/>
          </a:prstGeom>
        </p:spPr>
      </p:pic>
      <p:pic>
        <p:nvPicPr>
          <p:cNvPr id="5" name="Picture 2" descr="Plain block diagram of solar panel dust detection and cleaning workflow">
            <a:extLst>
              <a:ext uri="{FF2B5EF4-FFF2-40B4-BE49-F238E27FC236}">
                <a16:creationId xmlns:a16="http://schemas.microsoft.com/office/drawing/2014/main" id="{A03F3918-F800-72B4-2FCA-3D1F1AB45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23" y="1077654"/>
            <a:ext cx="3446942" cy="3569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D7AEE2-3AB5-84F1-080E-A93A79B505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056" y="0"/>
            <a:ext cx="846944" cy="5878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D71C745E-394F-B096-63E0-BEAC619DB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0" descr="CodeRush-Final (1)">
            <a:extLst>
              <a:ext uri="{FF2B5EF4-FFF2-40B4-BE49-F238E27FC236}">
                <a16:creationId xmlns:a16="http://schemas.microsoft.com/office/drawing/2014/main" id="{A264A8DB-30FB-87DC-44B2-69007FC8C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Group 4">
            <a:extLst>
              <a:ext uri="{FF2B5EF4-FFF2-40B4-BE49-F238E27FC236}">
                <a16:creationId xmlns:a16="http://schemas.microsoft.com/office/drawing/2014/main" id="{73AC14DA-A595-BA98-530C-171EB6032105}"/>
              </a:ext>
            </a:extLst>
          </p:cNvPr>
          <p:cNvGrpSpPr/>
          <p:nvPr/>
        </p:nvGrpSpPr>
        <p:grpSpPr>
          <a:xfrm>
            <a:off x="640278" y="1319553"/>
            <a:ext cx="1892196" cy="1322679"/>
            <a:chOff x="0" y="0"/>
            <a:chExt cx="1151686" cy="805049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1459C00-7869-D2A4-1D26-220599AF8EB5}"/>
                </a:ext>
              </a:extLst>
            </p:cNvPr>
            <p:cNvSpPr/>
            <p:nvPr/>
          </p:nvSpPr>
          <p:spPr>
            <a:xfrm>
              <a:off x="0" y="0"/>
              <a:ext cx="1151686" cy="805049"/>
            </a:xfrm>
            <a:custGeom>
              <a:avLst/>
              <a:gdLst/>
              <a:ahLst/>
              <a:cxnLst/>
              <a:rect l="l" t="t" r="r" b="b"/>
              <a:pathLst>
                <a:path w="1151686" h="805049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7092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6">
              <a:extLst>
                <a:ext uri="{FF2B5EF4-FFF2-40B4-BE49-F238E27FC236}">
                  <a16:creationId xmlns:a16="http://schemas.microsoft.com/office/drawing/2014/main" id="{C56AD1F7-E4E7-F985-BF14-125265538A61}"/>
                </a:ext>
              </a:extLst>
            </p:cNvPr>
            <p:cNvSpPr txBox="1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grpSp>
        <p:nvGrpSpPr>
          <p:cNvPr id="6" name="Group 7">
            <a:extLst>
              <a:ext uri="{FF2B5EF4-FFF2-40B4-BE49-F238E27FC236}">
                <a16:creationId xmlns:a16="http://schemas.microsoft.com/office/drawing/2014/main" id="{BE24E201-439C-16E2-155F-0D130AB7F90E}"/>
              </a:ext>
            </a:extLst>
          </p:cNvPr>
          <p:cNvGrpSpPr/>
          <p:nvPr/>
        </p:nvGrpSpPr>
        <p:grpSpPr>
          <a:xfrm>
            <a:off x="2195415" y="1319553"/>
            <a:ext cx="1892196" cy="1322679"/>
            <a:chOff x="0" y="0"/>
            <a:chExt cx="1151686" cy="805049"/>
          </a:xfrm>
        </p:grpSpPr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F3DD70F4-8CEF-94BB-BB9D-3C6402D7B97D}"/>
                </a:ext>
              </a:extLst>
            </p:cNvPr>
            <p:cNvSpPr/>
            <p:nvPr/>
          </p:nvSpPr>
          <p:spPr>
            <a:xfrm>
              <a:off x="0" y="0"/>
              <a:ext cx="1151686" cy="805049"/>
            </a:xfrm>
            <a:custGeom>
              <a:avLst/>
              <a:gdLst/>
              <a:ahLst/>
              <a:cxnLst/>
              <a:rect l="l" t="t" r="r" b="b"/>
              <a:pathLst>
                <a:path w="1151686" h="805049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B98B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9">
              <a:extLst>
                <a:ext uri="{FF2B5EF4-FFF2-40B4-BE49-F238E27FC236}">
                  <a16:creationId xmlns:a16="http://schemas.microsoft.com/office/drawing/2014/main" id="{B074B2F3-4689-43B6-DA24-5F044CC72F04}"/>
                </a:ext>
              </a:extLst>
            </p:cNvPr>
            <p:cNvSpPr txBox="1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grpSp>
        <p:nvGrpSpPr>
          <p:cNvPr id="9" name="Group 10">
            <a:extLst>
              <a:ext uri="{FF2B5EF4-FFF2-40B4-BE49-F238E27FC236}">
                <a16:creationId xmlns:a16="http://schemas.microsoft.com/office/drawing/2014/main" id="{36F4E5FF-CECD-9619-E0A7-2354195C4A7A}"/>
              </a:ext>
            </a:extLst>
          </p:cNvPr>
          <p:cNvGrpSpPr/>
          <p:nvPr/>
        </p:nvGrpSpPr>
        <p:grpSpPr>
          <a:xfrm>
            <a:off x="3750551" y="1319553"/>
            <a:ext cx="1892196" cy="1322679"/>
            <a:chOff x="0" y="0"/>
            <a:chExt cx="1151686" cy="805049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070D9336-2A86-BBB4-5127-8070449A14FB}"/>
                </a:ext>
              </a:extLst>
            </p:cNvPr>
            <p:cNvSpPr/>
            <p:nvPr/>
          </p:nvSpPr>
          <p:spPr>
            <a:xfrm>
              <a:off x="0" y="0"/>
              <a:ext cx="1151686" cy="805049"/>
            </a:xfrm>
            <a:custGeom>
              <a:avLst/>
              <a:gdLst/>
              <a:ahLst/>
              <a:cxnLst/>
              <a:rect l="l" t="t" r="r" b="b"/>
              <a:pathLst>
                <a:path w="1151686" h="805049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A2A9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2">
              <a:extLst>
                <a:ext uri="{FF2B5EF4-FFF2-40B4-BE49-F238E27FC236}">
                  <a16:creationId xmlns:a16="http://schemas.microsoft.com/office/drawing/2014/main" id="{670FD10A-225D-6B4E-F844-AD2E0EC8B092}"/>
                </a:ext>
              </a:extLst>
            </p:cNvPr>
            <p:cNvSpPr txBox="1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grpSp>
        <p:nvGrpSpPr>
          <p:cNvPr id="12" name="Group 13">
            <a:extLst>
              <a:ext uri="{FF2B5EF4-FFF2-40B4-BE49-F238E27FC236}">
                <a16:creationId xmlns:a16="http://schemas.microsoft.com/office/drawing/2014/main" id="{5F435911-2596-31A9-0889-5340CBB34E86}"/>
              </a:ext>
            </a:extLst>
          </p:cNvPr>
          <p:cNvGrpSpPr/>
          <p:nvPr/>
        </p:nvGrpSpPr>
        <p:grpSpPr>
          <a:xfrm>
            <a:off x="5308246" y="1319553"/>
            <a:ext cx="1892196" cy="1322679"/>
            <a:chOff x="0" y="0"/>
            <a:chExt cx="1151686" cy="805049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374F2F19-EF72-98E3-6BA7-C22D91F0AF4F}"/>
                </a:ext>
              </a:extLst>
            </p:cNvPr>
            <p:cNvSpPr/>
            <p:nvPr/>
          </p:nvSpPr>
          <p:spPr>
            <a:xfrm>
              <a:off x="0" y="0"/>
              <a:ext cx="1151686" cy="805049"/>
            </a:xfrm>
            <a:custGeom>
              <a:avLst/>
              <a:gdLst/>
              <a:ahLst/>
              <a:cxnLst/>
              <a:rect l="l" t="t" r="r" b="b"/>
              <a:pathLst>
                <a:path w="1151686" h="805049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82DB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5">
              <a:extLst>
                <a:ext uri="{FF2B5EF4-FFF2-40B4-BE49-F238E27FC236}">
                  <a16:creationId xmlns:a16="http://schemas.microsoft.com/office/drawing/2014/main" id="{407AC7A9-524B-8B10-251B-6272CFF7A1E0}"/>
                </a:ext>
              </a:extLst>
            </p:cNvPr>
            <p:cNvSpPr txBox="1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grpSp>
        <p:nvGrpSpPr>
          <p:cNvPr id="15" name="Group 16">
            <a:extLst>
              <a:ext uri="{FF2B5EF4-FFF2-40B4-BE49-F238E27FC236}">
                <a16:creationId xmlns:a16="http://schemas.microsoft.com/office/drawing/2014/main" id="{E174379A-0F38-9246-52E1-F60E9BED173B}"/>
              </a:ext>
            </a:extLst>
          </p:cNvPr>
          <p:cNvGrpSpPr/>
          <p:nvPr/>
        </p:nvGrpSpPr>
        <p:grpSpPr>
          <a:xfrm>
            <a:off x="6863383" y="1319553"/>
            <a:ext cx="1892196" cy="1322679"/>
            <a:chOff x="0" y="0"/>
            <a:chExt cx="1151686" cy="805049"/>
          </a:xfrm>
        </p:grpSpPr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5FC26C9B-241A-201C-44DC-FD8A1EF78B41}"/>
                </a:ext>
              </a:extLst>
            </p:cNvPr>
            <p:cNvSpPr/>
            <p:nvPr/>
          </p:nvSpPr>
          <p:spPr>
            <a:xfrm>
              <a:off x="0" y="0"/>
              <a:ext cx="1151686" cy="805049"/>
            </a:xfrm>
            <a:custGeom>
              <a:avLst/>
              <a:gdLst/>
              <a:ahLst/>
              <a:cxnLst/>
              <a:rect l="l" t="t" r="r" b="b"/>
              <a:pathLst>
                <a:path w="1151686" h="805049">
                  <a:moveTo>
                    <a:pt x="0" y="0"/>
                  </a:moveTo>
                  <a:lnTo>
                    <a:pt x="948486" y="0"/>
                  </a:lnTo>
                  <a:lnTo>
                    <a:pt x="1151686" y="402524"/>
                  </a:lnTo>
                  <a:lnTo>
                    <a:pt x="948486" y="805049"/>
                  </a:lnTo>
                  <a:lnTo>
                    <a:pt x="0" y="805049"/>
                  </a:lnTo>
                  <a:lnTo>
                    <a:pt x="203200" y="402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8C95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8">
              <a:extLst>
                <a:ext uri="{FF2B5EF4-FFF2-40B4-BE49-F238E27FC236}">
                  <a16:creationId xmlns:a16="http://schemas.microsoft.com/office/drawing/2014/main" id="{A7926CC0-2E9F-B403-8482-EEC7493F7F07}"/>
                </a:ext>
              </a:extLst>
            </p:cNvPr>
            <p:cNvSpPr txBox="1"/>
            <p:nvPr/>
          </p:nvSpPr>
          <p:spPr>
            <a:xfrm>
              <a:off x="177800" y="-57150"/>
              <a:ext cx="897686" cy="86219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grpSp>
        <p:nvGrpSpPr>
          <p:cNvPr id="18" name="Group 19">
            <a:extLst>
              <a:ext uri="{FF2B5EF4-FFF2-40B4-BE49-F238E27FC236}">
                <a16:creationId xmlns:a16="http://schemas.microsoft.com/office/drawing/2014/main" id="{602DF0D0-0D39-317B-CBE5-3A7252457CE5}"/>
              </a:ext>
            </a:extLst>
          </p:cNvPr>
          <p:cNvGrpSpPr/>
          <p:nvPr/>
        </p:nvGrpSpPr>
        <p:grpSpPr>
          <a:xfrm>
            <a:off x="2694939" y="986018"/>
            <a:ext cx="667070" cy="667070"/>
            <a:chOff x="0" y="0"/>
            <a:chExt cx="812800" cy="812800"/>
          </a:xfrm>
        </p:grpSpPr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8123CBFE-F04A-FD58-F8A6-2AFE204B2BF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B98B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0" name="TextBox 21">
              <a:extLst>
                <a:ext uri="{FF2B5EF4-FFF2-40B4-BE49-F238E27FC236}">
                  <a16:creationId xmlns:a16="http://schemas.microsoft.com/office/drawing/2014/main" id="{75FAC29A-4845-FA3D-69DD-3D5A0EFB423F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1" name="Group 22">
            <a:extLst>
              <a:ext uri="{FF2B5EF4-FFF2-40B4-BE49-F238E27FC236}">
                <a16:creationId xmlns:a16="http://schemas.microsoft.com/office/drawing/2014/main" id="{CA695AC8-185C-DD44-070C-A95115F9ADE2}"/>
              </a:ext>
            </a:extLst>
          </p:cNvPr>
          <p:cNvGrpSpPr/>
          <p:nvPr/>
        </p:nvGrpSpPr>
        <p:grpSpPr>
          <a:xfrm>
            <a:off x="5796938" y="986018"/>
            <a:ext cx="667070" cy="667070"/>
            <a:chOff x="0" y="0"/>
            <a:chExt cx="812800" cy="812800"/>
          </a:xfrm>
        </p:grpSpPr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F50F2A85-342E-3635-5D51-8C41ADCE3C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82DB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C2AA4BAC-C5A9-2E28-5A85-3794FC1DA51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sp>
        <p:nvSpPr>
          <p:cNvPr id="24" name="Freeform 25">
            <a:extLst>
              <a:ext uri="{FF2B5EF4-FFF2-40B4-BE49-F238E27FC236}">
                <a16:creationId xmlns:a16="http://schemas.microsoft.com/office/drawing/2014/main" id="{BCFBA175-1AEE-7293-5AF4-ABF30713E8DC}"/>
              </a:ext>
            </a:extLst>
          </p:cNvPr>
          <p:cNvSpPr/>
          <p:nvPr/>
        </p:nvSpPr>
        <p:spPr>
          <a:xfrm>
            <a:off x="2841701" y="1148062"/>
            <a:ext cx="373545" cy="342982"/>
          </a:xfrm>
          <a:custGeom>
            <a:avLst/>
            <a:gdLst/>
            <a:ahLst/>
            <a:cxnLst/>
            <a:rect l="l" t="t" r="r" b="b"/>
            <a:pathLst>
              <a:path w="747090" h="685964">
                <a:moveTo>
                  <a:pt x="0" y="0"/>
                </a:moveTo>
                <a:lnTo>
                  <a:pt x="747090" y="0"/>
                </a:lnTo>
                <a:lnTo>
                  <a:pt x="747090" y="685965"/>
                </a:lnTo>
                <a:lnTo>
                  <a:pt x="0" y="685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6">
            <a:extLst>
              <a:ext uri="{FF2B5EF4-FFF2-40B4-BE49-F238E27FC236}">
                <a16:creationId xmlns:a16="http://schemas.microsoft.com/office/drawing/2014/main" id="{D846FEF2-B89F-47F8-7DAB-DCB0BE3CC283}"/>
              </a:ext>
            </a:extLst>
          </p:cNvPr>
          <p:cNvSpPr/>
          <p:nvPr/>
        </p:nvSpPr>
        <p:spPr>
          <a:xfrm>
            <a:off x="5997365" y="1153167"/>
            <a:ext cx="266217" cy="332772"/>
          </a:xfrm>
          <a:custGeom>
            <a:avLst/>
            <a:gdLst/>
            <a:ahLst/>
            <a:cxnLst/>
            <a:rect l="l" t="t" r="r" b="b"/>
            <a:pathLst>
              <a:path w="532434" h="665543">
                <a:moveTo>
                  <a:pt x="0" y="0"/>
                </a:moveTo>
                <a:lnTo>
                  <a:pt x="532434" y="0"/>
                </a:lnTo>
                <a:lnTo>
                  <a:pt x="532434" y="665543"/>
                </a:lnTo>
                <a:lnTo>
                  <a:pt x="0" y="6655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TextBox 27">
            <a:extLst>
              <a:ext uri="{FF2B5EF4-FFF2-40B4-BE49-F238E27FC236}">
                <a16:creationId xmlns:a16="http://schemas.microsoft.com/office/drawing/2014/main" id="{D19C3029-C50C-24A6-58B3-8D6D303B6425}"/>
              </a:ext>
            </a:extLst>
          </p:cNvPr>
          <p:cNvSpPr txBox="1"/>
          <p:nvPr/>
        </p:nvSpPr>
        <p:spPr>
          <a:xfrm>
            <a:off x="1826880" y="2801266"/>
            <a:ext cx="1757299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2840" lvl="1" algn="ctr">
              <a:lnSpc>
                <a:spcPts val="1723"/>
              </a:lnSpc>
            </a:pPr>
            <a:r>
              <a:rPr lang="en-US" dirty="0"/>
              <a:t>Hybrid VGG16–SVM model identifies dust by feature extraction</a:t>
            </a:r>
            <a:br>
              <a:rPr lang="en-US" dirty="0"/>
            </a:br>
            <a:endParaRPr lang="en-US" sz="1600" b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7" name="TextBox 28">
            <a:extLst>
              <a:ext uri="{FF2B5EF4-FFF2-40B4-BE49-F238E27FC236}">
                <a16:creationId xmlns:a16="http://schemas.microsoft.com/office/drawing/2014/main" id="{37958BDD-2E6E-325F-3BD9-6176E7F956D2}"/>
              </a:ext>
            </a:extLst>
          </p:cNvPr>
          <p:cNvSpPr txBox="1"/>
          <p:nvPr/>
        </p:nvSpPr>
        <p:spPr>
          <a:xfrm>
            <a:off x="1066239" y="1545347"/>
            <a:ext cx="975784" cy="803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"/>
              </a:lnSpc>
            </a:pPr>
            <a:r>
              <a:rPr lang="en-US" sz="115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IMAGE CAPTURE WITH CAMERA</a:t>
            </a:r>
          </a:p>
        </p:txBody>
      </p:sp>
      <p:sp>
        <p:nvSpPr>
          <p:cNvPr id="28" name="TextBox 29">
            <a:extLst>
              <a:ext uri="{FF2B5EF4-FFF2-40B4-BE49-F238E27FC236}">
                <a16:creationId xmlns:a16="http://schemas.microsoft.com/office/drawing/2014/main" id="{87C95E2E-59F7-1869-B40D-5B04EDD21843}"/>
              </a:ext>
            </a:extLst>
          </p:cNvPr>
          <p:cNvSpPr txBox="1"/>
          <p:nvPr/>
        </p:nvSpPr>
        <p:spPr>
          <a:xfrm>
            <a:off x="2774767" y="1750531"/>
            <a:ext cx="975784" cy="392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"/>
              </a:lnSpc>
            </a:pPr>
            <a:r>
              <a:rPr lang="en-US" sz="115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DUST DETECTION</a:t>
            </a:r>
          </a:p>
        </p:txBody>
      </p:sp>
      <p:sp>
        <p:nvSpPr>
          <p:cNvPr id="29" name="TextBox 30">
            <a:extLst>
              <a:ext uri="{FF2B5EF4-FFF2-40B4-BE49-F238E27FC236}">
                <a16:creationId xmlns:a16="http://schemas.microsoft.com/office/drawing/2014/main" id="{141851AD-52F4-9564-7F53-FB4B0A476BCB}"/>
              </a:ext>
            </a:extLst>
          </p:cNvPr>
          <p:cNvSpPr txBox="1"/>
          <p:nvPr/>
        </p:nvSpPr>
        <p:spPr>
          <a:xfrm>
            <a:off x="388422" y="947918"/>
            <a:ext cx="1010112" cy="31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5F6075"/>
                </a:solidFill>
                <a:latin typeface="Leckerli One"/>
                <a:ea typeface="Leckerli One"/>
                <a:cs typeface="Leckerli One"/>
                <a:sym typeface="Leckerli One"/>
              </a:rPr>
              <a:t>01</a:t>
            </a:r>
          </a:p>
        </p:txBody>
      </p:sp>
      <p:sp>
        <p:nvSpPr>
          <p:cNvPr id="30" name="TextBox 31">
            <a:extLst>
              <a:ext uri="{FF2B5EF4-FFF2-40B4-BE49-F238E27FC236}">
                <a16:creationId xmlns:a16="http://schemas.microsoft.com/office/drawing/2014/main" id="{E174FC75-8431-C85C-5AD1-EA5F293626C4}"/>
              </a:ext>
            </a:extLst>
          </p:cNvPr>
          <p:cNvSpPr txBox="1"/>
          <p:nvPr/>
        </p:nvSpPr>
        <p:spPr>
          <a:xfrm>
            <a:off x="4204709" y="1666885"/>
            <a:ext cx="975784" cy="597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"/>
              </a:lnSpc>
            </a:pPr>
            <a:r>
              <a:rPr lang="en-US" sz="115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 AI Processing &amp; Analysis</a:t>
            </a:r>
          </a:p>
        </p:txBody>
      </p:sp>
      <p:sp>
        <p:nvSpPr>
          <p:cNvPr id="31" name="TextBox 32">
            <a:extLst>
              <a:ext uri="{FF2B5EF4-FFF2-40B4-BE49-F238E27FC236}">
                <a16:creationId xmlns:a16="http://schemas.microsoft.com/office/drawing/2014/main" id="{E89F2355-B5F8-CC6A-7385-733F85F7969C}"/>
              </a:ext>
            </a:extLst>
          </p:cNvPr>
          <p:cNvSpPr txBox="1"/>
          <p:nvPr/>
        </p:nvSpPr>
        <p:spPr>
          <a:xfrm>
            <a:off x="5749195" y="1785350"/>
            <a:ext cx="975784" cy="392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"/>
              </a:lnSpc>
            </a:pPr>
            <a:r>
              <a:rPr lang="en-US" sz="115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Automated Cleaning</a:t>
            </a:r>
          </a:p>
        </p:txBody>
      </p:sp>
      <p:sp>
        <p:nvSpPr>
          <p:cNvPr id="32" name="TextBox 33">
            <a:extLst>
              <a:ext uri="{FF2B5EF4-FFF2-40B4-BE49-F238E27FC236}">
                <a16:creationId xmlns:a16="http://schemas.microsoft.com/office/drawing/2014/main" id="{08D28705-FD26-582E-F3EC-3C7C3B9F1954}"/>
              </a:ext>
            </a:extLst>
          </p:cNvPr>
          <p:cNvSpPr txBox="1"/>
          <p:nvPr/>
        </p:nvSpPr>
        <p:spPr>
          <a:xfrm>
            <a:off x="7324267" y="1624513"/>
            <a:ext cx="975784" cy="599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"/>
              </a:lnSpc>
            </a:pPr>
            <a:r>
              <a:rPr lang="en-US" sz="12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Monitoring and Prediction</a:t>
            </a:r>
            <a:endParaRPr lang="en-US" sz="115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33" name="TextBox 34">
            <a:extLst>
              <a:ext uri="{FF2B5EF4-FFF2-40B4-BE49-F238E27FC236}">
                <a16:creationId xmlns:a16="http://schemas.microsoft.com/office/drawing/2014/main" id="{7AD0FBBC-C985-1CE1-574E-81DBB88F1320}"/>
              </a:ext>
            </a:extLst>
          </p:cNvPr>
          <p:cNvSpPr txBox="1"/>
          <p:nvPr/>
        </p:nvSpPr>
        <p:spPr>
          <a:xfrm>
            <a:off x="1886701" y="947918"/>
            <a:ext cx="1010112" cy="31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5F6075"/>
                </a:solidFill>
                <a:latin typeface="Leckerli One"/>
                <a:ea typeface="Leckerli One"/>
                <a:cs typeface="Leckerli One"/>
                <a:sym typeface="Leckerli One"/>
              </a:rPr>
              <a:t>02</a:t>
            </a:r>
          </a:p>
        </p:txBody>
      </p:sp>
      <p:sp>
        <p:nvSpPr>
          <p:cNvPr id="34" name="TextBox 35">
            <a:extLst>
              <a:ext uri="{FF2B5EF4-FFF2-40B4-BE49-F238E27FC236}">
                <a16:creationId xmlns:a16="http://schemas.microsoft.com/office/drawing/2014/main" id="{44622ADA-0AE7-5742-97D6-FDFF6F224800}"/>
              </a:ext>
            </a:extLst>
          </p:cNvPr>
          <p:cNvSpPr txBox="1"/>
          <p:nvPr/>
        </p:nvSpPr>
        <p:spPr>
          <a:xfrm>
            <a:off x="3413720" y="947918"/>
            <a:ext cx="1010112" cy="31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5F6075"/>
                </a:solidFill>
                <a:latin typeface="Leckerli One"/>
                <a:ea typeface="Leckerli One"/>
                <a:cs typeface="Leckerli One"/>
                <a:sym typeface="Leckerli One"/>
              </a:rPr>
              <a:t>03</a:t>
            </a:r>
          </a:p>
        </p:txBody>
      </p:sp>
      <p:sp>
        <p:nvSpPr>
          <p:cNvPr id="35" name="TextBox 36">
            <a:extLst>
              <a:ext uri="{FF2B5EF4-FFF2-40B4-BE49-F238E27FC236}">
                <a16:creationId xmlns:a16="http://schemas.microsoft.com/office/drawing/2014/main" id="{25F8D8D7-7705-1EF7-1386-7249DAFA7D4C}"/>
              </a:ext>
            </a:extLst>
          </p:cNvPr>
          <p:cNvSpPr txBox="1"/>
          <p:nvPr/>
        </p:nvSpPr>
        <p:spPr>
          <a:xfrm>
            <a:off x="4940738" y="947918"/>
            <a:ext cx="1010112" cy="31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5F6075"/>
                </a:solidFill>
                <a:latin typeface="Leckerli One"/>
                <a:ea typeface="Leckerli One"/>
                <a:cs typeface="Leckerli One"/>
                <a:sym typeface="Leckerli One"/>
              </a:rPr>
              <a:t>04</a:t>
            </a:r>
          </a:p>
        </p:txBody>
      </p:sp>
      <p:sp>
        <p:nvSpPr>
          <p:cNvPr id="36" name="TextBox 37">
            <a:extLst>
              <a:ext uri="{FF2B5EF4-FFF2-40B4-BE49-F238E27FC236}">
                <a16:creationId xmlns:a16="http://schemas.microsoft.com/office/drawing/2014/main" id="{E0B7E576-0A8D-A88C-956B-2D55D4C7C026}"/>
              </a:ext>
            </a:extLst>
          </p:cNvPr>
          <p:cNvSpPr txBox="1"/>
          <p:nvPr/>
        </p:nvSpPr>
        <p:spPr>
          <a:xfrm>
            <a:off x="6467756" y="947918"/>
            <a:ext cx="1010112" cy="31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5F6075"/>
                </a:solidFill>
                <a:latin typeface="Leckerli One"/>
                <a:ea typeface="Leckerli One"/>
                <a:cs typeface="Leckerli One"/>
                <a:sym typeface="Leckerli One"/>
              </a:rPr>
              <a:t>05</a:t>
            </a:r>
          </a:p>
        </p:txBody>
      </p:sp>
      <p:sp>
        <p:nvSpPr>
          <p:cNvPr id="37" name="TextBox 38">
            <a:extLst>
              <a:ext uri="{FF2B5EF4-FFF2-40B4-BE49-F238E27FC236}">
                <a16:creationId xmlns:a16="http://schemas.microsoft.com/office/drawing/2014/main" id="{EB97B4B7-7E31-15A3-0C45-EBEE55836AB0}"/>
              </a:ext>
            </a:extLst>
          </p:cNvPr>
          <p:cNvSpPr txBox="1"/>
          <p:nvPr/>
        </p:nvSpPr>
        <p:spPr>
          <a:xfrm>
            <a:off x="216569" y="2773094"/>
            <a:ext cx="1722289" cy="1002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dirty="0"/>
              <a:t>Cameras/IoT sensors capture real-time images of solar panels.</a:t>
            </a:r>
          </a:p>
        </p:txBody>
      </p:sp>
      <p:sp>
        <p:nvSpPr>
          <p:cNvPr id="38" name="TextBox 39">
            <a:extLst>
              <a:ext uri="{FF2B5EF4-FFF2-40B4-BE49-F238E27FC236}">
                <a16:creationId xmlns:a16="http://schemas.microsoft.com/office/drawing/2014/main" id="{2FA9BA0F-2B59-6C39-9A36-4876C76B06D8}"/>
              </a:ext>
            </a:extLst>
          </p:cNvPr>
          <p:cNvSpPr txBox="1"/>
          <p:nvPr/>
        </p:nvSpPr>
        <p:spPr>
          <a:xfrm>
            <a:off x="3659263" y="2801266"/>
            <a:ext cx="1808810" cy="10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2840" lvl="1" algn="ctr">
              <a:lnSpc>
                <a:spcPts val="1723"/>
              </a:lnSpc>
            </a:pPr>
            <a:r>
              <a:rPr lang="en-US" dirty="0"/>
              <a:t>SVM model identifies dust with high accuracy.</a:t>
            </a:r>
          </a:p>
          <a:p>
            <a:pPr marL="132840" lvl="1" algn="ctr">
              <a:lnSpc>
                <a:spcPts val="1723"/>
              </a:lnSpc>
            </a:pPr>
            <a:r>
              <a:rPr lang="en-US" dirty="0"/>
              <a:t> </a:t>
            </a:r>
            <a:br>
              <a:rPr lang="en-US" sz="1200" dirty="0"/>
            </a:br>
            <a:endParaRPr lang="en-US" sz="1231" b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256C9AD2-1A25-0EDD-9984-1FCDC0F820E9}"/>
              </a:ext>
            </a:extLst>
          </p:cNvPr>
          <p:cNvSpPr txBox="1"/>
          <p:nvPr/>
        </p:nvSpPr>
        <p:spPr>
          <a:xfrm>
            <a:off x="5559823" y="2736128"/>
            <a:ext cx="1832383" cy="64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dirty="0"/>
              <a:t>AI triggers robotic cleaning unit using minimal/no water.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5F7F21C8-B413-5F1A-5E2C-A614F61844D6}"/>
              </a:ext>
            </a:extLst>
          </p:cNvPr>
          <p:cNvSpPr txBox="1"/>
          <p:nvPr/>
        </p:nvSpPr>
        <p:spPr>
          <a:xfrm>
            <a:off x="7075247" y="2708429"/>
            <a:ext cx="1832383" cy="996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0552" lvl="1" algn="ctr">
              <a:lnSpc>
                <a:spcPts val="1952"/>
              </a:lnSpc>
            </a:pPr>
            <a:r>
              <a:rPr lang="en-US" sz="1200" dirty="0"/>
              <a:t>IoT dashboard tracks performance, efficiency gain, and schedules predictive maintenance.</a:t>
            </a:r>
            <a:endParaRPr lang="en-US" sz="1395" b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41" name="Freeform 42">
            <a:extLst>
              <a:ext uri="{FF2B5EF4-FFF2-40B4-BE49-F238E27FC236}">
                <a16:creationId xmlns:a16="http://schemas.microsoft.com/office/drawing/2014/main" id="{2E76B4C3-E7B5-B819-0C2E-E46C7A5056C5}"/>
              </a:ext>
            </a:extLst>
          </p:cNvPr>
          <p:cNvSpPr/>
          <p:nvPr/>
        </p:nvSpPr>
        <p:spPr>
          <a:xfrm>
            <a:off x="2532474" y="110226"/>
            <a:ext cx="3597413" cy="778349"/>
          </a:xfrm>
          <a:custGeom>
            <a:avLst/>
            <a:gdLst/>
            <a:ahLst/>
            <a:cxnLst/>
            <a:rect l="l" t="t" r="r" b="b"/>
            <a:pathLst>
              <a:path w="7194825" h="1556698">
                <a:moveTo>
                  <a:pt x="0" y="0"/>
                </a:moveTo>
                <a:lnTo>
                  <a:pt x="7194824" y="0"/>
                </a:lnTo>
                <a:lnTo>
                  <a:pt x="7194824" y="1556698"/>
                </a:lnTo>
                <a:lnTo>
                  <a:pt x="0" y="15566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3">
            <a:extLst>
              <a:ext uri="{FF2B5EF4-FFF2-40B4-BE49-F238E27FC236}">
                <a16:creationId xmlns:a16="http://schemas.microsoft.com/office/drawing/2014/main" id="{13631BFA-E030-D796-8562-C98394E81772}"/>
              </a:ext>
            </a:extLst>
          </p:cNvPr>
          <p:cNvSpPr txBox="1"/>
          <p:nvPr/>
        </p:nvSpPr>
        <p:spPr>
          <a:xfrm>
            <a:off x="2848413" y="246800"/>
            <a:ext cx="3205163" cy="32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3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    MOCK DIAGRAM</a:t>
            </a:r>
          </a:p>
        </p:txBody>
      </p:sp>
    </p:spTree>
    <p:extLst>
      <p:ext uri="{BB962C8B-B14F-4D97-AF65-F5344CB8AC3E}">
        <p14:creationId xmlns:p14="http://schemas.microsoft.com/office/powerpoint/2010/main" val="3785974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0" descr="CodeRush-Final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0" name="Google Shape;100;p20"/>
          <p:cNvSpPr txBox="1"/>
          <p:nvPr/>
        </p:nvSpPr>
        <p:spPr>
          <a:xfrm>
            <a:off x="221893" y="863550"/>
            <a:ext cx="4524022" cy="406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Architecture diagram of the proposed solution:</a:t>
            </a:r>
            <a:endParaRPr lang="en-GB"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</a:endParaRPr>
          </a:p>
          <a:p>
            <a:pPr algn="just"/>
            <a:r>
              <a:rPr lang="en-US" sz="1600" dirty="0">
                <a:latin typeface="Times New Roman"/>
                <a:ea typeface="Google Sans Medium"/>
                <a:cs typeface="Times New Roman"/>
              </a:rPr>
              <a:t>This architecture diagram illustrates the process of a system to detect dust on a solar panel with drone imagery and machine learning. It outlines the process from drone images, train-validation with train-validation splits in order to get the data ready for training models. The training data is then passed through a VGG16 feature extractor to get meaningful features from the training data, global average pooling, and standardization by using a Standard Scaler. These features are input into an SVM classifier to produce SVM prediction probabilities.</a:t>
            </a:r>
            <a:endParaRPr lang="en-GB" sz="1600" dirty="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</a:pPr>
            <a:endParaRPr lang="en-GB"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endParaRPr lang="en-US"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</a:endParaRPr>
          </a:p>
        </p:txBody>
      </p:sp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9090D2EA-FD1A-28BA-E09F-388AED4CA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050" y="595993"/>
            <a:ext cx="4080229" cy="43352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9ACA95-4170-55E7-BF9F-2FE3122CEE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085" y="1"/>
            <a:ext cx="891915" cy="6178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70E17C17-050C-A25F-D580-C22460DF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0" descr="CodeRush-Final (1)">
            <a:extLst>
              <a:ext uri="{FF2B5EF4-FFF2-40B4-BE49-F238E27FC236}">
                <a16:creationId xmlns:a16="http://schemas.microsoft.com/office/drawing/2014/main" id="{3DD4522C-A59C-2CE9-0122-09487D3A1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733" y="20722"/>
            <a:ext cx="9144000" cy="514350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7D5A9426-332C-A62D-8130-FD6AAAE13F34}"/>
              </a:ext>
            </a:extLst>
          </p:cNvPr>
          <p:cNvSpPr/>
          <p:nvPr/>
        </p:nvSpPr>
        <p:spPr>
          <a:xfrm>
            <a:off x="2681076" y="42763"/>
            <a:ext cx="3621029" cy="783459"/>
          </a:xfrm>
          <a:custGeom>
            <a:avLst/>
            <a:gdLst/>
            <a:ahLst/>
            <a:cxnLst/>
            <a:rect l="l" t="t" r="r" b="b"/>
            <a:pathLst>
              <a:path w="7242057" h="1566918">
                <a:moveTo>
                  <a:pt x="0" y="0"/>
                </a:moveTo>
                <a:lnTo>
                  <a:pt x="7242058" y="0"/>
                </a:lnTo>
                <a:lnTo>
                  <a:pt x="7242058" y="1566918"/>
                </a:lnTo>
                <a:lnTo>
                  <a:pt x="0" y="1566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219DC345-6AD7-0796-0FF7-7F154356C2A9}"/>
              </a:ext>
            </a:extLst>
          </p:cNvPr>
          <p:cNvGrpSpPr/>
          <p:nvPr/>
        </p:nvGrpSpPr>
        <p:grpSpPr>
          <a:xfrm>
            <a:off x="187539" y="925866"/>
            <a:ext cx="3983008" cy="1911894"/>
            <a:chOff x="0" y="0"/>
            <a:chExt cx="846645" cy="406400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A73AB66B-4785-FDC8-F40B-550E9E97E756}"/>
                </a:ext>
              </a:extLst>
            </p:cNvPr>
            <p:cNvSpPr/>
            <p:nvPr/>
          </p:nvSpPr>
          <p:spPr>
            <a:xfrm>
              <a:off x="0" y="0"/>
              <a:ext cx="843568" cy="406400"/>
            </a:xfrm>
            <a:custGeom>
              <a:avLst/>
              <a:gdLst/>
              <a:ahLst/>
              <a:cxnLst/>
              <a:rect l="l" t="t" r="r" b="b"/>
              <a:pathLst>
                <a:path w="843568" h="406400">
                  <a:moveTo>
                    <a:pt x="633726" y="0"/>
                  </a:moveTo>
                  <a:lnTo>
                    <a:pt x="9719" y="0"/>
                  </a:lnTo>
                  <a:cubicBezTo>
                    <a:pt x="4351" y="0"/>
                    <a:pt x="0" y="4351"/>
                    <a:pt x="0" y="9719"/>
                  </a:cubicBezTo>
                  <a:lnTo>
                    <a:pt x="0" y="396681"/>
                  </a:lnTo>
                  <a:cubicBezTo>
                    <a:pt x="0" y="402049"/>
                    <a:pt x="4351" y="406400"/>
                    <a:pt x="9719" y="406400"/>
                  </a:cubicBezTo>
                  <a:lnTo>
                    <a:pt x="633726" y="406400"/>
                  </a:lnTo>
                  <a:cubicBezTo>
                    <a:pt x="639949" y="406400"/>
                    <a:pt x="645917" y="403928"/>
                    <a:pt x="650317" y="399528"/>
                  </a:cubicBezTo>
                  <a:lnTo>
                    <a:pt x="839772" y="210072"/>
                  </a:lnTo>
                  <a:cubicBezTo>
                    <a:pt x="843568" y="206277"/>
                    <a:pt x="843568" y="200123"/>
                    <a:pt x="839772" y="196328"/>
                  </a:cubicBezTo>
                  <a:lnTo>
                    <a:pt x="650317" y="6872"/>
                  </a:lnTo>
                  <a:cubicBezTo>
                    <a:pt x="645917" y="2472"/>
                    <a:pt x="639949" y="0"/>
                    <a:pt x="633726" y="0"/>
                  </a:cubicBezTo>
                  <a:close/>
                </a:path>
              </a:pathLst>
            </a:custGeom>
            <a:solidFill>
              <a:srgbClr val="C6E0F7"/>
            </a:solidFill>
          </p:spPr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C5AD0B0B-1DA6-F9D2-292A-D2E03CF1DC8E}"/>
                </a:ext>
              </a:extLst>
            </p:cNvPr>
            <p:cNvSpPr txBox="1"/>
            <p:nvPr/>
          </p:nvSpPr>
          <p:spPr>
            <a:xfrm>
              <a:off x="0" y="-57150"/>
              <a:ext cx="732345" cy="463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7" name="Group 8">
            <a:extLst>
              <a:ext uri="{FF2B5EF4-FFF2-40B4-BE49-F238E27FC236}">
                <a16:creationId xmlns:a16="http://schemas.microsoft.com/office/drawing/2014/main" id="{A45B791F-A9DE-B129-C1A8-97FA7A58783B}"/>
              </a:ext>
            </a:extLst>
          </p:cNvPr>
          <p:cNvGrpSpPr/>
          <p:nvPr/>
        </p:nvGrpSpPr>
        <p:grpSpPr>
          <a:xfrm>
            <a:off x="254830" y="3066360"/>
            <a:ext cx="3848427" cy="1793157"/>
            <a:chOff x="0" y="0"/>
            <a:chExt cx="872205" cy="406400"/>
          </a:xfrm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E34A8E33-3E1D-DA43-6E25-D544575ED24D}"/>
                </a:ext>
              </a:extLst>
            </p:cNvPr>
            <p:cNvSpPr/>
            <p:nvPr/>
          </p:nvSpPr>
          <p:spPr>
            <a:xfrm>
              <a:off x="0" y="0"/>
              <a:ext cx="869021" cy="406400"/>
            </a:xfrm>
            <a:custGeom>
              <a:avLst/>
              <a:gdLst/>
              <a:ahLst/>
              <a:cxnLst/>
              <a:rect l="l" t="t" r="r" b="b"/>
              <a:pathLst>
                <a:path w="869021" h="406400">
                  <a:moveTo>
                    <a:pt x="658947" y="0"/>
                  </a:moveTo>
                  <a:lnTo>
                    <a:pt x="10059" y="0"/>
                  </a:lnTo>
                  <a:cubicBezTo>
                    <a:pt x="4503" y="0"/>
                    <a:pt x="0" y="4503"/>
                    <a:pt x="0" y="10059"/>
                  </a:cubicBezTo>
                  <a:lnTo>
                    <a:pt x="0" y="396341"/>
                  </a:lnTo>
                  <a:cubicBezTo>
                    <a:pt x="0" y="401897"/>
                    <a:pt x="4503" y="406400"/>
                    <a:pt x="10059" y="406400"/>
                  </a:cubicBezTo>
                  <a:lnTo>
                    <a:pt x="658947" y="406400"/>
                  </a:lnTo>
                  <a:cubicBezTo>
                    <a:pt x="665387" y="406400"/>
                    <a:pt x="671563" y="403842"/>
                    <a:pt x="676117" y="399288"/>
                  </a:cubicBezTo>
                  <a:lnTo>
                    <a:pt x="865093" y="210312"/>
                  </a:lnTo>
                  <a:cubicBezTo>
                    <a:pt x="869021" y="206384"/>
                    <a:pt x="869021" y="200016"/>
                    <a:pt x="865093" y="196088"/>
                  </a:cubicBezTo>
                  <a:lnTo>
                    <a:pt x="676117" y="7112"/>
                  </a:lnTo>
                  <a:cubicBezTo>
                    <a:pt x="671563" y="2558"/>
                    <a:pt x="665387" y="0"/>
                    <a:pt x="658947" y="0"/>
                  </a:cubicBezTo>
                  <a:close/>
                </a:path>
              </a:pathLst>
            </a:custGeom>
            <a:solidFill>
              <a:srgbClr val="FFE0C0"/>
            </a:solidFill>
          </p:spPr>
        </p:sp>
        <p:sp>
          <p:nvSpPr>
            <p:cNvPr id="9" name="TextBox 10">
              <a:extLst>
                <a:ext uri="{FF2B5EF4-FFF2-40B4-BE49-F238E27FC236}">
                  <a16:creationId xmlns:a16="http://schemas.microsoft.com/office/drawing/2014/main" id="{03FC3A4F-6A3A-1F90-5BCD-6537793F19F6}"/>
                </a:ext>
              </a:extLst>
            </p:cNvPr>
            <p:cNvSpPr txBox="1"/>
            <p:nvPr/>
          </p:nvSpPr>
          <p:spPr>
            <a:xfrm>
              <a:off x="0" y="-57150"/>
              <a:ext cx="757905" cy="463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id="{474CD5FD-71F8-503B-354F-3360E05D96D0}"/>
              </a:ext>
            </a:extLst>
          </p:cNvPr>
          <p:cNvGrpSpPr/>
          <p:nvPr/>
        </p:nvGrpSpPr>
        <p:grpSpPr>
          <a:xfrm rot="-10800000">
            <a:off x="4530634" y="935382"/>
            <a:ext cx="4103384" cy="2168624"/>
            <a:chOff x="0" y="-57150"/>
            <a:chExt cx="877111" cy="463550"/>
          </a:xfrm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C20DC850-1895-7139-16A1-6062195AD4BE}"/>
                </a:ext>
              </a:extLst>
            </p:cNvPr>
            <p:cNvSpPr/>
            <p:nvPr/>
          </p:nvSpPr>
          <p:spPr>
            <a:xfrm>
              <a:off x="7909" y="-8616"/>
              <a:ext cx="869202" cy="406400"/>
            </a:xfrm>
            <a:custGeom>
              <a:avLst/>
              <a:gdLst/>
              <a:ahLst/>
              <a:cxnLst/>
              <a:rect l="l" t="t" r="r" b="b"/>
              <a:pathLst>
                <a:path w="869202" h="406400">
                  <a:moveTo>
                    <a:pt x="659518" y="0"/>
                  </a:moveTo>
                  <a:lnTo>
                    <a:pt x="9487" y="0"/>
                  </a:lnTo>
                  <a:cubicBezTo>
                    <a:pt x="6971" y="0"/>
                    <a:pt x="4558" y="999"/>
                    <a:pt x="2779" y="2779"/>
                  </a:cubicBezTo>
                  <a:cubicBezTo>
                    <a:pt x="999" y="4558"/>
                    <a:pt x="0" y="6971"/>
                    <a:pt x="0" y="9487"/>
                  </a:cubicBezTo>
                  <a:lnTo>
                    <a:pt x="0" y="396913"/>
                  </a:lnTo>
                  <a:cubicBezTo>
                    <a:pt x="0" y="399429"/>
                    <a:pt x="999" y="401842"/>
                    <a:pt x="2779" y="403621"/>
                  </a:cubicBezTo>
                  <a:cubicBezTo>
                    <a:pt x="4558" y="405401"/>
                    <a:pt x="6971" y="406400"/>
                    <a:pt x="9487" y="406400"/>
                  </a:cubicBezTo>
                  <a:lnTo>
                    <a:pt x="659518" y="406400"/>
                  </a:lnTo>
                  <a:cubicBezTo>
                    <a:pt x="665593" y="406400"/>
                    <a:pt x="671418" y="403987"/>
                    <a:pt x="675713" y="399692"/>
                  </a:cubicBezTo>
                  <a:lnTo>
                    <a:pt x="865497" y="209908"/>
                  </a:lnTo>
                  <a:cubicBezTo>
                    <a:pt x="869202" y="206203"/>
                    <a:pt x="869202" y="200197"/>
                    <a:pt x="865497" y="196492"/>
                  </a:cubicBezTo>
                  <a:lnTo>
                    <a:pt x="675713" y="6708"/>
                  </a:lnTo>
                  <a:cubicBezTo>
                    <a:pt x="671418" y="2413"/>
                    <a:pt x="665593" y="0"/>
                    <a:pt x="659518" y="0"/>
                  </a:cubicBezTo>
                  <a:close/>
                </a:path>
              </a:pathLst>
            </a:custGeom>
            <a:solidFill>
              <a:srgbClr val="FFF3D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38031436-9515-E5E5-A6F7-D3273CBEDE0E}"/>
                </a:ext>
              </a:extLst>
            </p:cNvPr>
            <p:cNvSpPr txBox="1"/>
            <p:nvPr/>
          </p:nvSpPr>
          <p:spPr>
            <a:xfrm>
              <a:off x="0" y="-57150"/>
              <a:ext cx="757905" cy="463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13" name="Group 14">
            <a:extLst>
              <a:ext uri="{FF2B5EF4-FFF2-40B4-BE49-F238E27FC236}">
                <a16:creationId xmlns:a16="http://schemas.microsoft.com/office/drawing/2014/main" id="{569FBA38-0804-7C8A-3F52-1F7F5DBAB592}"/>
              </a:ext>
            </a:extLst>
          </p:cNvPr>
          <p:cNvGrpSpPr/>
          <p:nvPr/>
        </p:nvGrpSpPr>
        <p:grpSpPr>
          <a:xfrm rot="-10800000">
            <a:off x="4549218" y="2995598"/>
            <a:ext cx="4080433" cy="1901259"/>
            <a:chOff x="0" y="0"/>
            <a:chExt cx="872205" cy="406400"/>
          </a:xfrm>
        </p:grpSpPr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F5890051-2C92-8DB4-53EC-0EC0D75306D7}"/>
                </a:ext>
              </a:extLst>
            </p:cNvPr>
            <p:cNvSpPr/>
            <p:nvPr/>
          </p:nvSpPr>
          <p:spPr>
            <a:xfrm>
              <a:off x="0" y="0"/>
              <a:ext cx="869202" cy="406400"/>
            </a:xfrm>
            <a:custGeom>
              <a:avLst/>
              <a:gdLst/>
              <a:ahLst/>
              <a:cxnLst/>
              <a:rect l="l" t="t" r="r" b="b"/>
              <a:pathLst>
                <a:path w="869202" h="406400">
                  <a:moveTo>
                    <a:pt x="659518" y="0"/>
                  </a:moveTo>
                  <a:lnTo>
                    <a:pt x="9487" y="0"/>
                  </a:lnTo>
                  <a:cubicBezTo>
                    <a:pt x="6971" y="0"/>
                    <a:pt x="4558" y="999"/>
                    <a:pt x="2779" y="2779"/>
                  </a:cubicBezTo>
                  <a:cubicBezTo>
                    <a:pt x="999" y="4558"/>
                    <a:pt x="0" y="6971"/>
                    <a:pt x="0" y="9487"/>
                  </a:cubicBezTo>
                  <a:lnTo>
                    <a:pt x="0" y="396913"/>
                  </a:lnTo>
                  <a:cubicBezTo>
                    <a:pt x="0" y="399429"/>
                    <a:pt x="999" y="401842"/>
                    <a:pt x="2779" y="403621"/>
                  </a:cubicBezTo>
                  <a:cubicBezTo>
                    <a:pt x="4558" y="405401"/>
                    <a:pt x="6971" y="406400"/>
                    <a:pt x="9487" y="406400"/>
                  </a:cubicBezTo>
                  <a:lnTo>
                    <a:pt x="659518" y="406400"/>
                  </a:lnTo>
                  <a:cubicBezTo>
                    <a:pt x="665593" y="406400"/>
                    <a:pt x="671418" y="403987"/>
                    <a:pt x="675713" y="399692"/>
                  </a:cubicBezTo>
                  <a:lnTo>
                    <a:pt x="865497" y="209908"/>
                  </a:lnTo>
                  <a:cubicBezTo>
                    <a:pt x="869202" y="206203"/>
                    <a:pt x="869202" y="200197"/>
                    <a:pt x="865497" y="196492"/>
                  </a:cubicBezTo>
                  <a:lnTo>
                    <a:pt x="675713" y="6708"/>
                  </a:lnTo>
                  <a:cubicBezTo>
                    <a:pt x="671418" y="2413"/>
                    <a:pt x="665593" y="0"/>
                    <a:pt x="659518" y="0"/>
                  </a:cubicBezTo>
                  <a:close/>
                </a:path>
              </a:pathLst>
            </a:custGeom>
            <a:solidFill>
              <a:srgbClr val="D7F7FF"/>
            </a:solidFill>
          </p:spPr>
        </p:sp>
        <p:sp>
          <p:nvSpPr>
            <p:cNvPr id="15" name="TextBox 16">
              <a:extLst>
                <a:ext uri="{FF2B5EF4-FFF2-40B4-BE49-F238E27FC236}">
                  <a16:creationId xmlns:a16="http://schemas.microsoft.com/office/drawing/2014/main" id="{8165D0D6-83BB-5A9C-6008-602978EF4225}"/>
                </a:ext>
              </a:extLst>
            </p:cNvPr>
            <p:cNvSpPr txBox="1"/>
            <p:nvPr/>
          </p:nvSpPr>
          <p:spPr>
            <a:xfrm>
              <a:off x="0" y="-57150"/>
              <a:ext cx="757905" cy="463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16" name="Group 17">
            <a:extLst>
              <a:ext uri="{FF2B5EF4-FFF2-40B4-BE49-F238E27FC236}">
                <a16:creationId xmlns:a16="http://schemas.microsoft.com/office/drawing/2014/main" id="{AFF02758-F5EF-9C44-7EDC-F96EB5F27F99}"/>
              </a:ext>
            </a:extLst>
          </p:cNvPr>
          <p:cNvGrpSpPr/>
          <p:nvPr/>
        </p:nvGrpSpPr>
        <p:grpSpPr>
          <a:xfrm rot="8100000">
            <a:off x="3225583" y="2295022"/>
            <a:ext cx="1501951" cy="685882"/>
            <a:chOff x="0" y="0"/>
            <a:chExt cx="812800" cy="371174"/>
          </a:xfrm>
        </p:grpSpPr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70B50F40-6ABF-F219-E0F5-A1FF26A7FE81}"/>
                </a:ext>
              </a:extLst>
            </p:cNvPr>
            <p:cNvSpPr/>
            <p:nvPr/>
          </p:nvSpPr>
          <p:spPr>
            <a:xfrm>
              <a:off x="53853" y="27135"/>
              <a:ext cx="705095" cy="344039"/>
            </a:xfrm>
            <a:custGeom>
              <a:avLst/>
              <a:gdLst/>
              <a:ahLst/>
              <a:cxnLst/>
              <a:rect l="l" t="t" r="r" b="b"/>
              <a:pathLst>
                <a:path w="705095" h="344039">
                  <a:moveTo>
                    <a:pt x="421056" y="35436"/>
                  </a:moveTo>
                  <a:lnTo>
                    <a:pt x="690438" y="281468"/>
                  </a:lnTo>
                  <a:cubicBezTo>
                    <a:pt x="701407" y="291486"/>
                    <a:pt x="705094" y="307214"/>
                    <a:pt x="699722" y="321063"/>
                  </a:cubicBezTo>
                  <a:cubicBezTo>
                    <a:pt x="694349" y="334913"/>
                    <a:pt x="681020" y="344039"/>
                    <a:pt x="666165" y="344039"/>
                  </a:cubicBezTo>
                  <a:lnTo>
                    <a:pt x="38929" y="344039"/>
                  </a:lnTo>
                  <a:cubicBezTo>
                    <a:pt x="24074" y="344039"/>
                    <a:pt x="10745" y="334913"/>
                    <a:pt x="5372" y="321063"/>
                  </a:cubicBezTo>
                  <a:cubicBezTo>
                    <a:pt x="0" y="307214"/>
                    <a:pt x="3687" y="291486"/>
                    <a:pt x="14656" y="281468"/>
                  </a:cubicBezTo>
                  <a:lnTo>
                    <a:pt x="284038" y="35436"/>
                  </a:lnTo>
                  <a:cubicBezTo>
                    <a:pt x="322837" y="0"/>
                    <a:pt x="382257" y="0"/>
                    <a:pt x="421056" y="35436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id="18" name="TextBox 19">
              <a:extLst>
                <a:ext uri="{FF2B5EF4-FFF2-40B4-BE49-F238E27FC236}">
                  <a16:creationId xmlns:a16="http://schemas.microsoft.com/office/drawing/2014/main" id="{0FE43F86-BCA7-C6C3-AB74-9B618886216A}"/>
                </a:ext>
              </a:extLst>
            </p:cNvPr>
            <p:cNvSpPr txBox="1"/>
            <p:nvPr/>
          </p:nvSpPr>
          <p:spPr>
            <a:xfrm>
              <a:off x="127000" y="115181"/>
              <a:ext cx="558800" cy="229481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19" name="Group 20">
            <a:extLst>
              <a:ext uri="{FF2B5EF4-FFF2-40B4-BE49-F238E27FC236}">
                <a16:creationId xmlns:a16="http://schemas.microsoft.com/office/drawing/2014/main" id="{DC1CB643-3AFA-1AA6-D84F-58994F3C69A6}"/>
              </a:ext>
            </a:extLst>
          </p:cNvPr>
          <p:cNvGrpSpPr/>
          <p:nvPr/>
        </p:nvGrpSpPr>
        <p:grpSpPr>
          <a:xfrm rot="-8100000">
            <a:off x="3915666" y="2312376"/>
            <a:ext cx="1510934" cy="689985"/>
            <a:chOff x="0" y="0"/>
            <a:chExt cx="812800" cy="371174"/>
          </a:xfrm>
        </p:grpSpPr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6CE74D04-EC1D-2F00-F3F1-54F67F89453C}"/>
                </a:ext>
              </a:extLst>
            </p:cNvPr>
            <p:cNvSpPr/>
            <p:nvPr/>
          </p:nvSpPr>
          <p:spPr>
            <a:xfrm>
              <a:off x="53532" y="26973"/>
              <a:ext cx="705735" cy="344201"/>
            </a:xfrm>
            <a:custGeom>
              <a:avLst/>
              <a:gdLst/>
              <a:ahLst/>
              <a:cxnLst/>
              <a:rect l="l" t="t" r="r" b="b"/>
              <a:pathLst>
                <a:path w="705735" h="344201">
                  <a:moveTo>
                    <a:pt x="420970" y="35226"/>
                  </a:moveTo>
                  <a:lnTo>
                    <a:pt x="691166" y="282002"/>
                  </a:lnTo>
                  <a:cubicBezTo>
                    <a:pt x="702070" y="291961"/>
                    <a:pt x="705736" y="307595"/>
                    <a:pt x="700395" y="321362"/>
                  </a:cubicBezTo>
                  <a:cubicBezTo>
                    <a:pt x="695054" y="335129"/>
                    <a:pt x="681804" y="344201"/>
                    <a:pt x="667037" y="344201"/>
                  </a:cubicBezTo>
                  <a:lnTo>
                    <a:pt x="38699" y="344201"/>
                  </a:lnTo>
                  <a:cubicBezTo>
                    <a:pt x="23932" y="344201"/>
                    <a:pt x="10682" y="335129"/>
                    <a:pt x="5341" y="321362"/>
                  </a:cubicBezTo>
                  <a:cubicBezTo>
                    <a:pt x="0" y="307595"/>
                    <a:pt x="3666" y="291961"/>
                    <a:pt x="14570" y="282002"/>
                  </a:cubicBezTo>
                  <a:lnTo>
                    <a:pt x="284766" y="35226"/>
                  </a:lnTo>
                  <a:cubicBezTo>
                    <a:pt x="323335" y="0"/>
                    <a:pt x="382401" y="0"/>
                    <a:pt x="420970" y="35226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id="21" name="TextBox 22">
              <a:extLst>
                <a:ext uri="{FF2B5EF4-FFF2-40B4-BE49-F238E27FC236}">
                  <a16:creationId xmlns:a16="http://schemas.microsoft.com/office/drawing/2014/main" id="{EF9CD73F-139E-DAE9-5FED-5F163E41A576}"/>
                </a:ext>
              </a:extLst>
            </p:cNvPr>
            <p:cNvSpPr txBox="1"/>
            <p:nvPr/>
          </p:nvSpPr>
          <p:spPr>
            <a:xfrm>
              <a:off x="127000" y="115181"/>
              <a:ext cx="558800" cy="229481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22" name="Group 23">
            <a:extLst>
              <a:ext uri="{FF2B5EF4-FFF2-40B4-BE49-F238E27FC236}">
                <a16:creationId xmlns:a16="http://schemas.microsoft.com/office/drawing/2014/main" id="{E555A1C4-C8EE-6C56-C33C-9FAB95CD41D1}"/>
              </a:ext>
            </a:extLst>
          </p:cNvPr>
          <p:cNvGrpSpPr/>
          <p:nvPr/>
        </p:nvGrpSpPr>
        <p:grpSpPr>
          <a:xfrm rot="2700000">
            <a:off x="3225718" y="2943544"/>
            <a:ext cx="1510934" cy="689985"/>
            <a:chOff x="0" y="0"/>
            <a:chExt cx="812800" cy="371174"/>
          </a:xfrm>
        </p:grpSpPr>
        <p:sp>
          <p:nvSpPr>
            <p:cNvPr id="23" name="Freeform 24">
              <a:extLst>
                <a:ext uri="{FF2B5EF4-FFF2-40B4-BE49-F238E27FC236}">
                  <a16:creationId xmlns:a16="http://schemas.microsoft.com/office/drawing/2014/main" id="{0A1F410C-243B-DF77-1022-A28C408D9E43}"/>
                </a:ext>
              </a:extLst>
            </p:cNvPr>
            <p:cNvSpPr/>
            <p:nvPr/>
          </p:nvSpPr>
          <p:spPr>
            <a:xfrm>
              <a:off x="53532" y="26973"/>
              <a:ext cx="705735" cy="344201"/>
            </a:xfrm>
            <a:custGeom>
              <a:avLst/>
              <a:gdLst/>
              <a:ahLst/>
              <a:cxnLst/>
              <a:rect l="l" t="t" r="r" b="b"/>
              <a:pathLst>
                <a:path w="705735" h="344201">
                  <a:moveTo>
                    <a:pt x="420970" y="35226"/>
                  </a:moveTo>
                  <a:lnTo>
                    <a:pt x="691166" y="282002"/>
                  </a:lnTo>
                  <a:cubicBezTo>
                    <a:pt x="702070" y="291961"/>
                    <a:pt x="705736" y="307595"/>
                    <a:pt x="700395" y="321362"/>
                  </a:cubicBezTo>
                  <a:cubicBezTo>
                    <a:pt x="695054" y="335129"/>
                    <a:pt x="681804" y="344201"/>
                    <a:pt x="667037" y="344201"/>
                  </a:cubicBezTo>
                  <a:lnTo>
                    <a:pt x="38699" y="344201"/>
                  </a:lnTo>
                  <a:cubicBezTo>
                    <a:pt x="23932" y="344201"/>
                    <a:pt x="10682" y="335129"/>
                    <a:pt x="5341" y="321362"/>
                  </a:cubicBezTo>
                  <a:cubicBezTo>
                    <a:pt x="0" y="307595"/>
                    <a:pt x="3666" y="291961"/>
                    <a:pt x="14570" y="282002"/>
                  </a:cubicBezTo>
                  <a:lnTo>
                    <a:pt x="284766" y="35226"/>
                  </a:lnTo>
                  <a:cubicBezTo>
                    <a:pt x="323335" y="0"/>
                    <a:pt x="382401" y="0"/>
                    <a:pt x="420970" y="35226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id="24" name="TextBox 25">
              <a:extLst>
                <a:ext uri="{FF2B5EF4-FFF2-40B4-BE49-F238E27FC236}">
                  <a16:creationId xmlns:a16="http://schemas.microsoft.com/office/drawing/2014/main" id="{E702559F-0961-1B17-9AA7-724F729003AB}"/>
                </a:ext>
              </a:extLst>
            </p:cNvPr>
            <p:cNvSpPr txBox="1"/>
            <p:nvPr/>
          </p:nvSpPr>
          <p:spPr>
            <a:xfrm>
              <a:off x="127000" y="115181"/>
              <a:ext cx="558800" cy="229481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25" name="Group 26">
            <a:extLst>
              <a:ext uri="{FF2B5EF4-FFF2-40B4-BE49-F238E27FC236}">
                <a16:creationId xmlns:a16="http://schemas.microsoft.com/office/drawing/2014/main" id="{F08727EA-B71D-C716-F47C-7D30EBFF45B2}"/>
              </a:ext>
            </a:extLst>
          </p:cNvPr>
          <p:cNvGrpSpPr/>
          <p:nvPr/>
        </p:nvGrpSpPr>
        <p:grpSpPr>
          <a:xfrm rot="-2700000">
            <a:off x="3915666" y="2943544"/>
            <a:ext cx="1510934" cy="689985"/>
            <a:chOff x="0" y="0"/>
            <a:chExt cx="812800" cy="371174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1A3018CE-6965-C9B9-F33E-C38C105D489C}"/>
                </a:ext>
              </a:extLst>
            </p:cNvPr>
            <p:cNvSpPr/>
            <p:nvPr/>
          </p:nvSpPr>
          <p:spPr>
            <a:xfrm>
              <a:off x="53532" y="26973"/>
              <a:ext cx="705735" cy="344201"/>
            </a:xfrm>
            <a:custGeom>
              <a:avLst/>
              <a:gdLst/>
              <a:ahLst/>
              <a:cxnLst/>
              <a:rect l="l" t="t" r="r" b="b"/>
              <a:pathLst>
                <a:path w="705735" h="344201">
                  <a:moveTo>
                    <a:pt x="420970" y="35226"/>
                  </a:moveTo>
                  <a:lnTo>
                    <a:pt x="691166" y="282002"/>
                  </a:lnTo>
                  <a:cubicBezTo>
                    <a:pt x="702070" y="291961"/>
                    <a:pt x="705736" y="307595"/>
                    <a:pt x="700395" y="321362"/>
                  </a:cubicBezTo>
                  <a:cubicBezTo>
                    <a:pt x="695054" y="335129"/>
                    <a:pt x="681804" y="344201"/>
                    <a:pt x="667037" y="344201"/>
                  </a:cubicBezTo>
                  <a:lnTo>
                    <a:pt x="38699" y="344201"/>
                  </a:lnTo>
                  <a:cubicBezTo>
                    <a:pt x="23932" y="344201"/>
                    <a:pt x="10682" y="335129"/>
                    <a:pt x="5341" y="321362"/>
                  </a:cubicBezTo>
                  <a:cubicBezTo>
                    <a:pt x="0" y="307595"/>
                    <a:pt x="3666" y="291961"/>
                    <a:pt x="14570" y="282002"/>
                  </a:cubicBezTo>
                  <a:lnTo>
                    <a:pt x="284766" y="35226"/>
                  </a:lnTo>
                  <a:cubicBezTo>
                    <a:pt x="323335" y="0"/>
                    <a:pt x="382401" y="0"/>
                    <a:pt x="420970" y="35226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id="27" name="TextBox 28">
              <a:extLst>
                <a:ext uri="{FF2B5EF4-FFF2-40B4-BE49-F238E27FC236}">
                  <a16:creationId xmlns:a16="http://schemas.microsoft.com/office/drawing/2014/main" id="{04CFA09A-1C87-E496-1AF0-1A12796F7AE9}"/>
                </a:ext>
              </a:extLst>
            </p:cNvPr>
            <p:cNvSpPr txBox="1"/>
            <p:nvPr/>
          </p:nvSpPr>
          <p:spPr>
            <a:xfrm>
              <a:off x="127000" y="115181"/>
              <a:ext cx="558800" cy="229481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sp>
        <p:nvSpPr>
          <p:cNvPr id="28" name="Freeform 29">
            <a:extLst>
              <a:ext uri="{FF2B5EF4-FFF2-40B4-BE49-F238E27FC236}">
                <a16:creationId xmlns:a16="http://schemas.microsoft.com/office/drawing/2014/main" id="{59F87228-5007-0F2D-F4D6-F82BA3093658}"/>
              </a:ext>
            </a:extLst>
          </p:cNvPr>
          <p:cNvSpPr/>
          <p:nvPr/>
        </p:nvSpPr>
        <p:spPr>
          <a:xfrm>
            <a:off x="3756371" y="2385481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60399" h="660399">
                <a:moveTo>
                  <a:pt x="0" y="0"/>
                </a:moveTo>
                <a:lnTo>
                  <a:pt x="660400" y="0"/>
                </a:lnTo>
                <a:lnTo>
                  <a:pt x="660400" y="660399"/>
                </a:lnTo>
                <a:lnTo>
                  <a:pt x="0" y="660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30">
            <a:extLst>
              <a:ext uri="{FF2B5EF4-FFF2-40B4-BE49-F238E27FC236}">
                <a16:creationId xmlns:a16="http://schemas.microsoft.com/office/drawing/2014/main" id="{79037B53-C7EE-3437-A4E4-4DA00CD272C3}"/>
              </a:ext>
            </a:extLst>
          </p:cNvPr>
          <p:cNvSpPr/>
          <p:nvPr/>
        </p:nvSpPr>
        <p:spPr>
          <a:xfrm>
            <a:off x="4572000" y="2377091"/>
            <a:ext cx="322553" cy="353395"/>
          </a:xfrm>
          <a:custGeom>
            <a:avLst/>
            <a:gdLst/>
            <a:ahLst/>
            <a:cxnLst/>
            <a:rect l="l" t="t" r="r" b="b"/>
            <a:pathLst>
              <a:path w="645106" h="706789">
                <a:moveTo>
                  <a:pt x="0" y="0"/>
                </a:moveTo>
                <a:lnTo>
                  <a:pt x="645106" y="0"/>
                </a:lnTo>
                <a:lnTo>
                  <a:pt x="645106" y="706789"/>
                </a:lnTo>
                <a:lnTo>
                  <a:pt x="0" y="7067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1">
            <a:extLst>
              <a:ext uri="{FF2B5EF4-FFF2-40B4-BE49-F238E27FC236}">
                <a16:creationId xmlns:a16="http://schemas.microsoft.com/office/drawing/2014/main" id="{FBCBB4D2-FABF-BE0D-3B37-F8DF6208A855}"/>
              </a:ext>
            </a:extLst>
          </p:cNvPr>
          <p:cNvSpPr/>
          <p:nvPr/>
        </p:nvSpPr>
        <p:spPr>
          <a:xfrm>
            <a:off x="3756371" y="3156842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60399" h="660399">
                <a:moveTo>
                  <a:pt x="0" y="0"/>
                </a:moveTo>
                <a:lnTo>
                  <a:pt x="660400" y="0"/>
                </a:lnTo>
                <a:lnTo>
                  <a:pt x="6604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TextBox 32">
            <a:extLst>
              <a:ext uri="{FF2B5EF4-FFF2-40B4-BE49-F238E27FC236}">
                <a16:creationId xmlns:a16="http://schemas.microsoft.com/office/drawing/2014/main" id="{739EFD3A-A60A-5EE2-7B6D-B34BB2ACB5C8}"/>
              </a:ext>
            </a:extLst>
          </p:cNvPr>
          <p:cNvSpPr txBox="1"/>
          <p:nvPr/>
        </p:nvSpPr>
        <p:spPr>
          <a:xfrm>
            <a:off x="2995422" y="201293"/>
            <a:ext cx="2992339" cy="366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STACK</a:t>
            </a:r>
          </a:p>
        </p:txBody>
      </p:sp>
      <p:sp>
        <p:nvSpPr>
          <p:cNvPr id="32" name="TextBox 33">
            <a:extLst>
              <a:ext uri="{FF2B5EF4-FFF2-40B4-BE49-F238E27FC236}">
                <a16:creationId xmlns:a16="http://schemas.microsoft.com/office/drawing/2014/main" id="{34EC3F53-5234-D66C-378D-EA1763E74A2E}"/>
              </a:ext>
            </a:extLst>
          </p:cNvPr>
          <p:cNvSpPr txBox="1"/>
          <p:nvPr/>
        </p:nvSpPr>
        <p:spPr>
          <a:xfrm>
            <a:off x="456554" y="963613"/>
            <a:ext cx="1286174" cy="23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b="1">
                <a:latin typeface="Lato Bold"/>
                <a:ea typeface="Lato Bold"/>
                <a:cs typeface="Lato Bold"/>
                <a:sym typeface="Lato Bold"/>
              </a:rPr>
              <a:t>Frontend</a:t>
            </a:r>
          </a:p>
        </p:txBody>
      </p:sp>
      <p:sp>
        <p:nvSpPr>
          <p:cNvPr id="33" name="TextBox 34">
            <a:extLst>
              <a:ext uri="{FF2B5EF4-FFF2-40B4-BE49-F238E27FC236}">
                <a16:creationId xmlns:a16="http://schemas.microsoft.com/office/drawing/2014/main" id="{CD4474F0-67D8-D282-DFF3-5EDFF8979F3E}"/>
              </a:ext>
            </a:extLst>
          </p:cNvPr>
          <p:cNvSpPr txBox="1"/>
          <p:nvPr/>
        </p:nvSpPr>
        <p:spPr>
          <a:xfrm>
            <a:off x="456554" y="3111343"/>
            <a:ext cx="1664693" cy="19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200" b="1">
                <a:latin typeface="Lato Bold"/>
                <a:ea typeface="Lato Bold"/>
                <a:cs typeface="Lato Bold"/>
                <a:sym typeface="Lato Bold"/>
              </a:rPr>
              <a:t>Backend &amp; Database</a:t>
            </a:r>
          </a:p>
        </p:txBody>
      </p:sp>
      <p:sp>
        <p:nvSpPr>
          <p:cNvPr id="34" name="TextBox 35">
            <a:extLst>
              <a:ext uri="{FF2B5EF4-FFF2-40B4-BE49-F238E27FC236}">
                <a16:creationId xmlns:a16="http://schemas.microsoft.com/office/drawing/2014/main" id="{D313EABA-2A79-0E9E-47C9-63D33C4B53E5}"/>
              </a:ext>
            </a:extLst>
          </p:cNvPr>
          <p:cNvSpPr txBox="1"/>
          <p:nvPr/>
        </p:nvSpPr>
        <p:spPr>
          <a:xfrm>
            <a:off x="5297488" y="1138040"/>
            <a:ext cx="1484497" cy="222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90"/>
              </a:lnSpc>
            </a:pPr>
            <a:r>
              <a:rPr lang="en-US" sz="1350" b="1">
                <a:latin typeface="Lato Bold"/>
                <a:ea typeface="Lato Bold"/>
                <a:cs typeface="Lato Bold"/>
                <a:sym typeface="Lato Bold"/>
              </a:rPr>
              <a:t>APIs &amp; AI Engine</a:t>
            </a:r>
          </a:p>
        </p:txBody>
      </p:sp>
      <p:sp>
        <p:nvSpPr>
          <p:cNvPr id="35" name="TextBox 36">
            <a:extLst>
              <a:ext uri="{FF2B5EF4-FFF2-40B4-BE49-F238E27FC236}">
                <a16:creationId xmlns:a16="http://schemas.microsoft.com/office/drawing/2014/main" id="{DD976E06-51B1-2DCD-5112-60C4DE9F47E2}"/>
              </a:ext>
            </a:extLst>
          </p:cNvPr>
          <p:cNvSpPr txBox="1"/>
          <p:nvPr/>
        </p:nvSpPr>
        <p:spPr>
          <a:xfrm>
            <a:off x="456554" y="1248855"/>
            <a:ext cx="2695872" cy="1061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4089" lvl="1" indent="-107045">
              <a:lnSpc>
                <a:spcPts val="1388"/>
              </a:lnSpc>
              <a:buFont typeface="Arial"/>
              <a:buChar char="•"/>
            </a:pPr>
            <a:r>
              <a:rPr lang="en-GB" sz="1000" b="1">
                <a:solidFill>
                  <a:schemeClr val="dk1"/>
                </a:solidFill>
                <a:ea typeface="Google Sans Medium"/>
              </a:rPr>
              <a:t>HTML, CSS, JavaScript</a:t>
            </a:r>
            <a:r>
              <a:rPr lang="en-GB" sz="1000">
                <a:solidFill>
                  <a:schemeClr val="dk1"/>
                </a:solidFill>
                <a:ea typeface="Google Sans Medium"/>
              </a:rPr>
              <a:t>: Web interface and user experience</a:t>
            </a:r>
            <a:endParaRPr lang="en-GB" sz="1000">
              <a:solidFill>
                <a:schemeClr val="dk1"/>
              </a:solidFill>
            </a:endParaRPr>
          </a:p>
          <a:p>
            <a:pPr marL="214089" lvl="1" indent="-107045">
              <a:lnSpc>
                <a:spcPts val="1388"/>
              </a:lnSpc>
              <a:buFont typeface="Arial"/>
              <a:buChar char="•"/>
            </a:pPr>
            <a:r>
              <a:rPr lang="en-US" sz="991" b="1">
                <a:latin typeface="Canva Sans Bold"/>
                <a:ea typeface="Canva Sans Bold"/>
                <a:cs typeface="Canva Sans Bold"/>
                <a:sym typeface="Canva Sans Bold"/>
              </a:rPr>
              <a:t>Responsive design for phones &amp; tablets</a:t>
            </a:r>
          </a:p>
          <a:p>
            <a:pPr marL="214089" lvl="1" indent="-107045">
              <a:lnSpc>
                <a:spcPts val="1388"/>
              </a:lnSpc>
              <a:buFont typeface="Arial"/>
              <a:buChar char="•"/>
            </a:pPr>
            <a:r>
              <a:rPr lang="en-GB" sz="1000" b="1">
                <a:solidFill>
                  <a:schemeClr val="dk1"/>
                </a:solidFill>
                <a:ea typeface="Google Sans Medium"/>
              </a:rPr>
              <a:t>OpenCV</a:t>
            </a:r>
            <a:r>
              <a:rPr lang="en-GB" sz="1000">
                <a:solidFill>
                  <a:schemeClr val="dk1"/>
                </a:solidFill>
                <a:ea typeface="Google Sans Medium"/>
              </a:rPr>
              <a:t>: Real-time image processing</a:t>
            </a:r>
            <a:endParaRPr lang="en-GB" sz="1000">
              <a:solidFill>
                <a:schemeClr val="dk1"/>
              </a:solidFill>
            </a:endParaRPr>
          </a:p>
          <a:p>
            <a:pPr marL="214089" lvl="1" indent="-107045">
              <a:lnSpc>
                <a:spcPts val="1388"/>
              </a:lnSpc>
              <a:buFont typeface="Arial"/>
              <a:buChar char="•"/>
            </a:pPr>
            <a:endParaRPr lang="en-US" sz="991" b="1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>
              <a:lnSpc>
                <a:spcPts val="1388"/>
              </a:lnSpc>
            </a:pPr>
            <a:endParaRPr lang="en-US" sz="991" b="1"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6" name="TextBox 37">
            <a:extLst>
              <a:ext uri="{FF2B5EF4-FFF2-40B4-BE49-F238E27FC236}">
                <a16:creationId xmlns:a16="http://schemas.microsoft.com/office/drawing/2014/main" id="{54ECBC31-AFBD-FDB7-C014-8A7C922BC33E}"/>
              </a:ext>
            </a:extLst>
          </p:cNvPr>
          <p:cNvSpPr txBox="1"/>
          <p:nvPr/>
        </p:nvSpPr>
        <p:spPr>
          <a:xfrm>
            <a:off x="518315" y="3269486"/>
            <a:ext cx="3005495" cy="177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0" lvl="1" indent="-107950">
              <a:lnSpc>
                <a:spcPts val="1400"/>
              </a:lnSpc>
              <a:buFont typeface="Arial"/>
              <a:buChar char="•"/>
            </a:pPr>
            <a:r>
              <a:rPr lang="en-GB" sz="1000" b="1">
                <a:solidFill>
                  <a:schemeClr val="dk1"/>
                </a:solidFill>
                <a:ea typeface="Google Sans Medium"/>
              </a:rPr>
              <a:t>Node.js, MongoDB</a:t>
            </a:r>
            <a:r>
              <a:rPr lang="en-GB" sz="1000">
                <a:solidFill>
                  <a:schemeClr val="dk1"/>
                </a:solidFill>
                <a:ea typeface="Google Sans Medium"/>
              </a:rPr>
              <a:t>: Backend server and data storage , React.js: Mobile app and web dashboard development</a:t>
            </a:r>
            <a:endParaRPr lang="en-GB" sz="1000">
              <a:solidFill>
                <a:schemeClr val="dk1"/>
              </a:solidFill>
            </a:endParaRPr>
          </a:p>
          <a:p>
            <a:pPr marL="215900" lvl="1" indent="-107950">
              <a:lnSpc>
                <a:spcPts val="1400"/>
              </a:lnSpc>
              <a:buFont typeface="Arial"/>
              <a:buChar char="•"/>
            </a:pPr>
            <a:r>
              <a:rPr lang="en-GB" sz="1000" b="1">
                <a:solidFill>
                  <a:schemeClr val="dk1"/>
                </a:solidFill>
                <a:ea typeface="Google Sans Medium"/>
              </a:rPr>
              <a:t>TensorFlow, </a:t>
            </a:r>
            <a:r>
              <a:rPr lang="en-GB" sz="1000" b="1" err="1">
                <a:solidFill>
                  <a:schemeClr val="dk1"/>
                </a:solidFill>
                <a:ea typeface="Google Sans Medium"/>
              </a:rPr>
              <a:t>PyTorch</a:t>
            </a:r>
            <a:r>
              <a:rPr lang="en-GB" sz="1000">
                <a:solidFill>
                  <a:schemeClr val="dk1"/>
                </a:solidFill>
                <a:ea typeface="Google Sans Medium"/>
              </a:rPr>
              <a:t>: </a:t>
            </a:r>
            <a:r>
              <a:rPr lang="en-GB" sz="1000" b="1">
                <a:solidFill>
                  <a:schemeClr val="dk1"/>
                </a:solidFill>
                <a:ea typeface="Google Sans Medium"/>
              </a:rPr>
              <a:t>Deep learning</a:t>
            </a:r>
            <a:r>
              <a:rPr lang="en-GB" sz="1000">
                <a:solidFill>
                  <a:schemeClr val="dk1"/>
                </a:solidFill>
                <a:ea typeface="Google Sans Medium"/>
              </a:rPr>
              <a:t> and model training</a:t>
            </a:r>
          </a:p>
          <a:p>
            <a:pPr marL="215900" lvl="1" indent="-107950">
              <a:lnSpc>
                <a:spcPts val="1400"/>
              </a:lnSpc>
              <a:buFont typeface="Arial"/>
              <a:buChar char="•"/>
            </a:pPr>
            <a:r>
              <a:rPr lang="en-GB" sz="1000" b="1">
                <a:solidFill>
                  <a:schemeClr val="dk1"/>
                </a:solidFill>
                <a:ea typeface="Google Sans Medium"/>
              </a:rPr>
              <a:t>VGG16: </a:t>
            </a:r>
            <a:r>
              <a:rPr lang="en-GB" sz="1000">
                <a:solidFill>
                  <a:schemeClr val="dk1"/>
                </a:solidFill>
                <a:ea typeface="Google Sans Medium"/>
              </a:rPr>
              <a:t>CNN based model for working image data</a:t>
            </a:r>
          </a:p>
          <a:p>
            <a:pPr marL="215900" lvl="1" indent="-107950">
              <a:lnSpc>
                <a:spcPts val="1400"/>
              </a:lnSpc>
              <a:buFont typeface="Arial"/>
              <a:buChar char="•"/>
            </a:pPr>
            <a:r>
              <a:rPr lang="en-GB" sz="1000" b="1">
                <a:solidFill>
                  <a:schemeClr val="dk1"/>
                </a:solidFill>
                <a:ea typeface="Google Sans Medium"/>
              </a:rPr>
              <a:t>Machine Learning: SVM (Support Vector Classifier) </a:t>
            </a:r>
            <a:endParaRPr lang="en-GB" sz="1000" b="1">
              <a:solidFill>
                <a:schemeClr val="dk1"/>
              </a:solidFill>
            </a:endParaRPr>
          </a:p>
          <a:p>
            <a:pPr>
              <a:lnSpc>
                <a:spcPts val="1400"/>
              </a:lnSpc>
            </a:pPr>
            <a:endParaRPr lang="en-US" sz="999" b="1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37" name="Freeform 38">
            <a:extLst>
              <a:ext uri="{FF2B5EF4-FFF2-40B4-BE49-F238E27FC236}">
                <a16:creationId xmlns:a16="http://schemas.microsoft.com/office/drawing/2014/main" id="{8174EEB7-7D5D-EB73-90D6-CFB1D16B6549}"/>
              </a:ext>
            </a:extLst>
          </p:cNvPr>
          <p:cNvSpPr/>
          <p:nvPr/>
        </p:nvSpPr>
        <p:spPr>
          <a:xfrm>
            <a:off x="4513746" y="3135156"/>
            <a:ext cx="361077" cy="351886"/>
          </a:xfrm>
          <a:custGeom>
            <a:avLst/>
            <a:gdLst/>
            <a:ahLst/>
            <a:cxnLst/>
            <a:rect l="l" t="t" r="r" b="b"/>
            <a:pathLst>
              <a:path w="722154" h="703772">
                <a:moveTo>
                  <a:pt x="0" y="0"/>
                </a:moveTo>
                <a:lnTo>
                  <a:pt x="722155" y="0"/>
                </a:lnTo>
                <a:lnTo>
                  <a:pt x="722155" y="703773"/>
                </a:lnTo>
                <a:lnTo>
                  <a:pt x="0" y="7037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8" name="TextBox 39">
            <a:extLst>
              <a:ext uri="{FF2B5EF4-FFF2-40B4-BE49-F238E27FC236}">
                <a16:creationId xmlns:a16="http://schemas.microsoft.com/office/drawing/2014/main" id="{1EA1A069-8FB2-8DA4-4BAB-49AD974357DA}"/>
              </a:ext>
            </a:extLst>
          </p:cNvPr>
          <p:cNvSpPr txBox="1"/>
          <p:nvPr/>
        </p:nvSpPr>
        <p:spPr>
          <a:xfrm>
            <a:off x="5449275" y="1418087"/>
            <a:ext cx="3058354" cy="8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672" lvl="1" indent="-108336">
              <a:lnSpc>
                <a:spcPts val="1405"/>
              </a:lnSpc>
              <a:buFont typeface="Arial"/>
              <a:buChar char="•"/>
            </a:pPr>
            <a:r>
              <a:rPr lang="en-US" sz="1004" b="1" dirty="0">
                <a:latin typeface="Canva Sans Bold"/>
                <a:ea typeface="Canva Sans Bold"/>
                <a:cs typeface="Canva Sans Bold"/>
                <a:sym typeface="Canva Sans Bold"/>
              </a:rPr>
              <a:t>Open Weather Map / Tomorrow.io for temperature, precipitation, UV index</a:t>
            </a:r>
          </a:p>
          <a:p>
            <a:pPr marL="216672" lvl="1" indent="-108336">
              <a:lnSpc>
                <a:spcPts val="1405"/>
              </a:lnSpc>
              <a:buFont typeface="Arial"/>
              <a:buChar char="•"/>
            </a:pPr>
            <a:r>
              <a:rPr lang="en-GB" sz="1050" b="1" dirty="0">
                <a:solidFill>
                  <a:schemeClr val="dk1"/>
                </a:solidFill>
                <a:ea typeface="Google Sans Medium"/>
              </a:rPr>
              <a:t>Weather API Integration</a:t>
            </a:r>
            <a:r>
              <a:rPr lang="en-GB" sz="1050" dirty="0">
                <a:solidFill>
                  <a:schemeClr val="dk1"/>
                </a:solidFill>
                <a:ea typeface="Google Sans Medium"/>
              </a:rPr>
              <a:t>: Data-driven predictive maintenance</a:t>
            </a:r>
            <a:endParaRPr lang="en-GB" sz="1050" dirty="0">
              <a:solidFill>
                <a:schemeClr val="dk1"/>
              </a:solidFill>
            </a:endParaRPr>
          </a:p>
          <a:p>
            <a:pPr>
              <a:lnSpc>
                <a:spcPts val="1405"/>
              </a:lnSpc>
            </a:pPr>
            <a:endParaRPr lang="en-US" sz="1004" b="1" dirty="0"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122393C3-4E1F-DC97-E458-BD2353524A34}"/>
              </a:ext>
            </a:extLst>
          </p:cNvPr>
          <p:cNvSpPr txBox="1"/>
          <p:nvPr/>
        </p:nvSpPr>
        <p:spPr>
          <a:xfrm>
            <a:off x="5461282" y="3264724"/>
            <a:ext cx="3168368" cy="1060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0503" lvl="1" indent="-105251">
              <a:lnSpc>
                <a:spcPts val="1365"/>
              </a:lnSpc>
              <a:buFont typeface="Arial"/>
              <a:buChar char="•"/>
            </a:pPr>
            <a:r>
              <a:rPr lang="en-GB" sz="1000" b="1" dirty="0">
                <a:solidFill>
                  <a:schemeClr val="dk1"/>
                </a:solidFill>
                <a:ea typeface="Google Sans Medium"/>
              </a:rPr>
              <a:t>AWS IoT Core</a:t>
            </a:r>
            <a:r>
              <a:rPr lang="en-GB" sz="1000" dirty="0">
                <a:solidFill>
                  <a:schemeClr val="dk1"/>
                </a:solidFill>
                <a:ea typeface="Google Sans Medium"/>
              </a:rPr>
              <a:t>: Cloud device management and data streaming</a:t>
            </a:r>
          </a:p>
          <a:p>
            <a:pPr marL="210503" lvl="1" indent="-105251">
              <a:lnSpc>
                <a:spcPts val="1365"/>
              </a:lnSpc>
              <a:buFont typeface="Arial"/>
              <a:buChar char="•"/>
            </a:pPr>
            <a:r>
              <a:rPr lang="en-GB" sz="1000" b="1" dirty="0">
                <a:solidFill>
                  <a:schemeClr val="dk1"/>
                </a:solidFill>
                <a:ea typeface="Google Sans Medium"/>
              </a:rPr>
              <a:t>Raspberry Pi 4</a:t>
            </a:r>
            <a:r>
              <a:rPr lang="en-GB" sz="1000" dirty="0">
                <a:solidFill>
                  <a:schemeClr val="dk1"/>
                </a:solidFill>
                <a:ea typeface="Google Sans Medium"/>
              </a:rPr>
              <a:t>B, ESP32: Edge computing and IoT connectivity</a:t>
            </a:r>
            <a:endParaRPr lang="en-GB" sz="1000" dirty="0">
              <a:solidFill>
                <a:schemeClr val="dk1"/>
              </a:solidFill>
            </a:endParaRPr>
          </a:p>
          <a:p>
            <a:pPr marL="210503" lvl="1" indent="-105251">
              <a:lnSpc>
                <a:spcPts val="1365"/>
              </a:lnSpc>
              <a:buFont typeface="Arial"/>
              <a:buChar char="•"/>
            </a:pPr>
            <a:r>
              <a:rPr lang="en-GB" sz="1000" b="1" dirty="0">
                <a:solidFill>
                  <a:schemeClr val="dk1"/>
                </a:solidFill>
              </a:rPr>
              <a:t>Camera Drone </a:t>
            </a:r>
            <a:r>
              <a:rPr lang="en-GB" sz="1000" dirty="0">
                <a:solidFill>
                  <a:schemeClr val="dk1"/>
                </a:solidFill>
              </a:rPr>
              <a:t>for capturing images of solar panels</a:t>
            </a:r>
            <a:endParaRPr lang="en-GB" sz="1000" b="1" dirty="0">
              <a:solidFill>
                <a:schemeClr val="dk1"/>
              </a:solidFill>
            </a:endParaRPr>
          </a:p>
          <a:p>
            <a:pPr>
              <a:lnSpc>
                <a:spcPts val="1365"/>
              </a:lnSpc>
            </a:pPr>
            <a:endParaRPr lang="en-US" sz="975" b="1" dirty="0"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C5495F1D-5B38-93A8-EF4D-4AEEC09ED29D}"/>
              </a:ext>
            </a:extLst>
          </p:cNvPr>
          <p:cNvSpPr txBox="1"/>
          <p:nvPr/>
        </p:nvSpPr>
        <p:spPr>
          <a:xfrm>
            <a:off x="5461282" y="2992281"/>
            <a:ext cx="2638664" cy="222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890"/>
              </a:lnSpc>
            </a:pPr>
            <a:r>
              <a:rPr lang="en-US" sz="1350" b="1">
                <a:latin typeface="Lato Bold"/>
                <a:ea typeface="Lato Bold"/>
                <a:cs typeface="Lato Bold"/>
                <a:sym typeface="Lato Bold"/>
              </a:rPr>
              <a:t>IOT HARDWARE USED 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8CD1A02-9AFF-8F81-E4E3-B4DB8CA3DA6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056" y="0"/>
            <a:ext cx="846944" cy="567483"/>
          </a:xfrm>
          <a:prstGeom prst="rect">
            <a:avLst/>
          </a:prstGeom>
        </p:spPr>
      </p:pic>
      <p:pic>
        <p:nvPicPr>
          <p:cNvPr id="1036" name="Picture 12" descr="Deep learning - Best IT &amp; Software Training Institute in ...">
            <a:extLst>
              <a:ext uri="{FF2B5EF4-FFF2-40B4-BE49-F238E27FC236}">
                <a16:creationId xmlns:a16="http://schemas.microsoft.com/office/drawing/2014/main" id="{A41BAB5A-FD2C-0E67-DFB8-EC1D9D268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652" y="4520761"/>
            <a:ext cx="658867" cy="529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object 30">
            <a:extLst>
              <a:ext uri="{FF2B5EF4-FFF2-40B4-BE49-F238E27FC236}">
                <a16:creationId xmlns:a16="http://schemas.microsoft.com/office/drawing/2014/main" id="{F75B4CBD-E9ED-4201-F630-102F812715A4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08075" y="4158967"/>
            <a:ext cx="622556" cy="461598"/>
          </a:xfrm>
          <a:prstGeom prst="rect">
            <a:avLst/>
          </a:prstGeom>
        </p:spPr>
      </p:pic>
      <p:pic>
        <p:nvPicPr>
          <p:cNvPr id="43" name="Picture 42" descr="A group of logos with letters and numbers&#10;&#10;AI-generated content may be incorrect.">
            <a:extLst>
              <a:ext uri="{FF2B5EF4-FFF2-40B4-BE49-F238E27FC236}">
                <a16:creationId xmlns:a16="http://schemas.microsoft.com/office/drawing/2014/main" id="{A388D02F-96F6-DEF1-6BA1-96AFF79D027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527690" y="2109544"/>
            <a:ext cx="1399191" cy="535094"/>
          </a:xfrm>
          <a:prstGeom prst="rect">
            <a:avLst/>
          </a:prstGeom>
        </p:spPr>
      </p:pic>
      <p:pic>
        <p:nvPicPr>
          <p:cNvPr id="47" name="Picture 46" descr="AI, Artificial Intelligence or Actuarial Intelligence? – Axene Health ...">
            <a:extLst>
              <a:ext uri="{FF2B5EF4-FFF2-40B4-BE49-F238E27FC236}">
                <a16:creationId xmlns:a16="http://schemas.microsoft.com/office/drawing/2014/main" id="{EA315071-279B-1B7A-A6F3-00CC9E277B8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63913" y="2199082"/>
            <a:ext cx="1024759" cy="666624"/>
          </a:xfrm>
          <a:prstGeom prst="rect">
            <a:avLst/>
          </a:prstGeom>
        </p:spPr>
      </p:pic>
      <p:pic>
        <p:nvPicPr>
          <p:cNvPr id="48" name="Picture 47" descr="10 meilleurs drones avec caméra pour adultes 2024 - RC Planes">
            <a:extLst>
              <a:ext uri="{FF2B5EF4-FFF2-40B4-BE49-F238E27FC236}">
                <a16:creationId xmlns:a16="http://schemas.microsoft.com/office/drawing/2014/main" id="{60104A07-5F7E-2752-BDB7-D2111D7DDD0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09063" y="4218261"/>
            <a:ext cx="1141028" cy="646221"/>
          </a:xfrm>
          <a:prstGeom prst="rect">
            <a:avLst/>
          </a:prstGeom>
        </p:spPr>
      </p:pic>
      <p:pic>
        <p:nvPicPr>
          <p:cNvPr id="49" name="Picture 48" descr="Raspberry Pi 5: The Ultimate Mini PC for Your Projects | by Jackson ...">
            <a:extLst>
              <a:ext uri="{FF2B5EF4-FFF2-40B4-BE49-F238E27FC236}">
                <a16:creationId xmlns:a16="http://schemas.microsoft.com/office/drawing/2014/main" id="{0C64E92B-D3FF-086B-C4E8-FD85BFE01ED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08251" y="4224831"/>
            <a:ext cx="1062202" cy="64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44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0" descr="CodeRush-Final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31D7C72B-11A5-381C-74B1-E836A6DC9F13}"/>
              </a:ext>
            </a:extLst>
          </p:cNvPr>
          <p:cNvSpPr txBox="1"/>
          <p:nvPr/>
        </p:nvSpPr>
        <p:spPr>
          <a:xfrm>
            <a:off x="146839" y="658648"/>
            <a:ext cx="600863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Estimated Implementation Cost:</a:t>
            </a:r>
          </a:p>
          <a:p>
            <a:endParaRPr lang="en-US" sz="1800" b="1" dirty="0"/>
          </a:p>
          <a:p>
            <a:pPr marL="228600" indent="-228600" algn="just">
              <a:buFont typeface=""/>
              <a:buChar char="•"/>
            </a:pPr>
            <a:r>
              <a:rPr lang="en-US" sz="1800" b="1" dirty="0"/>
              <a:t>Proposed System (SOLARENSE):</a:t>
            </a:r>
            <a:r>
              <a:rPr lang="en-US" sz="1800" dirty="0"/>
              <a:t> ₹25,000 - ₹40,000 per unit</a:t>
            </a:r>
          </a:p>
          <a:p>
            <a:pPr marL="228600" indent="-228600" algn="just">
              <a:buFont typeface=""/>
              <a:buChar char="•"/>
            </a:pPr>
            <a:r>
              <a:rPr lang="en-US" sz="1800" b="1" dirty="0"/>
              <a:t>Existing Robotic Solutions:</a:t>
            </a:r>
            <a:r>
              <a:rPr lang="en-US" sz="1800" dirty="0"/>
              <a:t> ₹</a:t>
            </a:r>
            <a:r>
              <a:rPr lang="en-US" sz="1800"/>
              <a:t>30</a:t>
            </a:r>
            <a:r>
              <a:rPr lang="en-US" sz="1800" dirty="0"/>
              <a:t>+ lakh per unit</a:t>
            </a:r>
          </a:p>
          <a:p>
            <a:pPr marL="228600" indent="-228600" algn="just">
              <a:buFont typeface=""/>
              <a:buChar char="•"/>
            </a:pPr>
            <a:r>
              <a:rPr lang="en-US" sz="1800" b="1" dirty="0"/>
              <a:t>Manual Cleaning (Recurring):</a:t>
            </a:r>
            <a:r>
              <a:rPr lang="en-US" sz="1800" dirty="0"/>
              <a:t> ₹3–5 lakh/year for large solar farms</a:t>
            </a:r>
          </a:p>
          <a:p>
            <a:endParaRPr lang="en-US" sz="1800"/>
          </a:p>
          <a:p>
            <a:pPr algn="just"/>
            <a:r>
              <a:rPr lang="en-US" sz="1800" b="1" dirty="0"/>
              <a:t>Key Advantage:</a:t>
            </a:r>
          </a:p>
          <a:p>
            <a:pPr algn="just"/>
            <a:endParaRPr lang="en-US" sz="1800" b="1" dirty="0"/>
          </a:p>
          <a:p>
            <a:pPr marL="228600" indent="-228600" algn="just">
              <a:buFont typeface=""/>
              <a:buChar char="•"/>
            </a:pPr>
            <a:r>
              <a:rPr lang="en-US" sz="1800" b="1" dirty="0"/>
              <a:t>~70% cheaper</a:t>
            </a:r>
            <a:r>
              <a:rPr lang="en-US" sz="1800" dirty="0"/>
              <a:t> than robotic cleaners</a:t>
            </a:r>
          </a:p>
          <a:p>
            <a:pPr marL="228600" indent="-228600" algn="just">
              <a:buFont typeface=""/>
              <a:buChar char="•"/>
            </a:pPr>
            <a:r>
              <a:rPr lang="en-US" sz="1800" b="1" dirty="0"/>
              <a:t>Payback period &lt; 2 years</a:t>
            </a:r>
            <a:r>
              <a:rPr lang="en-US" sz="1800" dirty="0"/>
              <a:t> through higher energy output &amp; lower O&amp;M costs</a:t>
            </a:r>
          </a:p>
          <a:p>
            <a:pPr marL="228600" indent="-228600" algn="just">
              <a:buFont typeface=""/>
              <a:buChar char="•"/>
            </a:pPr>
            <a:endParaRPr lang="en-US" sz="1800" dirty="0"/>
          </a:p>
        </p:txBody>
      </p:sp>
      <p:pic>
        <p:nvPicPr>
          <p:cNvPr id="123" name="Image 0" descr="preencoded.png">
            <a:extLst>
              <a:ext uri="{FF2B5EF4-FFF2-40B4-BE49-F238E27FC236}">
                <a16:creationId xmlns:a16="http://schemas.microsoft.com/office/drawing/2014/main" id="{2775242B-665F-3466-8344-5F009E709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951" y="576872"/>
            <a:ext cx="2895571" cy="4344533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C8FAE89-0915-7A16-E2D6-33DCBD09F6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056" y="0"/>
            <a:ext cx="846944" cy="5674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06*307"/>
  <p:tag name="TABLE_ENDDRAG_RECT" val="95*80*606*307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903</Words>
  <Application>Microsoft Office PowerPoint</Application>
  <PresentationFormat>On-screen Show (16:9)</PresentationFormat>
  <Paragraphs>119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Poppins Bold</vt:lpstr>
      <vt:lpstr>Google Sans Medium</vt:lpstr>
      <vt:lpstr>Arial</vt:lpstr>
      <vt:lpstr>Lato Bold</vt:lpstr>
      <vt:lpstr>Times New Roman</vt:lpstr>
      <vt:lpstr>Canva Sans Bold</vt:lpstr>
      <vt:lpstr>Google Sans</vt:lpstr>
      <vt:lpstr>Arial Bold</vt:lpstr>
      <vt:lpstr>Leckerli One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Onkar Jamma</dc:creator>
  <cp:lastModifiedBy>Onkar Jamma</cp:lastModifiedBy>
  <cp:revision>3</cp:revision>
  <dcterms:created xsi:type="dcterms:W3CDTF">2025-08-05T11:02:22Z</dcterms:created>
  <dcterms:modified xsi:type="dcterms:W3CDTF">2025-08-16T17:35:55Z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1F4333239EEE4F55A4F7514138B17901_13</vt:lpwstr>
  </property>
  <property fmtid="{D5CDD505-2E9C-101B-9397-08002B2CF9AE}" pid="3" name="KSOProductBuildVer">
    <vt:lpwstr>1033-12.2.0.22222</vt:lpwstr>
  </property>
</Properties>
</file>