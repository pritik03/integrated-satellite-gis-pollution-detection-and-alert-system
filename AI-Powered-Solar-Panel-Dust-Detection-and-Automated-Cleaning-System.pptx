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ubai Light" panose="020B0303030403030204" pitchFamily="34" charset="-78"/>
      <p:regular r:id="rId13"/>
    </p:embeddedFont>
    <p:embeddedFont>
      <p:font typeface="Epilogue" panose="020B0604020202020204" charset="0"/>
      <p:regular r:id="rId14"/>
    </p:embeddedFont>
    <p:embeddedFont>
      <p:font typeface="Fraunces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201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3810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565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AI-Powered Solar Panel Dust Detection &amp; Automated Cleaning System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Revolutionizing Solar Energy Efficiency Through AI and Automation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2B174-3F34-83EB-F044-EC18D40E083F}"/>
              </a:ext>
            </a:extLst>
          </p:cNvPr>
          <p:cNvSpPr txBox="1"/>
          <p:nvPr/>
        </p:nvSpPr>
        <p:spPr>
          <a:xfrm>
            <a:off x="723900" y="6334125"/>
            <a:ext cx="289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: AI Titans</a:t>
            </a:r>
            <a:b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Pritik Kumar Mohanty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Mayur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Rupnar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Diksha Kulkarni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Sneha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Shankur</a:t>
            </a: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2434"/>
            <a:ext cx="111196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The Critical Problem: Dust Accumulation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494842"/>
            <a:ext cx="13042821" cy="2402324"/>
          </a:xfrm>
          <a:prstGeom prst="roundRect">
            <a:avLst>
              <a:gd name="adj" fmla="val 396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502462"/>
            <a:ext cx="4342448" cy="2387084"/>
          </a:xfrm>
          <a:prstGeom prst="roundRect">
            <a:avLst>
              <a:gd name="adj" fmla="val 3991"/>
            </a:avLst>
          </a:prstGeom>
          <a:solidFill>
            <a:srgbClr val="283157"/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729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Efficiency Loss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19694"/>
            <a:ext cx="35486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Solar panels lose 10-30% efficiency due to dust, up to 50% in desert regions.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3857" y="3502462"/>
            <a:ext cx="4342567" cy="2387084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8" name="Shape 6"/>
          <p:cNvSpPr/>
          <p:nvPr/>
        </p:nvSpPr>
        <p:spPr>
          <a:xfrm>
            <a:off x="5143857" y="3502462"/>
            <a:ext cx="30480" cy="2387084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9" name="Text 7"/>
          <p:cNvSpPr/>
          <p:nvPr/>
        </p:nvSpPr>
        <p:spPr>
          <a:xfrm>
            <a:off x="5710833" y="3729276"/>
            <a:ext cx="320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Manual Cleaning Burden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0833" y="4574024"/>
            <a:ext cx="320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Labor-intensive, costly, and unsafe, impacting operational expenses.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86424" y="3502462"/>
            <a:ext cx="4342567" cy="2387084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6424" y="3502462"/>
            <a:ext cx="30480" cy="2387084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3399" y="3729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Water Scarcity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3399" y="4219694"/>
            <a:ext cx="35487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Traditional wet cleaning methods are unsustainable in arid, solar-rich areas.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4860369" y="441245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054" y="4518779"/>
            <a:ext cx="283488" cy="35433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202936" y="441245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620" y="4518779"/>
            <a:ext cx="283488" cy="354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6616065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A Vast Market Opportunity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21638" y="1855470"/>
            <a:ext cx="3042166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$14.51B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953929" y="27934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O&amp;M Market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21638" y="3321725"/>
            <a:ext cx="3042166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Current value, projected to reach $32.63B by 2034.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1455" y="1855470"/>
            <a:ext cx="3042285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8.44%</a:t>
            </a:r>
            <a:endParaRPr lang="en-US" sz="5350" dirty="0"/>
          </a:p>
        </p:txBody>
      </p:sp>
      <p:sp>
        <p:nvSpPr>
          <p:cNvPr id="7" name="Text 5"/>
          <p:cNvSpPr/>
          <p:nvPr/>
        </p:nvSpPr>
        <p:spPr>
          <a:xfrm>
            <a:off x="4253746" y="27934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CAGR Growth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1455" y="3321725"/>
            <a:ext cx="3042285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solar maintenance market is experiencing significant expansion.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  <p:pic>
        <p:nvPicPr>
          <p:cNvPr id="11" name="Picture 10" descr="A diagram of a robot&#10;&#10;AI-generated content may be incorrect.">
            <a:extLst>
              <a:ext uri="{FF2B5EF4-FFF2-40B4-BE49-F238E27FC236}">
                <a16:creationId xmlns:a16="http://schemas.microsoft.com/office/drawing/2014/main" id="{AC287915-F6DF-D303-FE96-37252FA5A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38" y="4517590"/>
            <a:ext cx="4479012" cy="3509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60182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Our Patented Solution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AI Dust Detection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72% accuracy with hybrid VGG16-SVM model for precise detection.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Automated Cleaning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Robotic systems triggered by AI, ensuring timely and efficient cleaning.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30468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IoT &amp; Edge Computing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monitoring, predictive maintenance, and minimal latency (&lt;30ms).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Utility Patent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Our innovative technology is protected, securing our market position.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465" y="345877"/>
            <a:ext cx="61792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Technical Architecture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07" y="1422559"/>
            <a:ext cx="7660481" cy="45465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47654" y="4318321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Software Stack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186" y="2525502"/>
            <a:ext cx="652130" cy="65213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297140" y="4318322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Hardware Integration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953" y="2525502"/>
            <a:ext cx="652130" cy="6521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07907" y="4318322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Detection Layer</a:t>
            </a:r>
            <a:endParaRPr lang="en-US" sz="1350" dirty="0"/>
          </a:p>
        </p:txBody>
      </p:sp>
      <p:pic>
        <p:nvPicPr>
          <p:cNvPr id="1026" name="Picture 2" descr="Plain block diagram of solar panel dust detection and cleaning workflow">
            <a:extLst>
              <a:ext uri="{FF2B5EF4-FFF2-40B4-BE49-F238E27FC236}">
                <a16:creationId xmlns:a16="http://schemas.microsoft.com/office/drawing/2014/main" id="{728C3C22-CE7A-3E23-2A0C-CA127D485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138" y="666750"/>
            <a:ext cx="6014537" cy="701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DDBF4A-CE1D-423E-B502-131534D6CDD5}"/>
              </a:ext>
            </a:extLst>
          </p:cNvPr>
          <p:cNvSpPr txBox="1"/>
          <p:nvPr/>
        </p:nvSpPr>
        <p:spPr>
          <a:xfrm>
            <a:off x="479465" y="4876800"/>
            <a:ext cx="7660481" cy="2686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Image Capture: </a:t>
            </a:r>
            <a:r>
              <a:rPr lang="en-US" dirty="0">
                <a:solidFill>
                  <a:schemeClr val="bg1"/>
                </a:solidFill>
              </a:rPr>
              <a:t>Cameras installed on solar panels continuously capture images of panel surfaces.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AI Processing: </a:t>
            </a:r>
            <a:r>
              <a:rPr lang="en-US" dirty="0">
                <a:solidFill>
                  <a:schemeClr val="bg1"/>
                </a:solidFill>
              </a:rPr>
              <a:t>The VGG16-SVM model analyzes these images on edge compute devices to detect dust presence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Data Flow &amp; Monitoring: </a:t>
            </a:r>
            <a:r>
              <a:rPr lang="en-US" dirty="0">
                <a:solidFill>
                  <a:schemeClr val="bg1"/>
                </a:solidFill>
              </a:rPr>
              <a:t>IoT sensors send environmental and system status data to a centralized cloud dashboard for remote monitoring and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Automated Action: </a:t>
            </a:r>
            <a:r>
              <a:rPr lang="en-US" dirty="0">
                <a:solidFill>
                  <a:schemeClr val="bg1"/>
                </a:solidFill>
              </a:rPr>
              <a:t>When dust is detected, the system triggers the cleaning robot to clean the affected panels, optimizing performance with minimal human intervention.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4840" y="799148"/>
            <a:ext cx="105627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Key Innovations &amp; Real-World Benefits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2170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Dubai Light" panose="020B0303030403030204" pitchFamily="34" charset="-78"/>
                <a:ea typeface="Fraunces Medium" pitchFamily="34" charset="-122"/>
                <a:cs typeface="Dubai Light" panose="020B0303030403030204" pitchFamily="34" charset="-78"/>
              </a:rPr>
              <a:t>Smart Features</a:t>
            </a:r>
            <a:endParaRPr lang="en-US" sz="2650" dirty="0"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89" y="27086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Predictive AI scheduling based on weather patterns.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6171" y="30889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Water-free cleaning saving millions of liters annually.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6170" y="34129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Edge computing ensures 99% system uptime.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6169" y="383143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Self-learning algorithms continuously improve accuracy.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16" y="54888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Tangible Benefits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60644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25-30%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increase in energy output post-cleaning.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64273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40%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reduction in manual O&amp;M costs.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15" y="68419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15%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savings on generation losses.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72490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Payback period under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 years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large installations.</a:t>
            </a:r>
            <a:endParaRPr lang="en-US" sz="1750" dirty="0"/>
          </a:p>
        </p:txBody>
      </p:sp>
      <p:pic>
        <p:nvPicPr>
          <p:cNvPr id="14" name="Picture 13" descr="A screenshot of a computer">
            <a:extLst>
              <a:ext uri="{FF2B5EF4-FFF2-40B4-BE49-F238E27FC236}">
                <a16:creationId xmlns:a16="http://schemas.microsoft.com/office/drawing/2014/main" id="{31C557E5-0CD4-CE92-F9A2-DB9F60883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53" y="4852476"/>
            <a:ext cx="5110547" cy="3105337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331906-ADA1-98F7-BD62-143F9EC77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399" y="2106092"/>
            <a:ext cx="4909766" cy="2742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9166"/>
            <a:ext cx="74946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Our Competitive Advantage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6157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Patented 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686651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Hybrid CNN + SVM approach for superior dust detection.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06157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Integrated Solution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686651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First to combine dust detection with automated cleaning.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7943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1140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Water Efficiency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604510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Crucial for arid regions and sustainable operations.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979432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1140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Edge Capabilities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604510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Offline operation ensures reliability in remote areas.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3219"/>
            <a:ext cx="89812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Business Model &amp; Target Markets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1897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Revenue Streams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8710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Hardware sales: Detection systems and cleaning robots.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761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SaaS platform: Monthly monitoring and analytics subscriptions.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812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Maintenance contracts: Predictive maintenance services.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21897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Target Markets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8710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Utility-scale solar farms (primary focus).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132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Commercial rooftop installations.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7554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Residential solar systems.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2458"/>
            <a:ext cx="6278880" cy="62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Implementation Roadmap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1637705"/>
            <a:ext cx="22860" cy="3904059"/>
          </a:xfrm>
          <a:prstGeom prst="roundRect">
            <a:avLst>
              <a:gd name="adj" fmla="val 367582"/>
            </a:avLst>
          </a:prstGeom>
          <a:solidFill>
            <a:srgbClr val="414A70"/>
          </a:solidFill>
          <a:ln/>
        </p:spPr>
      </p:sp>
      <p:sp>
        <p:nvSpPr>
          <p:cNvPr id="4" name="Shape 2"/>
          <p:cNvSpPr/>
          <p:nvPr/>
        </p:nvSpPr>
        <p:spPr>
          <a:xfrm>
            <a:off x="6512838" y="1851303"/>
            <a:ext cx="600194" cy="22860"/>
          </a:xfrm>
          <a:prstGeom prst="roundRect">
            <a:avLst>
              <a:gd name="adj" fmla="val 367582"/>
            </a:avLst>
          </a:prstGeom>
          <a:solidFill>
            <a:srgbClr val="414A70"/>
          </a:solidFill>
          <a:ln/>
        </p:spPr>
      </p:sp>
      <p:sp>
        <p:nvSpPr>
          <p:cNvPr id="5" name="Shape 3"/>
          <p:cNvSpPr/>
          <p:nvPr/>
        </p:nvSpPr>
        <p:spPr>
          <a:xfrm>
            <a:off x="7090172" y="1637705"/>
            <a:ext cx="450056" cy="450056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5181" y="1675209"/>
            <a:ext cx="30003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3814167" y="1706404"/>
            <a:ext cx="250078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1: Validation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77954" y="2138958"/>
            <a:ext cx="553700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Prototype validation and patent filing (Completed).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7368" y="3051572"/>
            <a:ext cx="600194" cy="22860"/>
          </a:xfrm>
          <a:prstGeom prst="roundRect">
            <a:avLst>
              <a:gd name="adj" fmla="val 367582"/>
            </a:avLst>
          </a:prstGeom>
          <a:solidFill>
            <a:srgbClr val="414A70"/>
          </a:solidFill>
          <a:ln/>
        </p:spPr>
      </p:sp>
      <p:sp>
        <p:nvSpPr>
          <p:cNvPr id="10" name="Shape 8"/>
          <p:cNvSpPr/>
          <p:nvPr/>
        </p:nvSpPr>
        <p:spPr>
          <a:xfrm>
            <a:off x="7090172" y="2837974"/>
            <a:ext cx="450056" cy="450056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5181" y="2875478"/>
            <a:ext cx="30003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8315444" y="2906673"/>
            <a:ext cx="313182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2: Pilot Deployment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15444" y="3339227"/>
            <a:ext cx="553700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Q4 2025: Pilot deployment with 2-3 major solar farms.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2838" y="4086106"/>
            <a:ext cx="600194" cy="22860"/>
          </a:xfrm>
          <a:prstGeom prst="roundRect">
            <a:avLst>
              <a:gd name="adj" fmla="val 367582"/>
            </a:avLst>
          </a:prstGeom>
          <a:solidFill>
            <a:srgbClr val="414A7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0172" y="3872508"/>
            <a:ext cx="450056" cy="450056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5181" y="3910013"/>
            <a:ext cx="30003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2871430" y="3941207"/>
            <a:ext cx="34435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3: Commercial Launch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7954" y="4373761"/>
            <a:ext cx="553700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Q1 2026: Full commercial launch and scaling operations.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77954" y="5841802"/>
            <a:ext cx="4611291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Future Technical Enhancements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777954" y="6517005"/>
            <a:ext cx="13074491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Multi-spectral imaging for advanced dust classification.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77954" y="6907054"/>
            <a:ext cx="13074491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Integration with solar tracking systems.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77954" y="7297103"/>
            <a:ext cx="13074491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Blockchain for maintenance records and warranties.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3536"/>
            <a:ext cx="76128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Significant Financial Impact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859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2828449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863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Cost Savings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354229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25-30% reduction in maintenance costs for customers.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27859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63" y="2828449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2863810"/>
            <a:ext cx="29166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Increased Generation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973008" y="335422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15% boost in energy output from cleaner panels.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27859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065" y="2828449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2863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Market Potential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415111" y="3354229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Targeting 1% of the automated cleaning market equals $50M revenue.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4698087"/>
            <a:ext cx="13042821" cy="1907858"/>
          </a:xfrm>
          <a:prstGeom prst="roundRect">
            <a:avLst>
              <a:gd name="adj" fmla="val 4993"/>
            </a:avLst>
          </a:prstGeom>
          <a:solidFill>
            <a:srgbClr val="183A1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5007769"/>
            <a:ext cx="354330" cy="2834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1748" y="4981575"/>
            <a:ext cx="51654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Join Us: Revolutionize Solar Efficiency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601748" y="5562719"/>
            <a:ext cx="120080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Leverage our patent-protected technology to tap into a ₹2,72,460 crore market, offering sustainable and profitable solutions for solar energy.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592</Words>
  <Application>Microsoft Office PowerPoint</Application>
  <PresentationFormat>Custom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Dubai Light</vt:lpstr>
      <vt:lpstr>Arial</vt:lpstr>
      <vt:lpstr>Times New Roman</vt:lpstr>
      <vt:lpstr>Fraunces Medium</vt:lpstr>
      <vt:lpstr>Epilogue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Pritik Mohanty</cp:lastModifiedBy>
  <cp:revision>6</cp:revision>
  <dcterms:created xsi:type="dcterms:W3CDTF">2025-08-05T17:13:29Z</dcterms:created>
  <dcterms:modified xsi:type="dcterms:W3CDTF">2025-08-05T17:44:06Z</dcterms:modified>
</cp:coreProperties>
</file>